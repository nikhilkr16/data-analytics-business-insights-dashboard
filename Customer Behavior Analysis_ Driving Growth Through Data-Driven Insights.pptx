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embeddedFontLst>
    <p:embeddedFont>
      <p:font typeface="Quattrocento Sans" charset="-122" pitchFamily="34"/>
      <p:regular r:id="rId17"/>
    </p:embeddedFont>
    <p:embeddedFont>
      <p:font typeface="Liter" charset="-122" pitchFamily="34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dribbble.com/bdc19963f06e7f8d2cb9ea147081b37a3e494286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12500" b="125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A2E">
                  <a:alpha val="95000"/>
                </a:srgbClr>
              </a:gs>
              <a:gs pos="50000">
                <a:srgbClr val="6B4C9A">
                  <a:alpha val="80000"/>
                </a:srgbClr>
              </a:gs>
              <a:gs pos="100000">
                <a:srgbClr val="4A3B69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271010" y="1168837"/>
            <a:ext cx="3653790" cy="434340"/>
          </a:xfrm>
          <a:custGeom>
            <a:avLst/>
            <a:gdLst/>
            <a:ahLst/>
            <a:cxnLst/>
            <a:rect l="l" t="t" r="r" b="b"/>
            <a:pathLst>
              <a:path w="3653790" h="434340">
                <a:moveTo>
                  <a:pt x="217170" y="0"/>
                </a:moveTo>
                <a:lnTo>
                  <a:pt x="3436620" y="0"/>
                </a:lnTo>
                <a:cubicBezTo>
                  <a:pt x="3556560" y="0"/>
                  <a:pt x="3653790" y="97230"/>
                  <a:pt x="3653790" y="217170"/>
                </a:cubicBezTo>
                <a:lnTo>
                  <a:pt x="3653790" y="217170"/>
                </a:lnTo>
                <a:cubicBezTo>
                  <a:pt x="3653790" y="337110"/>
                  <a:pt x="3556560" y="434340"/>
                  <a:pt x="3436620" y="434340"/>
                </a:cubicBezTo>
                <a:lnTo>
                  <a:pt x="217170" y="434340"/>
                </a:lnTo>
                <a:cubicBezTo>
                  <a:pt x="97311" y="434340"/>
                  <a:pt x="0" y="337029"/>
                  <a:pt x="0" y="217170"/>
                </a:cubicBezTo>
                <a:lnTo>
                  <a:pt x="0" y="217170"/>
                </a:lnTo>
                <a:cubicBezTo>
                  <a:pt x="0" y="97311"/>
                  <a:pt x="97311" y="0"/>
                  <a:pt x="217170" y="0"/>
                </a:cubicBezTo>
                <a:close/>
              </a:path>
            </a:pathLst>
          </a:custGeom>
          <a:solidFill>
            <a:srgbClr val="F4E285">
              <a:alpha val="20000"/>
            </a:srgbClr>
          </a:solidFill>
          <a:ln w="20320">
            <a:solidFill>
              <a:srgbClr val="F4E28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464368" y="1290757"/>
            <a:ext cx="326314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spc="68" kern="0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RETAIL MANAGEMENT PRESENTATION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685925" y="2067997"/>
            <a:ext cx="8820150" cy="2143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Behavior Analysis: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4E2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Driving Growth Through Data-Driven Insights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381250" y="4439722"/>
            <a:ext cx="742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5F5F7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Analysis of Shopping Patterns, Customer Segments &amp; Revenue Optimization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643670" y="546818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9" name="Text 6"/>
          <p:cNvSpPr/>
          <p:nvPr/>
        </p:nvSpPr>
        <p:spPr>
          <a:xfrm>
            <a:off x="3917513" y="5430084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April 2026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36939" y="5449134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F5F5F7">
              <a:alpha val="30196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351264" y="5468184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12" name="Text 9"/>
          <p:cNvSpPr/>
          <p:nvPr/>
        </p:nvSpPr>
        <p:spPr>
          <a:xfrm>
            <a:off x="5660827" y="5430084"/>
            <a:ext cx="2962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Prepared for: NIKHIL KUMAR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42900"/>
                </a:lnTo>
                <a:cubicBezTo>
                  <a:pt x="76200" y="363928"/>
                  <a:pt x="59128" y="381000"/>
                  <a:pt x="381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4229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metrics and strategic findings from customer behavior analysis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8620" y="1417320"/>
            <a:ext cx="3663315" cy="1672590"/>
          </a:xfrm>
          <a:custGeom>
            <a:avLst/>
            <a:gdLst/>
            <a:ahLst/>
            <a:cxnLst/>
            <a:rect l="l" t="t" r="r" b="b"/>
            <a:pathLst>
              <a:path w="3663315" h="1672590">
                <a:moveTo>
                  <a:pt x="114305" y="0"/>
                </a:moveTo>
                <a:lnTo>
                  <a:pt x="3549010" y="0"/>
                </a:lnTo>
                <a:cubicBezTo>
                  <a:pt x="3612139" y="0"/>
                  <a:pt x="3663315" y="51176"/>
                  <a:pt x="3663315" y="114305"/>
                </a:cubicBezTo>
                <a:lnTo>
                  <a:pt x="3663315" y="1558285"/>
                </a:lnTo>
                <a:cubicBezTo>
                  <a:pt x="3663315" y="1621414"/>
                  <a:pt x="3612139" y="1672590"/>
                  <a:pt x="3549010" y="1672590"/>
                </a:cubicBezTo>
                <a:lnTo>
                  <a:pt x="114305" y="1672590"/>
                </a:lnTo>
                <a:cubicBezTo>
                  <a:pt x="51176" y="1672590"/>
                  <a:pt x="0" y="1621414"/>
                  <a:pt x="0" y="1558285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gradFill rotWithShape="1" flip="none">
            <a:gsLst>
              <a:gs pos="0">
                <a:srgbClr val="6B4C9A"/>
              </a:gs>
              <a:gs pos="100000">
                <a:srgbClr val="4A3B69"/>
              </a:gs>
            </a:gsLst>
            <a:lin ang="2700000" scaled="1"/>
          </a:gradFill>
          <a:ln w="20320">
            <a:solidFill>
              <a:srgbClr val="F4E285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7221" y="1653540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78594" y="8930"/>
                </a:moveTo>
                <a:cubicBezTo>
                  <a:pt x="210629" y="8930"/>
                  <a:pt x="236637" y="34938"/>
                  <a:pt x="236637" y="66973"/>
                </a:cubicBezTo>
                <a:cubicBezTo>
                  <a:pt x="236637" y="99007"/>
                  <a:pt x="210629" y="125016"/>
                  <a:pt x="178594" y="125016"/>
                </a:cubicBezTo>
                <a:cubicBezTo>
                  <a:pt x="146559" y="125016"/>
                  <a:pt x="120551" y="99007"/>
                  <a:pt x="120551" y="66973"/>
                </a:cubicBezTo>
                <a:cubicBezTo>
                  <a:pt x="120551" y="34938"/>
                  <a:pt x="146559" y="8930"/>
                  <a:pt x="178594" y="8930"/>
                </a:cubicBezTo>
                <a:close/>
                <a:moveTo>
                  <a:pt x="53578" y="49113"/>
                </a:moveTo>
                <a:cubicBezTo>
                  <a:pt x="75756" y="49113"/>
                  <a:pt x="93762" y="67119"/>
                  <a:pt x="93762" y="89297"/>
                </a:cubicBezTo>
                <a:cubicBezTo>
                  <a:pt x="93762" y="111475"/>
                  <a:pt x="75756" y="129480"/>
                  <a:pt x="53578" y="129480"/>
                </a:cubicBezTo>
                <a:cubicBezTo>
                  <a:pt x="31400" y="129480"/>
                  <a:pt x="13395" y="111475"/>
                  <a:pt x="13395" y="89297"/>
                </a:cubicBezTo>
                <a:cubicBezTo>
                  <a:pt x="13395" y="67119"/>
                  <a:pt x="31400" y="49113"/>
                  <a:pt x="53578" y="49113"/>
                </a:cubicBezTo>
                <a:close/>
                <a:moveTo>
                  <a:pt x="0" y="232172"/>
                </a:moveTo>
                <a:cubicBezTo>
                  <a:pt x="0" y="192714"/>
                  <a:pt x="31979" y="160734"/>
                  <a:pt x="71438" y="160734"/>
                </a:cubicBezTo>
                <a:cubicBezTo>
                  <a:pt x="78581" y="160734"/>
                  <a:pt x="85502" y="161795"/>
                  <a:pt x="92032" y="163748"/>
                </a:cubicBezTo>
                <a:cubicBezTo>
                  <a:pt x="73670" y="184286"/>
                  <a:pt x="62508" y="211410"/>
                  <a:pt x="62508" y="241102"/>
                </a:cubicBezTo>
                <a:lnTo>
                  <a:pt x="62508" y="250031"/>
                </a:lnTo>
                <a:cubicBezTo>
                  <a:pt x="62508" y="256394"/>
                  <a:pt x="63847" y="262421"/>
                  <a:pt x="66247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232172"/>
                </a:lnTo>
                <a:close/>
                <a:moveTo>
                  <a:pt x="290940" y="267891"/>
                </a:moveTo>
                <a:cubicBezTo>
                  <a:pt x="293340" y="262421"/>
                  <a:pt x="294680" y="256394"/>
                  <a:pt x="294680" y="250031"/>
                </a:cubicBezTo>
                <a:lnTo>
                  <a:pt x="294680" y="241102"/>
                </a:lnTo>
                <a:cubicBezTo>
                  <a:pt x="294680" y="211410"/>
                  <a:pt x="283518" y="184286"/>
                  <a:pt x="265156" y="163748"/>
                </a:cubicBezTo>
                <a:cubicBezTo>
                  <a:pt x="271686" y="161795"/>
                  <a:pt x="278606" y="160734"/>
                  <a:pt x="285750" y="160734"/>
                </a:cubicBezTo>
                <a:cubicBezTo>
                  <a:pt x="325208" y="160734"/>
                  <a:pt x="357188" y="192714"/>
                  <a:pt x="357188" y="232172"/>
                </a:cubicBezTo>
                <a:lnTo>
                  <a:pt x="357188" y="250031"/>
                </a:lnTo>
                <a:cubicBezTo>
                  <a:pt x="357188" y="259910"/>
                  <a:pt x="349207" y="267891"/>
                  <a:pt x="339328" y="267891"/>
                </a:cubicBezTo>
                <a:lnTo>
                  <a:pt x="290940" y="267891"/>
                </a:lnTo>
                <a:close/>
                <a:moveTo>
                  <a:pt x="263426" y="89297"/>
                </a:moveTo>
                <a:cubicBezTo>
                  <a:pt x="263426" y="67119"/>
                  <a:pt x="281431" y="49113"/>
                  <a:pt x="303609" y="49113"/>
                </a:cubicBezTo>
                <a:cubicBezTo>
                  <a:pt x="325787" y="49113"/>
                  <a:pt x="343793" y="67119"/>
                  <a:pt x="343793" y="89297"/>
                </a:cubicBezTo>
                <a:cubicBezTo>
                  <a:pt x="343793" y="111475"/>
                  <a:pt x="325787" y="129480"/>
                  <a:pt x="303609" y="129480"/>
                </a:cubicBezTo>
                <a:cubicBezTo>
                  <a:pt x="281431" y="129480"/>
                  <a:pt x="263426" y="111475"/>
                  <a:pt x="263426" y="89297"/>
                </a:cubicBezTo>
                <a:close/>
                <a:moveTo>
                  <a:pt x="89297" y="241102"/>
                </a:moveTo>
                <a:cubicBezTo>
                  <a:pt x="89297" y="191765"/>
                  <a:pt x="129257" y="151805"/>
                  <a:pt x="178594" y="151805"/>
                </a:cubicBezTo>
                <a:cubicBezTo>
                  <a:pt x="227930" y="151805"/>
                  <a:pt x="267891" y="191765"/>
                  <a:pt x="267891" y="241102"/>
                </a:cubicBezTo>
                <a:lnTo>
                  <a:pt x="267891" y="250031"/>
                </a:lnTo>
                <a:cubicBezTo>
                  <a:pt x="267891" y="259910"/>
                  <a:pt x="259910" y="267891"/>
                  <a:pt x="250031" y="267891"/>
                </a:cubicBezTo>
                <a:lnTo>
                  <a:pt x="107156" y="267891"/>
                </a:lnTo>
                <a:cubicBezTo>
                  <a:pt x="97278" y="267891"/>
                  <a:pt x="89297" y="259910"/>
                  <a:pt x="89297" y="250031"/>
                </a:cubicBezTo>
                <a:lnTo>
                  <a:pt x="89297" y="241102"/>
                </a:ln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7" name="Shape 5"/>
          <p:cNvSpPr/>
          <p:nvPr/>
        </p:nvSpPr>
        <p:spPr>
          <a:xfrm>
            <a:off x="2862144" y="1663065"/>
            <a:ext cx="962025" cy="266700"/>
          </a:xfrm>
          <a:custGeom>
            <a:avLst/>
            <a:gdLst/>
            <a:ahLst/>
            <a:cxnLst/>
            <a:rect l="l" t="t" r="r" b="b"/>
            <a:pathLst>
              <a:path w="962025" h="266700">
                <a:moveTo>
                  <a:pt x="133350" y="0"/>
                </a:moveTo>
                <a:lnTo>
                  <a:pt x="828675" y="0"/>
                </a:lnTo>
                <a:cubicBezTo>
                  <a:pt x="902273" y="0"/>
                  <a:pt x="962025" y="59752"/>
                  <a:pt x="962025" y="133350"/>
                </a:cubicBezTo>
                <a:lnTo>
                  <a:pt x="962025" y="133350"/>
                </a:lnTo>
                <a:cubicBezTo>
                  <a:pt x="962025" y="206948"/>
                  <a:pt x="902273" y="266700"/>
                  <a:pt x="8286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4E285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862144" y="1663065"/>
            <a:ext cx="10287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BASE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4840" y="2053590"/>
            <a:ext cx="3419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3,900+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4840" y="2586990"/>
            <a:ext cx="3276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Customers Analyzed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62080" y="1417320"/>
            <a:ext cx="3663315" cy="1672590"/>
          </a:xfrm>
          <a:custGeom>
            <a:avLst/>
            <a:gdLst/>
            <a:ahLst/>
            <a:cxnLst/>
            <a:rect l="l" t="t" r="r" b="b"/>
            <a:pathLst>
              <a:path w="3663315" h="1672590">
                <a:moveTo>
                  <a:pt x="114305" y="0"/>
                </a:moveTo>
                <a:lnTo>
                  <a:pt x="3549010" y="0"/>
                </a:lnTo>
                <a:cubicBezTo>
                  <a:pt x="3612139" y="0"/>
                  <a:pt x="3663315" y="51176"/>
                  <a:pt x="3663315" y="114305"/>
                </a:cubicBezTo>
                <a:lnTo>
                  <a:pt x="3663315" y="1558285"/>
                </a:lnTo>
                <a:cubicBezTo>
                  <a:pt x="3663315" y="1621414"/>
                  <a:pt x="3612139" y="1672590"/>
                  <a:pt x="3549010" y="1672590"/>
                </a:cubicBezTo>
                <a:lnTo>
                  <a:pt x="114305" y="1672590"/>
                </a:lnTo>
                <a:cubicBezTo>
                  <a:pt x="51176" y="1672590"/>
                  <a:pt x="0" y="1621414"/>
                  <a:pt x="0" y="1558285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gradFill rotWithShape="1" flip="none">
            <a:gsLst>
              <a:gs pos="0">
                <a:srgbClr val="6B4C9A"/>
              </a:gs>
              <a:gs pos="100000">
                <a:srgbClr val="4A3B69"/>
              </a:gs>
            </a:gsLst>
            <a:lin ang="2700000" scaled="1"/>
          </a:gradFill>
          <a:ln w="20320">
            <a:solidFill>
              <a:srgbClr val="F4E285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89979" y="1653540"/>
            <a:ext cx="178594" cy="285750"/>
          </a:xfrm>
          <a:custGeom>
            <a:avLst/>
            <a:gdLst/>
            <a:ahLst/>
            <a:cxnLst/>
            <a:rect l="l" t="t" r="r" b="b"/>
            <a:pathLst>
              <a:path w="178594" h="285750">
                <a:moveTo>
                  <a:pt x="75902" y="13395"/>
                </a:moveTo>
                <a:cubicBezTo>
                  <a:pt x="75902" y="5972"/>
                  <a:pt x="81874" y="0"/>
                  <a:pt x="89297" y="0"/>
                </a:cubicBezTo>
                <a:cubicBezTo>
                  <a:pt x="96720" y="0"/>
                  <a:pt x="102691" y="5972"/>
                  <a:pt x="102691" y="13395"/>
                </a:cubicBezTo>
                <a:lnTo>
                  <a:pt x="102691" y="35719"/>
                </a:lnTo>
                <a:lnTo>
                  <a:pt x="133945" y="35719"/>
                </a:lnTo>
                <a:cubicBezTo>
                  <a:pt x="143824" y="35719"/>
                  <a:pt x="151805" y="43700"/>
                  <a:pt x="151805" y="53578"/>
                </a:cubicBezTo>
                <a:cubicBezTo>
                  <a:pt x="151805" y="63457"/>
                  <a:pt x="143824" y="71438"/>
                  <a:pt x="133945" y="71438"/>
                </a:cubicBezTo>
                <a:lnTo>
                  <a:pt x="69819" y="71438"/>
                </a:lnTo>
                <a:cubicBezTo>
                  <a:pt x="55922" y="71438"/>
                  <a:pt x="44648" y="82711"/>
                  <a:pt x="44648" y="96608"/>
                </a:cubicBezTo>
                <a:cubicBezTo>
                  <a:pt x="44648" y="109165"/>
                  <a:pt x="53857" y="119769"/>
                  <a:pt x="66247" y="121555"/>
                </a:cubicBezTo>
                <a:lnTo>
                  <a:pt x="117370" y="128867"/>
                </a:lnTo>
                <a:cubicBezTo>
                  <a:pt x="147396" y="133164"/>
                  <a:pt x="169664" y="158837"/>
                  <a:pt x="169664" y="189142"/>
                </a:cubicBezTo>
                <a:cubicBezTo>
                  <a:pt x="169664" y="222796"/>
                  <a:pt x="142373" y="250031"/>
                  <a:pt x="108775" y="250031"/>
                </a:cubicBezTo>
                <a:lnTo>
                  <a:pt x="102691" y="250031"/>
                </a:lnTo>
                <a:lnTo>
                  <a:pt x="102691" y="272355"/>
                </a:lnTo>
                <a:cubicBezTo>
                  <a:pt x="102691" y="279778"/>
                  <a:pt x="96720" y="285750"/>
                  <a:pt x="89297" y="285750"/>
                </a:cubicBezTo>
                <a:cubicBezTo>
                  <a:pt x="81874" y="285750"/>
                  <a:pt x="75902" y="279778"/>
                  <a:pt x="75902" y="272355"/>
                </a:cubicBezTo>
                <a:lnTo>
                  <a:pt x="75902" y="250031"/>
                </a:lnTo>
                <a:lnTo>
                  <a:pt x="35719" y="250031"/>
                </a:lnTo>
                <a:cubicBezTo>
                  <a:pt x="25840" y="250031"/>
                  <a:pt x="17859" y="242050"/>
                  <a:pt x="17859" y="232172"/>
                </a:cubicBezTo>
                <a:cubicBezTo>
                  <a:pt x="17859" y="222293"/>
                  <a:pt x="25840" y="214313"/>
                  <a:pt x="35719" y="214313"/>
                </a:cubicBezTo>
                <a:lnTo>
                  <a:pt x="108775" y="214313"/>
                </a:lnTo>
                <a:cubicBezTo>
                  <a:pt x="122672" y="214313"/>
                  <a:pt x="133945" y="203039"/>
                  <a:pt x="133945" y="189142"/>
                </a:cubicBezTo>
                <a:cubicBezTo>
                  <a:pt x="133945" y="176585"/>
                  <a:pt x="124737" y="165981"/>
                  <a:pt x="112347" y="164195"/>
                </a:cubicBezTo>
                <a:lnTo>
                  <a:pt x="61224" y="156883"/>
                </a:lnTo>
                <a:cubicBezTo>
                  <a:pt x="31198" y="152642"/>
                  <a:pt x="8930" y="126913"/>
                  <a:pt x="8930" y="96608"/>
                </a:cubicBezTo>
                <a:cubicBezTo>
                  <a:pt x="8930" y="63010"/>
                  <a:pt x="36221" y="35719"/>
                  <a:pt x="69819" y="35719"/>
                </a:cubicBezTo>
                <a:lnTo>
                  <a:pt x="75902" y="35719"/>
                </a:lnTo>
                <a:lnTo>
                  <a:pt x="75902" y="13395"/>
                </a:ln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13" name="Shape 11"/>
          <p:cNvSpPr/>
          <p:nvPr/>
        </p:nvSpPr>
        <p:spPr>
          <a:xfrm>
            <a:off x="6899672" y="1663065"/>
            <a:ext cx="790575" cy="266700"/>
          </a:xfrm>
          <a:custGeom>
            <a:avLst/>
            <a:gdLst/>
            <a:ahLst/>
            <a:cxnLst/>
            <a:rect l="l" t="t" r="r" b="b"/>
            <a:pathLst>
              <a:path w="790575" h="266700">
                <a:moveTo>
                  <a:pt x="133350" y="0"/>
                </a:moveTo>
                <a:lnTo>
                  <a:pt x="657225" y="0"/>
                </a:lnTo>
                <a:cubicBezTo>
                  <a:pt x="730823" y="0"/>
                  <a:pt x="790575" y="59752"/>
                  <a:pt x="790575" y="133350"/>
                </a:cubicBezTo>
                <a:lnTo>
                  <a:pt x="790575" y="133350"/>
                </a:lnTo>
                <a:cubicBezTo>
                  <a:pt x="790575" y="206948"/>
                  <a:pt x="730823" y="266700"/>
                  <a:pt x="6572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4E285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899672" y="1663065"/>
            <a:ext cx="8572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98300" y="2053590"/>
            <a:ext cx="3419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$59.76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98300" y="2586990"/>
            <a:ext cx="3276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Purchase Amount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35541" y="1417320"/>
            <a:ext cx="3663315" cy="1672590"/>
          </a:xfrm>
          <a:custGeom>
            <a:avLst/>
            <a:gdLst/>
            <a:ahLst/>
            <a:cxnLst/>
            <a:rect l="l" t="t" r="r" b="b"/>
            <a:pathLst>
              <a:path w="3663315" h="1672590">
                <a:moveTo>
                  <a:pt x="114305" y="0"/>
                </a:moveTo>
                <a:lnTo>
                  <a:pt x="3549010" y="0"/>
                </a:lnTo>
                <a:cubicBezTo>
                  <a:pt x="3612139" y="0"/>
                  <a:pt x="3663315" y="51176"/>
                  <a:pt x="3663315" y="114305"/>
                </a:cubicBezTo>
                <a:lnTo>
                  <a:pt x="3663315" y="1558285"/>
                </a:lnTo>
                <a:cubicBezTo>
                  <a:pt x="3663315" y="1621414"/>
                  <a:pt x="3612139" y="1672590"/>
                  <a:pt x="3549010" y="1672590"/>
                </a:cubicBezTo>
                <a:lnTo>
                  <a:pt x="114305" y="1672590"/>
                </a:lnTo>
                <a:cubicBezTo>
                  <a:pt x="51176" y="1672590"/>
                  <a:pt x="0" y="1621414"/>
                  <a:pt x="0" y="1558285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gradFill rotWithShape="1" flip="none">
            <a:gsLst>
              <a:gs pos="0">
                <a:srgbClr val="6B4C9A"/>
              </a:gs>
              <a:gs pos="100000">
                <a:srgbClr val="4A3B69"/>
              </a:gs>
            </a:gsLst>
            <a:lin ang="2700000" scaled="1"/>
          </a:gradFill>
          <a:ln w="20320">
            <a:solidFill>
              <a:srgbClr val="F4E285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92001" y="165354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72734" y="-10548"/>
                </a:moveTo>
                <a:cubicBezTo>
                  <a:pt x="170445" y="-15013"/>
                  <a:pt x="165813" y="-17859"/>
                  <a:pt x="160790" y="-17859"/>
                </a:cubicBezTo>
                <a:cubicBezTo>
                  <a:pt x="155767" y="-17859"/>
                  <a:pt x="151135" y="-15013"/>
                  <a:pt x="148847" y="-10548"/>
                </a:cubicBezTo>
                <a:lnTo>
                  <a:pt x="107770" y="69931"/>
                </a:lnTo>
                <a:lnTo>
                  <a:pt x="18529" y="84106"/>
                </a:lnTo>
                <a:cubicBezTo>
                  <a:pt x="13562" y="84888"/>
                  <a:pt x="9432" y="88404"/>
                  <a:pt x="7869" y="93204"/>
                </a:cubicBezTo>
                <a:cubicBezTo>
                  <a:pt x="6307" y="98003"/>
                  <a:pt x="7590" y="103250"/>
                  <a:pt x="11106" y="106821"/>
                </a:cubicBezTo>
                <a:lnTo>
                  <a:pt x="74954" y="170724"/>
                </a:lnTo>
                <a:lnTo>
                  <a:pt x="60889" y="259966"/>
                </a:lnTo>
                <a:cubicBezTo>
                  <a:pt x="60108" y="264933"/>
                  <a:pt x="62173" y="269956"/>
                  <a:pt x="66247" y="272914"/>
                </a:cubicBezTo>
                <a:cubicBezTo>
                  <a:pt x="70321" y="275872"/>
                  <a:pt x="75679" y="276318"/>
                  <a:pt x="80200" y="274030"/>
                </a:cubicBezTo>
                <a:lnTo>
                  <a:pt x="160790" y="233065"/>
                </a:lnTo>
                <a:lnTo>
                  <a:pt x="241325" y="274030"/>
                </a:lnTo>
                <a:cubicBezTo>
                  <a:pt x="245790" y="276318"/>
                  <a:pt x="251203" y="275872"/>
                  <a:pt x="255277" y="272914"/>
                </a:cubicBezTo>
                <a:cubicBezTo>
                  <a:pt x="259352" y="269956"/>
                  <a:pt x="261417" y="264988"/>
                  <a:pt x="260635" y="259966"/>
                </a:cubicBezTo>
                <a:lnTo>
                  <a:pt x="246515" y="170724"/>
                </a:lnTo>
                <a:lnTo>
                  <a:pt x="310362" y="106821"/>
                </a:lnTo>
                <a:cubicBezTo>
                  <a:pt x="313934" y="103250"/>
                  <a:pt x="315162" y="98003"/>
                  <a:pt x="313599" y="93204"/>
                </a:cubicBezTo>
                <a:cubicBezTo>
                  <a:pt x="312037" y="88404"/>
                  <a:pt x="307963" y="84888"/>
                  <a:pt x="302940" y="84106"/>
                </a:cubicBezTo>
                <a:lnTo>
                  <a:pt x="213754" y="69931"/>
                </a:lnTo>
                <a:lnTo>
                  <a:pt x="172734" y="-10548"/>
                </a:ln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82551" y="1663065"/>
            <a:ext cx="685800" cy="266700"/>
          </a:xfrm>
          <a:custGeom>
            <a:avLst/>
            <a:gdLst/>
            <a:ahLst/>
            <a:cxnLst/>
            <a:rect l="l" t="t" r="r" b="b"/>
            <a:pathLst>
              <a:path w="685800" h="266700">
                <a:moveTo>
                  <a:pt x="133350" y="0"/>
                </a:moveTo>
                <a:lnTo>
                  <a:pt x="552450" y="0"/>
                </a:lnTo>
                <a:cubicBezTo>
                  <a:pt x="626048" y="0"/>
                  <a:pt x="685800" y="59752"/>
                  <a:pt x="685800" y="133350"/>
                </a:cubicBezTo>
                <a:lnTo>
                  <a:pt x="685800" y="133350"/>
                </a:lnTo>
                <a:cubicBezTo>
                  <a:pt x="685800" y="206948"/>
                  <a:pt x="626048" y="266700"/>
                  <a:pt x="5524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4E285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882551" y="1663065"/>
            <a:ext cx="7524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71761" y="2053590"/>
            <a:ext cx="3419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3.75</a:t>
            </a:r>
            <a:pPr>
              <a:lnSpc>
                <a:spcPct val="80000"/>
              </a:lnSpc>
            </a:pPr>
            <a:r>
              <a:rPr lang="en-US" sz="2250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71761" y="2586990"/>
            <a:ext cx="3276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Review Rating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4810" y="3329941"/>
            <a:ext cx="11418570" cy="3284220"/>
          </a:xfrm>
          <a:custGeom>
            <a:avLst/>
            <a:gdLst/>
            <a:ahLst/>
            <a:cxnLst/>
            <a:rect l="l" t="t" r="r" b="b"/>
            <a:pathLst>
              <a:path w="11418570" h="3284220">
                <a:moveTo>
                  <a:pt x="114291" y="0"/>
                </a:moveTo>
                <a:lnTo>
                  <a:pt x="11304279" y="0"/>
                </a:lnTo>
                <a:cubicBezTo>
                  <a:pt x="11367358" y="0"/>
                  <a:pt x="11418570" y="51212"/>
                  <a:pt x="11418570" y="114291"/>
                </a:cubicBezTo>
                <a:lnTo>
                  <a:pt x="11418570" y="3169929"/>
                </a:lnTo>
                <a:cubicBezTo>
                  <a:pt x="11418570" y="3233008"/>
                  <a:pt x="11367358" y="3284220"/>
                  <a:pt x="11304279" y="3284220"/>
                </a:cubicBezTo>
                <a:lnTo>
                  <a:pt x="114291" y="3284220"/>
                </a:lnTo>
                <a:cubicBezTo>
                  <a:pt x="51212" y="3284220"/>
                  <a:pt x="0" y="3233008"/>
                  <a:pt x="0" y="316992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4A3B69">
              <a:alpha val="30196"/>
            </a:srgbClr>
          </a:solidFill>
          <a:ln w="10160">
            <a:solidFill>
              <a:srgbClr val="6B4C9A">
                <a:alpha val="5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4370" y="3600331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25" name="Text 23"/>
          <p:cNvSpPr/>
          <p:nvPr/>
        </p:nvSpPr>
        <p:spPr>
          <a:xfrm>
            <a:off x="902970" y="3562350"/>
            <a:ext cx="10782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4E2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7220" y="4057531"/>
            <a:ext cx="5381625" cy="1066800"/>
          </a:xfrm>
          <a:custGeom>
            <a:avLst/>
            <a:gdLst/>
            <a:ahLst/>
            <a:cxnLst/>
            <a:rect l="l" t="t" r="r" b="b"/>
            <a:pathLst>
              <a:path w="5381625" h="1066800">
                <a:moveTo>
                  <a:pt x="76202" y="0"/>
                </a:moveTo>
                <a:lnTo>
                  <a:pt x="5305423" y="0"/>
                </a:lnTo>
                <a:cubicBezTo>
                  <a:pt x="5347508" y="0"/>
                  <a:pt x="5381625" y="34117"/>
                  <a:pt x="5381625" y="76202"/>
                </a:cubicBezTo>
                <a:lnTo>
                  <a:pt x="5381625" y="990598"/>
                </a:lnTo>
                <a:cubicBezTo>
                  <a:pt x="5381625" y="1032683"/>
                  <a:pt x="5347508" y="1066800"/>
                  <a:pt x="5305423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A2E">
              <a:alpha val="5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69620" y="420993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4E285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02970" y="434328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29" name="Text 27"/>
          <p:cNvSpPr/>
          <p:nvPr/>
        </p:nvSpPr>
        <p:spPr>
          <a:xfrm>
            <a:off x="1379220" y="4209931"/>
            <a:ext cx="4562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73% Non-Subscribers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79220" y="4514731"/>
            <a:ext cx="4543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Massive conversion opportunity—nearly 3 out of 4 customers haven't subscribed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91250" y="4057531"/>
            <a:ext cx="5381625" cy="1066800"/>
          </a:xfrm>
          <a:custGeom>
            <a:avLst/>
            <a:gdLst/>
            <a:ahLst/>
            <a:cxnLst/>
            <a:rect l="l" t="t" r="r" b="b"/>
            <a:pathLst>
              <a:path w="5381625" h="1066800">
                <a:moveTo>
                  <a:pt x="76202" y="0"/>
                </a:moveTo>
                <a:lnTo>
                  <a:pt x="5305423" y="0"/>
                </a:lnTo>
                <a:cubicBezTo>
                  <a:pt x="5347508" y="0"/>
                  <a:pt x="5381625" y="34117"/>
                  <a:pt x="5381625" y="76202"/>
                </a:cubicBezTo>
                <a:lnTo>
                  <a:pt x="5381625" y="990598"/>
                </a:lnTo>
                <a:cubicBezTo>
                  <a:pt x="5381625" y="1032683"/>
                  <a:pt x="5347508" y="1066800"/>
                  <a:pt x="5305423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A2E">
              <a:alpha val="5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343650" y="420993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4E285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453188" y="4343281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137" y="41672"/>
                </a:moveTo>
                <a:cubicBezTo>
                  <a:pt x="135582" y="41672"/>
                  <a:pt x="148903" y="28352"/>
                  <a:pt x="148903" y="11906"/>
                </a:cubicBezTo>
                <a:lnTo>
                  <a:pt x="168808" y="11906"/>
                </a:lnTo>
                <a:cubicBezTo>
                  <a:pt x="175133" y="11906"/>
                  <a:pt x="181198" y="14399"/>
                  <a:pt x="185663" y="18864"/>
                </a:cubicBezTo>
                <a:lnTo>
                  <a:pt x="229791" y="63029"/>
                </a:lnTo>
                <a:cubicBezTo>
                  <a:pt x="234442" y="67680"/>
                  <a:pt x="234442" y="75233"/>
                  <a:pt x="229791" y="79883"/>
                </a:cubicBezTo>
                <a:lnTo>
                  <a:pt x="210927" y="98747"/>
                </a:lnTo>
                <a:cubicBezTo>
                  <a:pt x="206276" y="103398"/>
                  <a:pt x="198723" y="103398"/>
                  <a:pt x="194072" y="98747"/>
                </a:cubicBezTo>
                <a:lnTo>
                  <a:pt x="178668" y="83344"/>
                </a:lnTo>
                <a:lnTo>
                  <a:pt x="178668" y="166688"/>
                </a:lnTo>
                <a:cubicBezTo>
                  <a:pt x="178668" y="179822"/>
                  <a:pt x="167990" y="190500"/>
                  <a:pt x="154856" y="190500"/>
                </a:cubicBezTo>
                <a:lnTo>
                  <a:pt x="83418" y="190500"/>
                </a:lnTo>
                <a:cubicBezTo>
                  <a:pt x="70284" y="190500"/>
                  <a:pt x="59606" y="179822"/>
                  <a:pt x="59606" y="166688"/>
                </a:cubicBezTo>
                <a:lnTo>
                  <a:pt x="59606" y="83344"/>
                </a:lnTo>
                <a:lnTo>
                  <a:pt x="44202" y="98747"/>
                </a:lnTo>
                <a:cubicBezTo>
                  <a:pt x="39551" y="103398"/>
                  <a:pt x="31998" y="103398"/>
                  <a:pt x="27347" y="98747"/>
                </a:cubicBezTo>
                <a:lnTo>
                  <a:pt x="8520" y="79846"/>
                </a:lnTo>
                <a:cubicBezTo>
                  <a:pt x="3870" y="75195"/>
                  <a:pt x="3870" y="67642"/>
                  <a:pt x="8520" y="62992"/>
                </a:cubicBezTo>
                <a:lnTo>
                  <a:pt x="52648" y="18864"/>
                </a:lnTo>
                <a:cubicBezTo>
                  <a:pt x="57113" y="14399"/>
                  <a:pt x="63178" y="11906"/>
                  <a:pt x="69503" y="11906"/>
                </a:cubicBezTo>
                <a:lnTo>
                  <a:pt x="89408" y="11906"/>
                </a:lnTo>
                <a:cubicBezTo>
                  <a:pt x="89408" y="28352"/>
                  <a:pt x="102729" y="41672"/>
                  <a:pt x="119174" y="41672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34" name="Text 32"/>
          <p:cNvSpPr/>
          <p:nvPr/>
        </p:nvSpPr>
        <p:spPr>
          <a:xfrm>
            <a:off x="6953250" y="4209931"/>
            <a:ext cx="4562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Clothing Dominates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53250" y="4514731"/>
            <a:ext cx="4543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$100K+ revenue with ~1,800 orders—core category driving business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7220" y="5314831"/>
            <a:ext cx="5381625" cy="1066800"/>
          </a:xfrm>
          <a:custGeom>
            <a:avLst/>
            <a:gdLst/>
            <a:ahLst/>
            <a:cxnLst/>
            <a:rect l="l" t="t" r="r" b="b"/>
            <a:pathLst>
              <a:path w="5381625" h="1066800">
                <a:moveTo>
                  <a:pt x="76202" y="0"/>
                </a:moveTo>
                <a:lnTo>
                  <a:pt x="5305423" y="0"/>
                </a:lnTo>
                <a:cubicBezTo>
                  <a:pt x="5347508" y="0"/>
                  <a:pt x="5381625" y="34117"/>
                  <a:pt x="5381625" y="76202"/>
                </a:cubicBezTo>
                <a:lnTo>
                  <a:pt x="5381625" y="990598"/>
                </a:lnTo>
                <a:cubicBezTo>
                  <a:pt x="5381625" y="1032683"/>
                  <a:pt x="5347508" y="1066800"/>
                  <a:pt x="5305423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A2E">
              <a:alpha val="5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69620" y="546723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4E285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91064" y="5600581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3812" y="47625"/>
                </a:moveTo>
                <a:cubicBezTo>
                  <a:pt x="23812" y="24626"/>
                  <a:pt x="42485" y="5953"/>
                  <a:pt x="65484" y="5953"/>
                </a:cubicBezTo>
                <a:cubicBezTo>
                  <a:pt x="88484" y="5953"/>
                  <a:pt x="107156" y="24626"/>
                  <a:pt x="107156" y="47625"/>
                </a:cubicBezTo>
                <a:cubicBezTo>
                  <a:pt x="107156" y="70624"/>
                  <a:pt x="88484" y="89297"/>
                  <a:pt x="65484" y="89297"/>
                </a:cubicBezTo>
                <a:cubicBezTo>
                  <a:pt x="42485" y="89297"/>
                  <a:pt x="23813" y="70624"/>
                  <a:pt x="23812" y="47625"/>
                </a:cubicBezTo>
                <a:close/>
                <a:moveTo>
                  <a:pt x="0" y="172641"/>
                </a:moveTo>
                <a:cubicBezTo>
                  <a:pt x="0" y="136475"/>
                  <a:pt x="29319" y="107156"/>
                  <a:pt x="65484" y="107156"/>
                </a:cubicBezTo>
                <a:cubicBezTo>
                  <a:pt x="101650" y="107156"/>
                  <a:pt x="130969" y="136475"/>
                  <a:pt x="130969" y="172641"/>
                </a:cubicBezTo>
                <a:lnTo>
                  <a:pt x="130969" y="174873"/>
                </a:lnTo>
                <a:cubicBezTo>
                  <a:pt x="130969" y="183505"/>
                  <a:pt x="123974" y="190500"/>
                  <a:pt x="115342" y="190500"/>
                </a:cubicBezTo>
                <a:lnTo>
                  <a:pt x="15627" y="190500"/>
                </a:lnTo>
                <a:cubicBezTo>
                  <a:pt x="6995" y="190500"/>
                  <a:pt x="0" y="183505"/>
                  <a:pt x="0" y="174873"/>
                </a:cubicBezTo>
                <a:lnTo>
                  <a:pt x="0" y="172641"/>
                </a:lnTo>
                <a:close/>
                <a:moveTo>
                  <a:pt x="160734" y="23812"/>
                </a:moveTo>
                <a:cubicBezTo>
                  <a:pt x="180448" y="23812"/>
                  <a:pt x="196453" y="39818"/>
                  <a:pt x="196453" y="59531"/>
                </a:cubicBezTo>
                <a:cubicBezTo>
                  <a:pt x="196453" y="79245"/>
                  <a:pt x="180448" y="95250"/>
                  <a:pt x="160734" y="95250"/>
                </a:cubicBezTo>
                <a:cubicBezTo>
                  <a:pt x="141021" y="95250"/>
                  <a:pt x="125016" y="79245"/>
                  <a:pt x="125016" y="59531"/>
                </a:cubicBezTo>
                <a:cubicBezTo>
                  <a:pt x="125016" y="39818"/>
                  <a:pt x="141021" y="23813"/>
                  <a:pt x="160734" y="23812"/>
                </a:cubicBezTo>
                <a:close/>
                <a:moveTo>
                  <a:pt x="160734" y="113109"/>
                </a:moveTo>
                <a:cubicBezTo>
                  <a:pt x="190314" y="113109"/>
                  <a:pt x="214313" y="137108"/>
                  <a:pt x="214313" y="166688"/>
                </a:cubicBezTo>
                <a:lnTo>
                  <a:pt x="214313" y="175022"/>
                </a:lnTo>
                <a:cubicBezTo>
                  <a:pt x="214313" y="183579"/>
                  <a:pt x="207392" y="190500"/>
                  <a:pt x="198834" y="190500"/>
                </a:cubicBezTo>
                <a:lnTo>
                  <a:pt x="144959" y="190500"/>
                </a:lnTo>
                <a:cubicBezTo>
                  <a:pt x="147414" y="185849"/>
                  <a:pt x="148828" y="180529"/>
                  <a:pt x="148828" y="174873"/>
                </a:cubicBezTo>
                <a:lnTo>
                  <a:pt x="148828" y="172641"/>
                </a:lnTo>
                <a:cubicBezTo>
                  <a:pt x="148828" y="153479"/>
                  <a:pt x="142354" y="135843"/>
                  <a:pt x="131527" y="121779"/>
                </a:cubicBezTo>
                <a:cubicBezTo>
                  <a:pt x="139936" y="116309"/>
                  <a:pt x="149982" y="113109"/>
                  <a:pt x="160734" y="113109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39" name="Text 37"/>
          <p:cNvSpPr/>
          <p:nvPr/>
        </p:nvSpPr>
        <p:spPr>
          <a:xfrm>
            <a:off x="1379220" y="5467231"/>
            <a:ext cx="4562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Young Adults Lead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379220" y="5772031"/>
            <a:ext cx="4543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 highest revenue and sales volume—primary target segment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91250" y="5314831"/>
            <a:ext cx="5381625" cy="1066800"/>
          </a:xfrm>
          <a:custGeom>
            <a:avLst/>
            <a:gdLst/>
            <a:ahLst/>
            <a:cxnLst/>
            <a:rect l="l" t="t" r="r" b="b"/>
            <a:pathLst>
              <a:path w="5381625" h="1066800">
                <a:moveTo>
                  <a:pt x="76202" y="0"/>
                </a:moveTo>
                <a:lnTo>
                  <a:pt x="5305423" y="0"/>
                </a:lnTo>
                <a:cubicBezTo>
                  <a:pt x="5347508" y="0"/>
                  <a:pt x="5381625" y="34117"/>
                  <a:pt x="5381625" y="76202"/>
                </a:cubicBezTo>
                <a:lnTo>
                  <a:pt x="5381625" y="990598"/>
                </a:lnTo>
                <a:cubicBezTo>
                  <a:pt x="5381625" y="1032683"/>
                  <a:pt x="5347508" y="1066800"/>
                  <a:pt x="5305423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A2E">
              <a:alpha val="5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343650" y="546723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4E285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88906" y="560058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71438" y="47625"/>
                </a:moveTo>
                <a:cubicBezTo>
                  <a:pt x="71438" y="27911"/>
                  <a:pt x="55432" y="11906"/>
                  <a:pt x="35719" y="11906"/>
                </a:cubicBezTo>
                <a:cubicBezTo>
                  <a:pt x="16005" y="11906"/>
                  <a:pt x="0" y="27911"/>
                  <a:pt x="0" y="47625"/>
                </a:cubicBezTo>
                <a:cubicBezTo>
                  <a:pt x="0" y="67339"/>
                  <a:pt x="16005" y="83344"/>
                  <a:pt x="35719" y="83344"/>
                </a:cubicBezTo>
                <a:cubicBezTo>
                  <a:pt x="55432" y="83344"/>
                  <a:pt x="71438" y="67339"/>
                  <a:pt x="71438" y="47625"/>
                </a:cubicBezTo>
                <a:close/>
                <a:moveTo>
                  <a:pt x="166688" y="142875"/>
                </a:moveTo>
                <a:cubicBezTo>
                  <a:pt x="166688" y="123161"/>
                  <a:pt x="150682" y="107156"/>
                  <a:pt x="130969" y="107156"/>
                </a:cubicBezTo>
                <a:cubicBezTo>
                  <a:pt x="111255" y="107156"/>
                  <a:pt x="95250" y="123161"/>
                  <a:pt x="95250" y="142875"/>
                </a:cubicBezTo>
                <a:cubicBezTo>
                  <a:pt x="95250" y="162589"/>
                  <a:pt x="111255" y="178594"/>
                  <a:pt x="130969" y="178594"/>
                </a:cubicBezTo>
                <a:cubicBezTo>
                  <a:pt x="150682" y="178594"/>
                  <a:pt x="166688" y="162589"/>
                  <a:pt x="166688" y="142875"/>
                </a:cubicBezTo>
                <a:close/>
                <a:moveTo>
                  <a:pt x="163190" y="32221"/>
                </a:moveTo>
                <a:cubicBezTo>
                  <a:pt x="167841" y="27570"/>
                  <a:pt x="167841" y="20017"/>
                  <a:pt x="163190" y="15367"/>
                </a:cubicBezTo>
                <a:cubicBezTo>
                  <a:pt x="158539" y="10716"/>
                  <a:pt x="150986" y="10716"/>
                  <a:pt x="146335" y="15367"/>
                </a:cubicBezTo>
                <a:lnTo>
                  <a:pt x="3460" y="158242"/>
                </a:lnTo>
                <a:cubicBezTo>
                  <a:pt x="-1191" y="162892"/>
                  <a:pt x="-1191" y="170445"/>
                  <a:pt x="3460" y="175096"/>
                </a:cubicBezTo>
                <a:cubicBezTo>
                  <a:pt x="8111" y="179747"/>
                  <a:pt x="15664" y="179747"/>
                  <a:pt x="20315" y="175096"/>
                </a:cubicBezTo>
                <a:lnTo>
                  <a:pt x="163190" y="32221"/>
                </a:ln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44" name="Text 42"/>
          <p:cNvSpPr/>
          <p:nvPr/>
        </p:nvSpPr>
        <p:spPr>
          <a:xfrm>
            <a:off x="6953250" y="5467231"/>
            <a:ext cx="4562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 Discount Rate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953250" y="5772031"/>
            <a:ext cx="4543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Universal discount application—opportunity for targeted optimization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4925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285750"/>
                </a:lnTo>
                <a:cubicBezTo>
                  <a:pt x="63500" y="303273"/>
                  <a:pt x="49273" y="317500"/>
                  <a:pt x="31750" y="317500"/>
                </a:cubicBezTo>
                <a:lnTo>
                  <a:pt x="31750" y="317500"/>
                </a:lnTo>
                <a:cubicBezTo>
                  <a:pt x="14227" y="317500"/>
                  <a:pt x="0" y="303273"/>
                  <a:pt x="0" y="28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3" name="Text 1"/>
          <p:cNvSpPr/>
          <p:nvPr/>
        </p:nvSpPr>
        <p:spPr>
          <a:xfrm>
            <a:off x="476250" y="317500"/>
            <a:ext cx="5405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Problem &amp; Objectives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6250" y="762000"/>
            <a:ext cx="11477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Defining the strategic challenge and our analytical approach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3850" y="1181100"/>
            <a:ext cx="5640387" cy="5354637"/>
          </a:xfrm>
          <a:custGeom>
            <a:avLst/>
            <a:gdLst/>
            <a:ahLst/>
            <a:cxnLst/>
            <a:rect l="l" t="t" r="r" b="b"/>
            <a:pathLst>
              <a:path w="5640387" h="5354637">
                <a:moveTo>
                  <a:pt x="95259" y="0"/>
                </a:moveTo>
                <a:lnTo>
                  <a:pt x="5545128" y="0"/>
                </a:lnTo>
                <a:cubicBezTo>
                  <a:pt x="5597739" y="0"/>
                  <a:pt x="5640388" y="42649"/>
                  <a:pt x="5640388" y="95259"/>
                </a:cubicBezTo>
                <a:lnTo>
                  <a:pt x="5640387" y="5259378"/>
                </a:lnTo>
                <a:cubicBezTo>
                  <a:pt x="5640388" y="5311989"/>
                  <a:pt x="5597739" y="5354637"/>
                  <a:pt x="5545129" y="5354638"/>
                </a:cubicBezTo>
                <a:lnTo>
                  <a:pt x="95259" y="5354637"/>
                </a:lnTo>
                <a:cubicBezTo>
                  <a:pt x="42649" y="5354638"/>
                  <a:pt x="0" y="5311989"/>
                  <a:pt x="0" y="5259378"/>
                </a:cubicBezTo>
                <a:lnTo>
                  <a:pt x="0" y="95259"/>
                </a:lnTo>
                <a:cubicBezTo>
                  <a:pt x="0" y="42684"/>
                  <a:pt x="42684" y="0"/>
                  <a:pt x="95259" y="0"/>
                </a:cubicBezTo>
                <a:close/>
              </a:path>
            </a:pathLst>
          </a:custGeom>
          <a:gradFill rotWithShape="1" flip="none">
            <a:gsLst>
              <a:gs pos="0">
                <a:srgbClr val="6B4C9A">
                  <a:alpha val="40000"/>
                </a:srgbClr>
              </a:gs>
              <a:gs pos="100000">
                <a:srgbClr val="4A3B69">
                  <a:alpha val="40000"/>
                </a:srgbClr>
              </a:gs>
            </a:gsLst>
            <a:lin ang="2700000" scaled="1"/>
          </a:gradFill>
          <a:ln w="20320">
            <a:solidFill>
              <a:srgbClr val="F4E285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4200" y="144145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F4E285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21122" y="1576387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19062" y="238125"/>
                </a:moveTo>
                <a:cubicBezTo>
                  <a:pt x="184775" y="238125"/>
                  <a:pt x="238125" y="184775"/>
                  <a:pt x="238125" y="119062"/>
                </a:cubicBezTo>
                <a:cubicBezTo>
                  <a:pt x="238125" y="53350"/>
                  <a:pt x="184775" y="0"/>
                  <a:pt x="119062" y="0"/>
                </a:cubicBezTo>
                <a:cubicBezTo>
                  <a:pt x="53350" y="0"/>
                  <a:pt x="0" y="53350"/>
                  <a:pt x="0" y="119062"/>
                </a:cubicBezTo>
                <a:cubicBezTo>
                  <a:pt x="0" y="184775"/>
                  <a:pt x="53350" y="238125"/>
                  <a:pt x="119062" y="238125"/>
                </a:cubicBezTo>
                <a:close/>
                <a:moveTo>
                  <a:pt x="119062" y="81855"/>
                </a:moveTo>
                <a:cubicBezTo>
                  <a:pt x="110830" y="81855"/>
                  <a:pt x="104180" y="88506"/>
                  <a:pt x="104180" y="96738"/>
                </a:cubicBezTo>
                <a:cubicBezTo>
                  <a:pt x="104180" y="102924"/>
                  <a:pt x="99203" y="107900"/>
                  <a:pt x="93018" y="107900"/>
                </a:cubicBezTo>
                <a:cubicBezTo>
                  <a:pt x="86832" y="107900"/>
                  <a:pt x="81855" y="102924"/>
                  <a:pt x="81855" y="96738"/>
                </a:cubicBezTo>
                <a:cubicBezTo>
                  <a:pt x="81855" y="76181"/>
                  <a:pt x="98506" y="59531"/>
                  <a:pt x="119062" y="59531"/>
                </a:cubicBezTo>
                <a:cubicBezTo>
                  <a:pt x="139619" y="59531"/>
                  <a:pt x="156270" y="76181"/>
                  <a:pt x="156270" y="96738"/>
                </a:cubicBezTo>
                <a:cubicBezTo>
                  <a:pt x="156270" y="118690"/>
                  <a:pt x="139526" y="127992"/>
                  <a:pt x="130225" y="131387"/>
                </a:cubicBezTo>
                <a:lnTo>
                  <a:pt x="130225" y="133155"/>
                </a:lnTo>
                <a:cubicBezTo>
                  <a:pt x="130225" y="139340"/>
                  <a:pt x="125248" y="144317"/>
                  <a:pt x="119062" y="144317"/>
                </a:cubicBezTo>
                <a:cubicBezTo>
                  <a:pt x="112877" y="144317"/>
                  <a:pt x="107900" y="139340"/>
                  <a:pt x="107900" y="133155"/>
                </a:cubicBezTo>
                <a:lnTo>
                  <a:pt x="107900" y="129387"/>
                </a:lnTo>
                <a:cubicBezTo>
                  <a:pt x="107900" y="119853"/>
                  <a:pt x="114784" y="113016"/>
                  <a:pt x="121900" y="110691"/>
                </a:cubicBezTo>
                <a:cubicBezTo>
                  <a:pt x="124876" y="109714"/>
                  <a:pt x="128039" y="108133"/>
                  <a:pt x="130364" y="105901"/>
                </a:cubicBezTo>
                <a:cubicBezTo>
                  <a:pt x="132364" y="103947"/>
                  <a:pt x="133945" y="101250"/>
                  <a:pt x="133945" y="96785"/>
                </a:cubicBezTo>
                <a:cubicBezTo>
                  <a:pt x="133945" y="88553"/>
                  <a:pt x="127295" y="81902"/>
                  <a:pt x="119062" y="81902"/>
                </a:cubicBezTo>
                <a:close/>
                <a:moveTo>
                  <a:pt x="104180" y="171152"/>
                </a:moveTo>
                <a:cubicBezTo>
                  <a:pt x="104180" y="162938"/>
                  <a:pt x="110848" y="156270"/>
                  <a:pt x="119062" y="156270"/>
                </a:cubicBezTo>
                <a:cubicBezTo>
                  <a:pt x="127277" y="156270"/>
                  <a:pt x="133945" y="162938"/>
                  <a:pt x="133945" y="171152"/>
                </a:cubicBezTo>
                <a:cubicBezTo>
                  <a:pt x="133945" y="179366"/>
                  <a:pt x="127277" y="186035"/>
                  <a:pt x="119062" y="186035"/>
                </a:cubicBezTo>
                <a:cubicBezTo>
                  <a:pt x="110848" y="186035"/>
                  <a:pt x="104180" y="179366"/>
                  <a:pt x="104180" y="171152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8" name="Text 6"/>
          <p:cNvSpPr/>
          <p:nvPr/>
        </p:nvSpPr>
        <p:spPr>
          <a:xfrm>
            <a:off x="1219200" y="1552575"/>
            <a:ext cx="1619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4E2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0075" y="3298031"/>
            <a:ext cx="5103813" cy="1436688"/>
          </a:xfrm>
          <a:custGeom>
            <a:avLst/>
            <a:gdLst/>
            <a:ahLst/>
            <a:cxnLst/>
            <a:rect l="l" t="t" r="r" b="b"/>
            <a:pathLst>
              <a:path w="5103813" h="1436688">
                <a:moveTo>
                  <a:pt x="31750" y="0"/>
                </a:moveTo>
                <a:lnTo>
                  <a:pt x="5008560" y="0"/>
                </a:lnTo>
                <a:cubicBezTo>
                  <a:pt x="5061167" y="0"/>
                  <a:pt x="5103812" y="42646"/>
                  <a:pt x="5103812" y="95252"/>
                </a:cubicBezTo>
                <a:lnTo>
                  <a:pt x="5103813" y="1341435"/>
                </a:lnTo>
                <a:cubicBezTo>
                  <a:pt x="5103812" y="1394042"/>
                  <a:pt x="5061167" y="1436687"/>
                  <a:pt x="5008560" y="1436688"/>
                </a:cubicBezTo>
                <a:lnTo>
                  <a:pt x="31750" y="1436688"/>
                </a:lnTo>
                <a:cubicBezTo>
                  <a:pt x="14215" y="1436688"/>
                  <a:pt x="0" y="1422473"/>
                  <a:pt x="0" y="14049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A2E">
              <a:alpha val="7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00075" y="3298031"/>
            <a:ext cx="31750" cy="1436688"/>
          </a:xfrm>
          <a:custGeom>
            <a:avLst/>
            <a:gdLst/>
            <a:ahLst/>
            <a:cxnLst/>
            <a:rect l="l" t="t" r="r" b="b"/>
            <a:pathLst>
              <a:path w="31750" h="1436688">
                <a:moveTo>
                  <a:pt x="31750" y="0"/>
                </a:moveTo>
                <a:lnTo>
                  <a:pt x="31750" y="0"/>
                </a:lnTo>
                <a:lnTo>
                  <a:pt x="31750" y="1436688"/>
                </a:lnTo>
                <a:lnTo>
                  <a:pt x="31750" y="1436688"/>
                </a:lnTo>
                <a:cubicBezTo>
                  <a:pt x="14227" y="1436688"/>
                  <a:pt x="0" y="1422461"/>
                  <a:pt x="0" y="14049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11" name="Text 9"/>
          <p:cNvSpPr/>
          <p:nvPr/>
        </p:nvSpPr>
        <p:spPr>
          <a:xfrm>
            <a:off x="869950" y="3552031"/>
            <a:ext cx="4675188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"How can the company leverage consumer shopping data to identify trends, improve customer engagement, and optimize marketing and product strategies?"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0075" y="611505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55563" y="39688"/>
                </a:moveTo>
                <a:cubicBezTo>
                  <a:pt x="55563" y="35307"/>
                  <a:pt x="59119" y="31750"/>
                  <a:pt x="63500" y="31750"/>
                </a:cubicBezTo>
                <a:cubicBezTo>
                  <a:pt x="67881" y="31750"/>
                  <a:pt x="71438" y="35307"/>
                  <a:pt x="71438" y="39688"/>
                </a:cubicBezTo>
                <a:cubicBezTo>
                  <a:pt x="71438" y="44068"/>
                  <a:pt x="67881" y="47625"/>
                  <a:pt x="63500" y="47625"/>
                </a:cubicBezTo>
                <a:cubicBezTo>
                  <a:pt x="59119" y="47625"/>
                  <a:pt x="55563" y="44068"/>
                  <a:pt x="55563" y="39688"/>
                </a:cubicBezTo>
                <a:close/>
                <a:moveTo>
                  <a:pt x="53578" y="55563"/>
                </a:moveTo>
                <a:lnTo>
                  <a:pt x="65484" y="55563"/>
                </a:lnTo>
                <a:cubicBezTo>
                  <a:pt x="68783" y="55563"/>
                  <a:pt x="71438" y="58217"/>
                  <a:pt x="71438" y="61516"/>
                </a:cubicBezTo>
                <a:lnTo>
                  <a:pt x="71438" y="83344"/>
                </a:lnTo>
                <a:lnTo>
                  <a:pt x="73422" y="83344"/>
                </a:lnTo>
                <a:cubicBezTo>
                  <a:pt x="76721" y="83344"/>
                  <a:pt x="79375" y="85998"/>
                  <a:pt x="79375" y="89297"/>
                </a:cubicBezTo>
                <a:cubicBezTo>
                  <a:pt x="79375" y="92596"/>
                  <a:pt x="76721" y="95250"/>
                  <a:pt x="73422" y="95250"/>
                </a:cubicBezTo>
                <a:lnTo>
                  <a:pt x="53578" y="95250"/>
                </a:lnTo>
                <a:cubicBezTo>
                  <a:pt x="50279" y="95250"/>
                  <a:pt x="47625" y="92596"/>
                  <a:pt x="47625" y="89297"/>
                </a:cubicBezTo>
                <a:cubicBezTo>
                  <a:pt x="47625" y="85998"/>
                  <a:pt x="50279" y="83344"/>
                  <a:pt x="53578" y="83344"/>
                </a:cubicBezTo>
                <a:lnTo>
                  <a:pt x="59531" y="83344"/>
                </a:lnTo>
                <a:lnTo>
                  <a:pt x="59531" y="67469"/>
                </a:lnTo>
                <a:lnTo>
                  <a:pt x="53578" y="67469"/>
                </a:lnTo>
                <a:cubicBezTo>
                  <a:pt x="50279" y="67469"/>
                  <a:pt x="47625" y="64815"/>
                  <a:pt x="47625" y="61516"/>
                </a:cubicBezTo>
                <a:cubicBezTo>
                  <a:pt x="47625" y="58217"/>
                  <a:pt x="50279" y="55563"/>
                  <a:pt x="53578" y="55563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13" name="Text 11"/>
          <p:cNvSpPr/>
          <p:nvPr/>
        </p:nvSpPr>
        <p:spPr>
          <a:xfrm>
            <a:off x="838200" y="6083301"/>
            <a:ext cx="373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decision making is essential for competitive advantage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26175" y="1177925"/>
            <a:ext cx="5641975" cy="5356225"/>
          </a:xfrm>
          <a:custGeom>
            <a:avLst/>
            <a:gdLst/>
            <a:ahLst/>
            <a:cxnLst/>
            <a:rect l="l" t="t" r="r" b="b"/>
            <a:pathLst>
              <a:path w="5641975" h="5356225">
                <a:moveTo>
                  <a:pt x="95234" y="0"/>
                </a:moveTo>
                <a:lnTo>
                  <a:pt x="5546741" y="0"/>
                </a:lnTo>
                <a:cubicBezTo>
                  <a:pt x="5599337" y="0"/>
                  <a:pt x="5641975" y="42638"/>
                  <a:pt x="5641975" y="95234"/>
                </a:cubicBezTo>
                <a:lnTo>
                  <a:pt x="5641975" y="5260991"/>
                </a:lnTo>
                <a:cubicBezTo>
                  <a:pt x="5641975" y="5313587"/>
                  <a:pt x="5599337" y="5356225"/>
                  <a:pt x="5546741" y="5356225"/>
                </a:cubicBezTo>
                <a:lnTo>
                  <a:pt x="95234" y="5356225"/>
                </a:lnTo>
                <a:cubicBezTo>
                  <a:pt x="42638" y="5356225"/>
                  <a:pt x="0" y="5313587"/>
                  <a:pt x="0" y="5260991"/>
                </a:cubicBezTo>
                <a:lnTo>
                  <a:pt x="0" y="95234"/>
                </a:lnTo>
                <a:cubicBezTo>
                  <a:pt x="0" y="42638"/>
                  <a:pt x="42638" y="0"/>
                  <a:pt x="95234" y="0"/>
                </a:cubicBezTo>
                <a:close/>
              </a:path>
            </a:pathLst>
          </a:custGeom>
          <a:solidFill>
            <a:srgbClr val="4A3B69">
              <a:alpha val="30196"/>
            </a:srgbClr>
          </a:solidFill>
          <a:ln w="10160">
            <a:solidFill>
              <a:srgbClr val="6B4C9A">
                <a:alpha val="5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83350" y="14351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F4E285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620272" y="1570038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08359" y="119062"/>
                </a:moveTo>
                <a:cubicBezTo>
                  <a:pt x="208359" y="69778"/>
                  <a:pt x="168347" y="29766"/>
                  <a:pt x="119062" y="29766"/>
                </a:cubicBezTo>
                <a:cubicBezTo>
                  <a:pt x="69778" y="29766"/>
                  <a:pt x="29766" y="69778"/>
                  <a:pt x="29766" y="119062"/>
                </a:cubicBezTo>
                <a:cubicBezTo>
                  <a:pt x="29766" y="168347"/>
                  <a:pt x="69778" y="208359"/>
                  <a:pt x="119062" y="208359"/>
                </a:cubicBezTo>
                <a:cubicBezTo>
                  <a:pt x="168347" y="208359"/>
                  <a:pt x="208359" y="168347"/>
                  <a:pt x="208359" y="119063"/>
                </a:cubicBezTo>
                <a:close/>
                <a:moveTo>
                  <a:pt x="0" y="119062"/>
                </a:moveTo>
                <a:cubicBezTo>
                  <a:pt x="0" y="53350"/>
                  <a:pt x="53350" y="0"/>
                  <a:pt x="119062" y="0"/>
                </a:cubicBezTo>
                <a:cubicBezTo>
                  <a:pt x="184775" y="0"/>
                  <a:pt x="238125" y="53350"/>
                  <a:pt x="238125" y="119062"/>
                </a:cubicBezTo>
                <a:cubicBezTo>
                  <a:pt x="238125" y="184775"/>
                  <a:pt x="184775" y="238125"/>
                  <a:pt x="119062" y="238125"/>
                </a:cubicBezTo>
                <a:cubicBezTo>
                  <a:pt x="53350" y="238125"/>
                  <a:pt x="0" y="184775"/>
                  <a:pt x="0" y="119062"/>
                </a:cubicBezTo>
                <a:close/>
                <a:moveTo>
                  <a:pt x="119062" y="156270"/>
                </a:moveTo>
                <a:cubicBezTo>
                  <a:pt x="139598" y="156270"/>
                  <a:pt x="156270" y="139598"/>
                  <a:pt x="156270" y="119062"/>
                </a:cubicBezTo>
                <a:cubicBezTo>
                  <a:pt x="156270" y="98527"/>
                  <a:pt x="139598" y="81855"/>
                  <a:pt x="119062" y="81855"/>
                </a:cubicBezTo>
                <a:cubicBezTo>
                  <a:pt x="98527" y="81855"/>
                  <a:pt x="81855" y="98527"/>
                  <a:pt x="81855" y="119062"/>
                </a:cubicBezTo>
                <a:cubicBezTo>
                  <a:pt x="81855" y="139598"/>
                  <a:pt x="98527" y="156270"/>
                  <a:pt x="119062" y="156270"/>
                </a:cubicBezTo>
                <a:close/>
                <a:moveTo>
                  <a:pt x="119062" y="52090"/>
                </a:moveTo>
                <a:cubicBezTo>
                  <a:pt x="156026" y="52090"/>
                  <a:pt x="186035" y="82099"/>
                  <a:pt x="186035" y="119062"/>
                </a:cubicBezTo>
                <a:cubicBezTo>
                  <a:pt x="186035" y="156026"/>
                  <a:pt x="156026" y="186035"/>
                  <a:pt x="119062" y="186035"/>
                </a:cubicBezTo>
                <a:cubicBezTo>
                  <a:pt x="82099" y="186035"/>
                  <a:pt x="52090" y="156026"/>
                  <a:pt x="52090" y="119062"/>
                </a:cubicBezTo>
                <a:cubicBezTo>
                  <a:pt x="52090" y="82099"/>
                  <a:pt x="82099" y="52090"/>
                  <a:pt x="119062" y="52090"/>
                </a:cubicBezTo>
                <a:close/>
                <a:moveTo>
                  <a:pt x="104180" y="119062"/>
                </a:moveTo>
                <a:cubicBezTo>
                  <a:pt x="104180" y="110848"/>
                  <a:pt x="110848" y="104180"/>
                  <a:pt x="119062" y="104180"/>
                </a:cubicBezTo>
                <a:cubicBezTo>
                  <a:pt x="127277" y="104180"/>
                  <a:pt x="133945" y="110848"/>
                  <a:pt x="133945" y="119062"/>
                </a:cubicBezTo>
                <a:cubicBezTo>
                  <a:pt x="133945" y="127277"/>
                  <a:pt x="127277" y="133945"/>
                  <a:pt x="119062" y="133945"/>
                </a:cubicBezTo>
                <a:cubicBezTo>
                  <a:pt x="110848" y="133945"/>
                  <a:pt x="104180" y="127277"/>
                  <a:pt x="104180" y="119062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17" name="Text 15"/>
          <p:cNvSpPr/>
          <p:nvPr/>
        </p:nvSpPr>
        <p:spPr>
          <a:xfrm>
            <a:off x="7118350" y="1546225"/>
            <a:ext cx="1666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4E2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Objectives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83350" y="2198985"/>
            <a:ext cx="5127625" cy="698500"/>
          </a:xfrm>
          <a:custGeom>
            <a:avLst/>
            <a:gdLst/>
            <a:ahLst/>
            <a:cxnLst/>
            <a:rect l="l" t="t" r="r" b="b"/>
            <a:pathLst>
              <a:path w="5127625" h="698500">
                <a:moveTo>
                  <a:pt x="63501" y="0"/>
                </a:moveTo>
                <a:lnTo>
                  <a:pt x="5064124" y="0"/>
                </a:lnTo>
                <a:cubicBezTo>
                  <a:pt x="5099195" y="0"/>
                  <a:pt x="5127625" y="28430"/>
                  <a:pt x="5127625" y="63501"/>
                </a:cubicBezTo>
                <a:lnTo>
                  <a:pt x="5127625" y="634999"/>
                </a:lnTo>
                <a:cubicBezTo>
                  <a:pt x="5127625" y="670070"/>
                  <a:pt x="5099195" y="698500"/>
                  <a:pt x="5064124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A2E">
              <a:alpha val="5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610350" y="232598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20" name="Shape 18"/>
          <p:cNvSpPr/>
          <p:nvPr/>
        </p:nvSpPr>
        <p:spPr>
          <a:xfrm>
            <a:off x="6708576" y="2413297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1332" y="19562"/>
                </a:moveTo>
                <a:cubicBezTo>
                  <a:pt x="125323" y="22464"/>
                  <a:pt x="126216" y="28045"/>
                  <a:pt x="123313" y="32035"/>
                </a:cubicBezTo>
                <a:lnTo>
                  <a:pt x="51876" y="130262"/>
                </a:lnTo>
                <a:cubicBezTo>
                  <a:pt x="50341" y="132383"/>
                  <a:pt x="47969" y="133694"/>
                  <a:pt x="45346" y="133917"/>
                </a:cubicBezTo>
                <a:cubicBezTo>
                  <a:pt x="42723" y="134141"/>
                  <a:pt x="40184" y="133164"/>
                  <a:pt x="38342" y="131322"/>
                </a:cubicBezTo>
                <a:lnTo>
                  <a:pt x="2623" y="95603"/>
                </a:lnTo>
                <a:cubicBezTo>
                  <a:pt x="-865" y="92115"/>
                  <a:pt x="-865" y="86451"/>
                  <a:pt x="2623" y="82962"/>
                </a:cubicBezTo>
                <a:cubicBezTo>
                  <a:pt x="6111" y="79474"/>
                  <a:pt x="11776" y="79474"/>
                  <a:pt x="15264" y="82962"/>
                </a:cubicBezTo>
                <a:lnTo>
                  <a:pt x="43588" y="111286"/>
                </a:lnTo>
                <a:lnTo>
                  <a:pt x="108886" y="21515"/>
                </a:lnTo>
                <a:cubicBezTo>
                  <a:pt x="111789" y="17525"/>
                  <a:pt x="117370" y="16632"/>
                  <a:pt x="121360" y="19534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21" name="Text 19"/>
          <p:cNvSpPr/>
          <p:nvPr/>
        </p:nvSpPr>
        <p:spPr>
          <a:xfrm>
            <a:off x="7054850" y="2325985"/>
            <a:ext cx="3849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 purchasing patterns across demographics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54850" y="2579985"/>
            <a:ext cx="38338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 how age, gender, and location influence buying behavior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83350" y="3028256"/>
            <a:ext cx="5127625" cy="698500"/>
          </a:xfrm>
          <a:custGeom>
            <a:avLst/>
            <a:gdLst/>
            <a:ahLst/>
            <a:cxnLst/>
            <a:rect l="l" t="t" r="r" b="b"/>
            <a:pathLst>
              <a:path w="5127625" h="698500">
                <a:moveTo>
                  <a:pt x="63501" y="0"/>
                </a:moveTo>
                <a:lnTo>
                  <a:pt x="5064124" y="0"/>
                </a:lnTo>
                <a:cubicBezTo>
                  <a:pt x="5099195" y="0"/>
                  <a:pt x="5127625" y="28430"/>
                  <a:pt x="5127625" y="63501"/>
                </a:cubicBezTo>
                <a:lnTo>
                  <a:pt x="5127625" y="634999"/>
                </a:lnTo>
                <a:cubicBezTo>
                  <a:pt x="5127625" y="670070"/>
                  <a:pt x="5099195" y="698500"/>
                  <a:pt x="5064124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A2E">
              <a:alpha val="5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610350" y="3155256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25" name="Shape 23"/>
          <p:cNvSpPr/>
          <p:nvPr/>
        </p:nvSpPr>
        <p:spPr>
          <a:xfrm>
            <a:off x="6708576" y="3242569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1332" y="19562"/>
                </a:moveTo>
                <a:cubicBezTo>
                  <a:pt x="125323" y="22464"/>
                  <a:pt x="126216" y="28045"/>
                  <a:pt x="123313" y="32035"/>
                </a:cubicBezTo>
                <a:lnTo>
                  <a:pt x="51876" y="130262"/>
                </a:lnTo>
                <a:cubicBezTo>
                  <a:pt x="50341" y="132383"/>
                  <a:pt x="47969" y="133694"/>
                  <a:pt x="45346" y="133917"/>
                </a:cubicBezTo>
                <a:cubicBezTo>
                  <a:pt x="42723" y="134141"/>
                  <a:pt x="40184" y="133164"/>
                  <a:pt x="38342" y="131322"/>
                </a:cubicBezTo>
                <a:lnTo>
                  <a:pt x="2623" y="95603"/>
                </a:lnTo>
                <a:cubicBezTo>
                  <a:pt x="-865" y="92115"/>
                  <a:pt x="-865" y="86451"/>
                  <a:pt x="2623" y="82962"/>
                </a:cubicBezTo>
                <a:cubicBezTo>
                  <a:pt x="6111" y="79474"/>
                  <a:pt x="11776" y="79474"/>
                  <a:pt x="15264" y="82962"/>
                </a:cubicBezTo>
                <a:lnTo>
                  <a:pt x="43588" y="111286"/>
                </a:lnTo>
                <a:lnTo>
                  <a:pt x="108886" y="21515"/>
                </a:lnTo>
                <a:cubicBezTo>
                  <a:pt x="111789" y="17525"/>
                  <a:pt x="117370" y="16632"/>
                  <a:pt x="121360" y="19534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26" name="Text 24"/>
          <p:cNvSpPr/>
          <p:nvPr/>
        </p:nvSpPr>
        <p:spPr>
          <a:xfrm>
            <a:off x="7054850" y="3155256"/>
            <a:ext cx="399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drivers of customer loyalty and repeat purchases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54850" y="3409256"/>
            <a:ext cx="39766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Discover what makes customers return and increase lifetime value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83350" y="3857625"/>
            <a:ext cx="5127625" cy="698500"/>
          </a:xfrm>
          <a:custGeom>
            <a:avLst/>
            <a:gdLst/>
            <a:ahLst/>
            <a:cxnLst/>
            <a:rect l="l" t="t" r="r" b="b"/>
            <a:pathLst>
              <a:path w="5127625" h="698500">
                <a:moveTo>
                  <a:pt x="63501" y="0"/>
                </a:moveTo>
                <a:lnTo>
                  <a:pt x="5064124" y="0"/>
                </a:lnTo>
                <a:cubicBezTo>
                  <a:pt x="5099195" y="0"/>
                  <a:pt x="5127625" y="28430"/>
                  <a:pt x="5127625" y="63501"/>
                </a:cubicBezTo>
                <a:lnTo>
                  <a:pt x="5127625" y="634999"/>
                </a:lnTo>
                <a:cubicBezTo>
                  <a:pt x="5127625" y="670070"/>
                  <a:pt x="5099195" y="698500"/>
                  <a:pt x="5064124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A2E">
              <a:alpha val="5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610350" y="398462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30" name="Shape 28"/>
          <p:cNvSpPr/>
          <p:nvPr/>
        </p:nvSpPr>
        <p:spPr>
          <a:xfrm>
            <a:off x="6708576" y="4071938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1332" y="19562"/>
                </a:moveTo>
                <a:cubicBezTo>
                  <a:pt x="125323" y="22464"/>
                  <a:pt x="126216" y="28045"/>
                  <a:pt x="123313" y="32035"/>
                </a:cubicBezTo>
                <a:lnTo>
                  <a:pt x="51876" y="130262"/>
                </a:lnTo>
                <a:cubicBezTo>
                  <a:pt x="50341" y="132383"/>
                  <a:pt x="47969" y="133694"/>
                  <a:pt x="45346" y="133917"/>
                </a:cubicBezTo>
                <a:cubicBezTo>
                  <a:pt x="42723" y="134141"/>
                  <a:pt x="40184" y="133164"/>
                  <a:pt x="38342" y="131322"/>
                </a:cubicBezTo>
                <a:lnTo>
                  <a:pt x="2623" y="95603"/>
                </a:lnTo>
                <a:cubicBezTo>
                  <a:pt x="-865" y="92115"/>
                  <a:pt x="-865" y="86451"/>
                  <a:pt x="2623" y="82962"/>
                </a:cubicBezTo>
                <a:cubicBezTo>
                  <a:pt x="6111" y="79474"/>
                  <a:pt x="11776" y="79474"/>
                  <a:pt x="15264" y="82962"/>
                </a:cubicBezTo>
                <a:lnTo>
                  <a:pt x="43588" y="111286"/>
                </a:lnTo>
                <a:lnTo>
                  <a:pt x="108886" y="21515"/>
                </a:lnTo>
                <a:cubicBezTo>
                  <a:pt x="111789" y="17525"/>
                  <a:pt x="117370" y="16632"/>
                  <a:pt x="121360" y="19534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31" name="Text 29"/>
          <p:cNvSpPr/>
          <p:nvPr/>
        </p:nvSpPr>
        <p:spPr>
          <a:xfrm>
            <a:off x="7054850" y="3984625"/>
            <a:ext cx="3563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 marketing strategies by segment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54850" y="4238625"/>
            <a:ext cx="3548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Tailor campaigns to specific customer groups for maximum ROI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83350" y="4686896"/>
            <a:ext cx="5127625" cy="698500"/>
          </a:xfrm>
          <a:custGeom>
            <a:avLst/>
            <a:gdLst/>
            <a:ahLst/>
            <a:cxnLst/>
            <a:rect l="l" t="t" r="r" b="b"/>
            <a:pathLst>
              <a:path w="5127625" h="698500">
                <a:moveTo>
                  <a:pt x="63501" y="0"/>
                </a:moveTo>
                <a:lnTo>
                  <a:pt x="5064124" y="0"/>
                </a:lnTo>
                <a:cubicBezTo>
                  <a:pt x="5099195" y="0"/>
                  <a:pt x="5127625" y="28430"/>
                  <a:pt x="5127625" y="63501"/>
                </a:cubicBezTo>
                <a:lnTo>
                  <a:pt x="5127625" y="634999"/>
                </a:lnTo>
                <a:cubicBezTo>
                  <a:pt x="5127625" y="670070"/>
                  <a:pt x="5099195" y="698500"/>
                  <a:pt x="5064124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A2E">
              <a:alpha val="5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610350" y="4813896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35" name="Shape 33"/>
          <p:cNvSpPr/>
          <p:nvPr/>
        </p:nvSpPr>
        <p:spPr>
          <a:xfrm>
            <a:off x="6708576" y="4901209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1332" y="19562"/>
                </a:moveTo>
                <a:cubicBezTo>
                  <a:pt x="125323" y="22464"/>
                  <a:pt x="126216" y="28045"/>
                  <a:pt x="123313" y="32035"/>
                </a:cubicBezTo>
                <a:lnTo>
                  <a:pt x="51876" y="130262"/>
                </a:lnTo>
                <a:cubicBezTo>
                  <a:pt x="50341" y="132383"/>
                  <a:pt x="47969" y="133694"/>
                  <a:pt x="45346" y="133917"/>
                </a:cubicBezTo>
                <a:cubicBezTo>
                  <a:pt x="42723" y="134141"/>
                  <a:pt x="40184" y="133164"/>
                  <a:pt x="38342" y="131322"/>
                </a:cubicBezTo>
                <a:lnTo>
                  <a:pt x="2623" y="95603"/>
                </a:lnTo>
                <a:cubicBezTo>
                  <a:pt x="-865" y="92115"/>
                  <a:pt x="-865" y="86451"/>
                  <a:pt x="2623" y="82962"/>
                </a:cubicBezTo>
                <a:cubicBezTo>
                  <a:pt x="6111" y="79474"/>
                  <a:pt x="11776" y="79474"/>
                  <a:pt x="15264" y="82962"/>
                </a:cubicBezTo>
                <a:lnTo>
                  <a:pt x="43588" y="111286"/>
                </a:lnTo>
                <a:lnTo>
                  <a:pt x="108886" y="21515"/>
                </a:lnTo>
                <a:cubicBezTo>
                  <a:pt x="111789" y="17525"/>
                  <a:pt x="117370" y="16632"/>
                  <a:pt x="121360" y="19534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36" name="Text 34"/>
          <p:cNvSpPr/>
          <p:nvPr/>
        </p:nvSpPr>
        <p:spPr>
          <a:xfrm>
            <a:off x="7054850" y="4813896"/>
            <a:ext cx="3746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 product category performance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54850" y="5067896"/>
            <a:ext cx="373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high-potential categories and optimize inventory allocation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83350" y="5516266"/>
            <a:ext cx="5127625" cy="698500"/>
          </a:xfrm>
          <a:custGeom>
            <a:avLst/>
            <a:gdLst/>
            <a:ahLst/>
            <a:cxnLst/>
            <a:rect l="l" t="t" r="r" b="b"/>
            <a:pathLst>
              <a:path w="5127625" h="698500">
                <a:moveTo>
                  <a:pt x="63501" y="0"/>
                </a:moveTo>
                <a:lnTo>
                  <a:pt x="5064124" y="0"/>
                </a:lnTo>
                <a:cubicBezTo>
                  <a:pt x="5099195" y="0"/>
                  <a:pt x="5127625" y="28430"/>
                  <a:pt x="5127625" y="63501"/>
                </a:cubicBezTo>
                <a:lnTo>
                  <a:pt x="5127625" y="634999"/>
                </a:lnTo>
                <a:cubicBezTo>
                  <a:pt x="5127625" y="670070"/>
                  <a:pt x="5099195" y="698500"/>
                  <a:pt x="5064124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A2E">
              <a:alpha val="5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610350" y="5643266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40" name="Shape 38"/>
          <p:cNvSpPr/>
          <p:nvPr/>
        </p:nvSpPr>
        <p:spPr>
          <a:xfrm>
            <a:off x="6708576" y="5730579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1332" y="19562"/>
                </a:moveTo>
                <a:cubicBezTo>
                  <a:pt x="125323" y="22464"/>
                  <a:pt x="126216" y="28045"/>
                  <a:pt x="123313" y="32035"/>
                </a:cubicBezTo>
                <a:lnTo>
                  <a:pt x="51876" y="130262"/>
                </a:lnTo>
                <a:cubicBezTo>
                  <a:pt x="50341" y="132383"/>
                  <a:pt x="47969" y="133694"/>
                  <a:pt x="45346" y="133917"/>
                </a:cubicBezTo>
                <a:cubicBezTo>
                  <a:pt x="42723" y="134141"/>
                  <a:pt x="40184" y="133164"/>
                  <a:pt x="38342" y="131322"/>
                </a:cubicBezTo>
                <a:lnTo>
                  <a:pt x="2623" y="95603"/>
                </a:lnTo>
                <a:cubicBezTo>
                  <a:pt x="-865" y="92115"/>
                  <a:pt x="-865" y="86451"/>
                  <a:pt x="2623" y="82962"/>
                </a:cubicBezTo>
                <a:cubicBezTo>
                  <a:pt x="6111" y="79474"/>
                  <a:pt x="11776" y="79474"/>
                  <a:pt x="15264" y="82962"/>
                </a:cubicBezTo>
                <a:lnTo>
                  <a:pt x="43588" y="111286"/>
                </a:lnTo>
                <a:lnTo>
                  <a:pt x="108886" y="21515"/>
                </a:lnTo>
                <a:cubicBezTo>
                  <a:pt x="111789" y="17525"/>
                  <a:pt x="117370" y="16632"/>
                  <a:pt x="121360" y="19534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41" name="Text 39"/>
          <p:cNvSpPr/>
          <p:nvPr/>
        </p:nvSpPr>
        <p:spPr>
          <a:xfrm>
            <a:off x="7054850" y="5643266"/>
            <a:ext cx="3627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 subscription conversion rates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054850" y="5897266"/>
            <a:ext cx="3611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 the 73% non-subscribers into recurring revenue streams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3437" y="377780"/>
            <a:ext cx="68687" cy="343437"/>
          </a:xfrm>
          <a:custGeom>
            <a:avLst/>
            <a:gdLst/>
            <a:ahLst/>
            <a:cxnLst/>
            <a:rect l="l" t="t" r="r" b="b"/>
            <a:pathLst>
              <a:path w="68687" h="343437">
                <a:moveTo>
                  <a:pt x="34344" y="0"/>
                </a:moveTo>
                <a:lnTo>
                  <a:pt x="34344" y="0"/>
                </a:lnTo>
                <a:cubicBezTo>
                  <a:pt x="53311" y="0"/>
                  <a:pt x="68687" y="15376"/>
                  <a:pt x="68687" y="34344"/>
                </a:cubicBezTo>
                <a:lnTo>
                  <a:pt x="68687" y="309093"/>
                </a:lnTo>
                <a:cubicBezTo>
                  <a:pt x="68687" y="328060"/>
                  <a:pt x="53311" y="343437"/>
                  <a:pt x="34344" y="343437"/>
                </a:cubicBezTo>
                <a:lnTo>
                  <a:pt x="34344" y="343437"/>
                </a:lnTo>
                <a:cubicBezTo>
                  <a:pt x="15376" y="343437"/>
                  <a:pt x="0" y="328060"/>
                  <a:pt x="0" y="309093"/>
                </a:cubicBezTo>
                <a:lnTo>
                  <a:pt x="0" y="34344"/>
                </a:lnTo>
                <a:cubicBezTo>
                  <a:pt x="0" y="15376"/>
                  <a:pt x="15376" y="0"/>
                  <a:pt x="34344" y="0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3" name="Text 1"/>
          <p:cNvSpPr/>
          <p:nvPr/>
        </p:nvSpPr>
        <p:spPr>
          <a:xfrm>
            <a:off x="515155" y="343437"/>
            <a:ext cx="6533882" cy="412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45" b="1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Demographics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15155" y="824248"/>
            <a:ext cx="11419268" cy="2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2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who our customers are and how they perform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6871" y="1239806"/>
            <a:ext cx="5647815" cy="4007905"/>
          </a:xfrm>
          <a:custGeom>
            <a:avLst/>
            <a:gdLst/>
            <a:ahLst/>
            <a:cxnLst/>
            <a:rect l="l" t="t" r="r" b="b"/>
            <a:pathLst>
              <a:path w="5647815" h="4007905">
                <a:moveTo>
                  <a:pt x="103043" y="0"/>
                </a:moveTo>
                <a:lnTo>
                  <a:pt x="5544772" y="0"/>
                </a:lnTo>
                <a:cubicBezTo>
                  <a:pt x="5601681" y="0"/>
                  <a:pt x="5647815" y="46134"/>
                  <a:pt x="5647815" y="103043"/>
                </a:cubicBezTo>
                <a:lnTo>
                  <a:pt x="5647815" y="3904862"/>
                </a:lnTo>
                <a:cubicBezTo>
                  <a:pt x="5647815" y="3961771"/>
                  <a:pt x="5601681" y="4007905"/>
                  <a:pt x="5544772" y="4007905"/>
                </a:cubicBezTo>
                <a:lnTo>
                  <a:pt x="103043" y="4007905"/>
                </a:lnTo>
                <a:cubicBezTo>
                  <a:pt x="46134" y="4007905"/>
                  <a:pt x="0" y="3961771"/>
                  <a:pt x="0" y="3904862"/>
                </a:cubicBezTo>
                <a:lnTo>
                  <a:pt x="0" y="103043"/>
                </a:lnTo>
                <a:cubicBezTo>
                  <a:pt x="0" y="46172"/>
                  <a:pt x="46172" y="0"/>
                  <a:pt x="103043" y="0"/>
                </a:cubicBezTo>
                <a:close/>
              </a:path>
            </a:pathLst>
          </a:custGeom>
          <a:solidFill>
            <a:srgbClr val="4A3B69">
              <a:alpha val="30196"/>
            </a:srgbClr>
          </a:solidFill>
          <a:ln w="10160">
            <a:solidFill>
              <a:srgbClr val="6B4C9A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6367" y="1483540"/>
            <a:ext cx="257577" cy="206062"/>
          </a:xfrm>
          <a:custGeom>
            <a:avLst/>
            <a:gdLst/>
            <a:ahLst/>
            <a:cxnLst/>
            <a:rect l="l" t="t" r="r" b="b"/>
            <a:pathLst>
              <a:path w="257577" h="206062">
                <a:moveTo>
                  <a:pt x="193183" y="-25758"/>
                </a:moveTo>
                <a:cubicBezTo>
                  <a:pt x="186059" y="-25758"/>
                  <a:pt x="180304" y="-20002"/>
                  <a:pt x="180304" y="-12879"/>
                </a:cubicBezTo>
                <a:cubicBezTo>
                  <a:pt x="180304" y="-5755"/>
                  <a:pt x="186059" y="0"/>
                  <a:pt x="193183" y="0"/>
                </a:cubicBezTo>
                <a:lnTo>
                  <a:pt x="213588" y="0"/>
                </a:lnTo>
                <a:lnTo>
                  <a:pt x="190768" y="22820"/>
                </a:lnTo>
                <a:cubicBezTo>
                  <a:pt x="180183" y="16501"/>
                  <a:pt x="167788" y="12879"/>
                  <a:pt x="154546" y="12879"/>
                </a:cubicBezTo>
                <a:cubicBezTo>
                  <a:pt x="140299" y="12879"/>
                  <a:pt x="127018" y="17105"/>
                  <a:pt x="115910" y="24349"/>
                </a:cubicBezTo>
                <a:cubicBezTo>
                  <a:pt x="104802" y="17105"/>
                  <a:pt x="91520" y="12879"/>
                  <a:pt x="77273" y="12879"/>
                </a:cubicBezTo>
                <a:cubicBezTo>
                  <a:pt x="38154" y="12879"/>
                  <a:pt x="6439" y="44593"/>
                  <a:pt x="6439" y="83713"/>
                </a:cubicBezTo>
                <a:cubicBezTo>
                  <a:pt x="6439" y="118445"/>
                  <a:pt x="31432" y="147342"/>
                  <a:pt x="64394" y="153379"/>
                </a:cubicBezTo>
                <a:lnTo>
                  <a:pt x="64394" y="167425"/>
                </a:lnTo>
                <a:lnTo>
                  <a:pt x="51515" y="167425"/>
                </a:lnTo>
                <a:cubicBezTo>
                  <a:pt x="44392" y="167425"/>
                  <a:pt x="38637" y="173181"/>
                  <a:pt x="38637" y="180304"/>
                </a:cubicBezTo>
                <a:cubicBezTo>
                  <a:pt x="38637" y="187428"/>
                  <a:pt x="44392" y="193183"/>
                  <a:pt x="51515" y="193183"/>
                </a:cubicBezTo>
                <a:lnTo>
                  <a:pt x="64394" y="193183"/>
                </a:lnTo>
                <a:lnTo>
                  <a:pt x="64394" y="206062"/>
                </a:lnTo>
                <a:cubicBezTo>
                  <a:pt x="64394" y="213186"/>
                  <a:pt x="70150" y="218941"/>
                  <a:pt x="77273" y="218941"/>
                </a:cubicBezTo>
                <a:cubicBezTo>
                  <a:pt x="84397" y="218941"/>
                  <a:pt x="90152" y="213186"/>
                  <a:pt x="90152" y="206062"/>
                </a:cubicBezTo>
                <a:lnTo>
                  <a:pt x="90152" y="193183"/>
                </a:lnTo>
                <a:lnTo>
                  <a:pt x="103031" y="193183"/>
                </a:lnTo>
                <a:cubicBezTo>
                  <a:pt x="110155" y="193183"/>
                  <a:pt x="115910" y="187428"/>
                  <a:pt x="115910" y="180304"/>
                </a:cubicBezTo>
                <a:cubicBezTo>
                  <a:pt x="115910" y="173181"/>
                  <a:pt x="110155" y="167425"/>
                  <a:pt x="103031" y="167425"/>
                </a:cubicBezTo>
                <a:lnTo>
                  <a:pt x="90152" y="167425"/>
                </a:lnTo>
                <a:lnTo>
                  <a:pt x="90152" y="153379"/>
                </a:lnTo>
                <a:cubicBezTo>
                  <a:pt x="99530" y="151649"/>
                  <a:pt x="108223" y="148107"/>
                  <a:pt x="115910" y="143076"/>
                </a:cubicBezTo>
                <a:cubicBezTo>
                  <a:pt x="127018" y="150321"/>
                  <a:pt x="140299" y="154546"/>
                  <a:pt x="154546" y="154546"/>
                </a:cubicBezTo>
                <a:cubicBezTo>
                  <a:pt x="193666" y="154546"/>
                  <a:pt x="225380" y="122832"/>
                  <a:pt x="225380" y="83713"/>
                </a:cubicBezTo>
                <a:cubicBezTo>
                  <a:pt x="225380" y="67171"/>
                  <a:pt x="219706" y="51918"/>
                  <a:pt x="210167" y="39844"/>
                </a:cubicBezTo>
                <a:lnTo>
                  <a:pt x="231820" y="18232"/>
                </a:lnTo>
                <a:lnTo>
                  <a:pt x="231820" y="38637"/>
                </a:lnTo>
                <a:cubicBezTo>
                  <a:pt x="231820" y="45760"/>
                  <a:pt x="237575" y="51515"/>
                  <a:pt x="244699" y="51515"/>
                </a:cubicBezTo>
                <a:cubicBezTo>
                  <a:pt x="251822" y="51515"/>
                  <a:pt x="257577" y="45760"/>
                  <a:pt x="257577" y="38637"/>
                </a:cubicBezTo>
                <a:lnTo>
                  <a:pt x="257577" y="-12879"/>
                </a:lnTo>
                <a:cubicBezTo>
                  <a:pt x="257577" y="-20002"/>
                  <a:pt x="251822" y="-25758"/>
                  <a:pt x="244699" y="-25758"/>
                </a:cubicBezTo>
                <a:lnTo>
                  <a:pt x="193183" y="-25758"/>
                </a:lnTo>
                <a:close/>
                <a:moveTo>
                  <a:pt x="135228" y="124442"/>
                </a:moveTo>
                <a:cubicBezTo>
                  <a:pt x="143358" y="112932"/>
                  <a:pt x="148107" y="98886"/>
                  <a:pt x="148107" y="83713"/>
                </a:cubicBezTo>
                <a:cubicBezTo>
                  <a:pt x="148107" y="68540"/>
                  <a:pt x="143358" y="54494"/>
                  <a:pt x="135228" y="42983"/>
                </a:cubicBezTo>
                <a:cubicBezTo>
                  <a:pt x="141104" y="40206"/>
                  <a:pt x="147624" y="38637"/>
                  <a:pt x="154546" y="38637"/>
                </a:cubicBezTo>
                <a:cubicBezTo>
                  <a:pt x="179459" y="38637"/>
                  <a:pt x="199623" y="58800"/>
                  <a:pt x="199623" y="83713"/>
                </a:cubicBezTo>
                <a:cubicBezTo>
                  <a:pt x="199623" y="108625"/>
                  <a:pt x="179459" y="128789"/>
                  <a:pt x="154546" y="128789"/>
                </a:cubicBezTo>
                <a:cubicBezTo>
                  <a:pt x="147624" y="128789"/>
                  <a:pt x="141064" y="127219"/>
                  <a:pt x="135228" y="124442"/>
                </a:cubicBezTo>
                <a:close/>
                <a:moveTo>
                  <a:pt x="115910" y="60490"/>
                </a:moveTo>
                <a:cubicBezTo>
                  <a:pt x="120015" y="67292"/>
                  <a:pt x="122349" y="75221"/>
                  <a:pt x="122349" y="83713"/>
                </a:cubicBezTo>
                <a:cubicBezTo>
                  <a:pt x="122349" y="92205"/>
                  <a:pt x="120015" y="100173"/>
                  <a:pt x="115910" y="106935"/>
                </a:cubicBezTo>
                <a:cubicBezTo>
                  <a:pt x="111805" y="100133"/>
                  <a:pt x="109470" y="92205"/>
                  <a:pt x="109470" y="83713"/>
                </a:cubicBezTo>
                <a:cubicBezTo>
                  <a:pt x="109470" y="75221"/>
                  <a:pt x="111805" y="67252"/>
                  <a:pt x="115910" y="60490"/>
                </a:cubicBezTo>
                <a:close/>
                <a:moveTo>
                  <a:pt x="96592" y="42983"/>
                </a:moveTo>
                <a:cubicBezTo>
                  <a:pt x="88462" y="54494"/>
                  <a:pt x="83713" y="68540"/>
                  <a:pt x="83713" y="83713"/>
                </a:cubicBezTo>
                <a:cubicBezTo>
                  <a:pt x="83713" y="98886"/>
                  <a:pt x="88462" y="112932"/>
                  <a:pt x="96592" y="124442"/>
                </a:cubicBezTo>
                <a:cubicBezTo>
                  <a:pt x="90756" y="127219"/>
                  <a:pt x="84196" y="128789"/>
                  <a:pt x="77273" y="128789"/>
                </a:cubicBezTo>
                <a:cubicBezTo>
                  <a:pt x="52361" y="128789"/>
                  <a:pt x="32197" y="108625"/>
                  <a:pt x="32197" y="83713"/>
                </a:cubicBezTo>
                <a:cubicBezTo>
                  <a:pt x="32197" y="58800"/>
                  <a:pt x="52361" y="38637"/>
                  <a:pt x="77273" y="38637"/>
                </a:cubicBezTo>
                <a:cubicBezTo>
                  <a:pt x="84196" y="38637"/>
                  <a:pt x="90756" y="40206"/>
                  <a:pt x="96592" y="42983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7" name="Text 5"/>
          <p:cNvSpPr/>
          <p:nvPr/>
        </p:nvSpPr>
        <p:spPr>
          <a:xfrm>
            <a:off x="813945" y="1449303"/>
            <a:ext cx="5074276" cy="27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3" b="1" dirty="0">
                <a:solidFill>
                  <a:srgbClr val="F4E2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Gender Distribution</a:t>
            </a:r>
            <a:endParaRPr lang="en-US" sz="1600" dirty="0"/>
          </a:p>
        </p:txBody>
      </p:sp>
      <p:pic>
        <p:nvPicPr>
          <p:cNvPr id="8" name="Image 0" descr="https://kimi-img.moonshot.cn/pub/slides/26-04-03-03:21:51-d77c3jsrhkl7j0jd0h60.png">    </p:cNvPr>
          <p:cNvPicPr>
            <a:picLocks noChangeAspect="1"/>
          </p:cNvPicPr>
          <p:nvPr/>
        </p:nvPicPr>
        <p:blipFill>
          <a:blip r:embed="rId1"/>
          <a:srcRect l="43" r="43" t="0" b="0"/>
          <a:stretch/>
        </p:blipFill>
        <p:spPr>
          <a:xfrm>
            <a:off x="556367" y="1861320"/>
            <a:ext cx="4619223" cy="2146479"/>
          </a:xfrm>
          <a:prstGeom prst="roundRect">
            <a:avLst>
              <a:gd name="adj" fmla="val 0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556367" y="4351235"/>
            <a:ext cx="5228823" cy="686873"/>
          </a:xfrm>
          <a:custGeom>
            <a:avLst/>
            <a:gdLst/>
            <a:ahLst/>
            <a:cxnLst/>
            <a:rect l="l" t="t" r="r" b="b"/>
            <a:pathLst>
              <a:path w="5228823" h="686873">
                <a:moveTo>
                  <a:pt x="68687" y="0"/>
                </a:moveTo>
                <a:lnTo>
                  <a:pt x="5160135" y="0"/>
                </a:lnTo>
                <a:cubicBezTo>
                  <a:pt x="5198070" y="0"/>
                  <a:pt x="5228823" y="30752"/>
                  <a:pt x="5228823" y="68687"/>
                </a:cubicBezTo>
                <a:lnTo>
                  <a:pt x="5228823" y="618186"/>
                </a:lnTo>
                <a:cubicBezTo>
                  <a:pt x="5228823" y="656121"/>
                  <a:pt x="5198070" y="686873"/>
                  <a:pt x="5160135" y="686873"/>
                </a:cubicBezTo>
                <a:lnTo>
                  <a:pt x="68687" y="686873"/>
                </a:lnTo>
                <a:cubicBezTo>
                  <a:pt x="30752" y="686873"/>
                  <a:pt x="0" y="656121"/>
                  <a:pt x="0" y="618186"/>
                </a:cubicBezTo>
                <a:lnTo>
                  <a:pt x="0" y="68687"/>
                </a:lnTo>
                <a:cubicBezTo>
                  <a:pt x="0" y="30752"/>
                  <a:pt x="30752" y="0"/>
                  <a:pt x="68687" y="0"/>
                </a:cubicBezTo>
                <a:close/>
              </a:path>
            </a:pathLst>
          </a:custGeom>
          <a:solidFill>
            <a:srgbClr val="1A1A2E">
              <a:alpha val="50196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93742" y="4488610"/>
            <a:ext cx="5022761" cy="412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Balanced Dataset:</a:t>
            </a:r>
            <a:pPr>
              <a:lnSpc>
                <a:spcPct val="130000"/>
              </a:lnSpc>
            </a:pPr>
            <a:r>
              <a:rPr lang="en-US" sz="1082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Equal representation of Male and Female customers enables reliable cross-gender insights and unbiased strategic decisions.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04290" y="1239806"/>
            <a:ext cx="5647815" cy="4007905"/>
          </a:xfrm>
          <a:custGeom>
            <a:avLst/>
            <a:gdLst/>
            <a:ahLst/>
            <a:cxnLst/>
            <a:rect l="l" t="t" r="r" b="b"/>
            <a:pathLst>
              <a:path w="5647815" h="4007905">
                <a:moveTo>
                  <a:pt x="103043" y="0"/>
                </a:moveTo>
                <a:lnTo>
                  <a:pt x="5544772" y="0"/>
                </a:lnTo>
                <a:cubicBezTo>
                  <a:pt x="5601681" y="0"/>
                  <a:pt x="5647815" y="46134"/>
                  <a:pt x="5647815" y="103043"/>
                </a:cubicBezTo>
                <a:lnTo>
                  <a:pt x="5647815" y="3904862"/>
                </a:lnTo>
                <a:cubicBezTo>
                  <a:pt x="5647815" y="3961771"/>
                  <a:pt x="5601681" y="4007905"/>
                  <a:pt x="5544772" y="4007905"/>
                </a:cubicBezTo>
                <a:lnTo>
                  <a:pt x="103043" y="4007905"/>
                </a:lnTo>
                <a:cubicBezTo>
                  <a:pt x="46134" y="4007905"/>
                  <a:pt x="0" y="3961771"/>
                  <a:pt x="0" y="3904862"/>
                </a:cubicBezTo>
                <a:lnTo>
                  <a:pt x="0" y="103043"/>
                </a:lnTo>
                <a:cubicBezTo>
                  <a:pt x="0" y="46172"/>
                  <a:pt x="46172" y="0"/>
                  <a:pt x="103043" y="0"/>
                </a:cubicBezTo>
                <a:close/>
              </a:path>
            </a:pathLst>
          </a:custGeom>
          <a:solidFill>
            <a:srgbClr val="4A3B69">
              <a:alpha val="30196"/>
            </a:srgbClr>
          </a:solidFill>
          <a:ln w="10160">
            <a:solidFill>
              <a:srgbClr val="6B4C9A">
                <a:alpha val="50196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39544" y="1483540"/>
            <a:ext cx="206062" cy="206062"/>
          </a:xfrm>
          <a:custGeom>
            <a:avLst/>
            <a:gdLst/>
            <a:ahLst/>
            <a:cxnLst/>
            <a:rect l="l" t="t" r="r" b="b"/>
            <a:pathLst>
              <a:path w="206062" h="206062">
                <a:moveTo>
                  <a:pt x="12879" y="12879"/>
                </a:moveTo>
                <a:cubicBezTo>
                  <a:pt x="20003" y="12879"/>
                  <a:pt x="25758" y="18634"/>
                  <a:pt x="25758" y="25758"/>
                </a:cubicBezTo>
                <a:lnTo>
                  <a:pt x="25758" y="160986"/>
                </a:lnTo>
                <a:cubicBezTo>
                  <a:pt x="25758" y="164528"/>
                  <a:pt x="28655" y="167425"/>
                  <a:pt x="32197" y="167425"/>
                </a:cubicBezTo>
                <a:lnTo>
                  <a:pt x="193183" y="167425"/>
                </a:lnTo>
                <a:cubicBezTo>
                  <a:pt x="200307" y="167425"/>
                  <a:pt x="206062" y="173181"/>
                  <a:pt x="206062" y="180304"/>
                </a:cubicBezTo>
                <a:cubicBezTo>
                  <a:pt x="206062" y="187428"/>
                  <a:pt x="200307" y="193183"/>
                  <a:pt x="193183" y="193183"/>
                </a:cubicBezTo>
                <a:lnTo>
                  <a:pt x="32197" y="193183"/>
                </a:lnTo>
                <a:cubicBezTo>
                  <a:pt x="14408" y="193183"/>
                  <a:pt x="0" y="178775"/>
                  <a:pt x="0" y="160986"/>
                </a:cubicBezTo>
                <a:lnTo>
                  <a:pt x="0" y="25758"/>
                </a:lnTo>
                <a:cubicBezTo>
                  <a:pt x="0" y="18634"/>
                  <a:pt x="5755" y="12879"/>
                  <a:pt x="12879" y="12879"/>
                </a:cubicBezTo>
                <a:close/>
                <a:moveTo>
                  <a:pt x="51515" y="38637"/>
                </a:moveTo>
                <a:cubicBezTo>
                  <a:pt x="51515" y="31513"/>
                  <a:pt x="57271" y="25758"/>
                  <a:pt x="64394" y="25758"/>
                </a:cubicBezTo>
                <a:lnTo>
                  <a:pt x="141668" y="25758"/>
                </a:lnTo>
                <a:cubicBezTo>
                  <a:pt x="148791" y="25758"/>
                  <a:pt x="154546" y="31513"/>
                  <a:pt x="154546" y="38637"/>
                </a:cubicBezTo>
                <a:cubicBezTo>
                  <a:pt x="154546" y="45760"/>
                  <a:pt x="148791" y="51515"/>
                  <a:pt x="141668" y="51515"/>
                </a:cubicBezTo>
                <a:lnTo>
                  <a:pt x="64394" y="51515"/>
                </a:lnTo>
                <a:cubicBezTo>
                  <a:pt x="57271" y="51515"/>
                  <a:pt x="51515" y="45760"/>
                  <a:pt x="51515" y="38637"/>
                </a:cubicBezTo>
                <a:close/>
                <a:moveTo>
                  <a:pt x="64394" y="70834"/>
                </a:moveTo>
                <a:lnTo>
                  <a:pt x="115910" y="70834"/>
                </a:lnTo>
                <a:cubicBezTo>
                  <a:pt x="123033" y="70834"/>
                  <a:pt x="128789" y="76589"/>
                  <a:pt x="128789" y="83713"/>
                </a:cubicBezTo>
                <a:cubicBezTo>
                  <a:pt x="128789" y="90836"/>
                  <a:pt x="123033" y="96592"/>
                  <a:pt x="115910" y="96592"/>
                </a:cubicBezTo>
                <a:lnTo>
                  <a:pt x="64394" y="96592"/>
                </a:lnTo>
                <a:cubicBezTo>
                  <a:pt x="57271" y="96592"/>
                  <a:pt x="51515" y="90836"/>
                  <a:pt x="51515" y="83713"/>
                </a:cubicBezTo>
                <a:cubicBezTo>
                  <a:pt x="51515" y="76589"/>
                  <a:pt x="57271" y="70834"/>
                  <a:pt x="64394" y="70834"/>
                </a:cubicBezTo>
                <a:close/>
                <a:moveTo>
                  <a:pt x="64394" y="115910"/>
                </a:moveTo>
                <a:lnTo>
                  <a:pt x="167425" y="115910"/>
                </a:lnTo>
                <a:cubicBezTo>
                  <a:pt x="174549" y="115910"/>
                  <a:pt x="180304" y="121665"/>
                  <a:pt x="180304" y="128789"/>
                </a:cubicBezTo>
                <a:cubicBezTo>
                  <a:pt x="180304" y="135912"/>
                  <a:pt x="174549" y="141668"/>
                  <a:pt x="167425" y="141668"/>
                </a:cubicBezTo>
                <a:lnTo>
                  <a:pt x="64394" y="141668"/>
                </a:lnTo>
                <a:cubicBezTo>
                  <a:pt x="57271" y="141668"/>
                  <a:pt x="51515" y="135912"/>
                  <a:pt x="51515" y="128789"/>
                </a:cubicBezTo>
                <a:cubicBezTo>
                  <a:pt x="51515" y="121665"/>
                  <a:pt x="57271" y="115910"/>
                  <a:pt x="64394" y="115910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13" name="Text 10"/>
          <p:cNvSpPr/>
          <p:nvPr/>
        </p:nvSpPr>
        <p:spPr>
          <a:xfrm>
            <a:off x="6671364" y="1449303"/>
            <a:ext cx="5074276" cy="27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3" b="1" dirty="0">
                <a:solidFill>
                  <a:srgbClr val="F4E2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 Group Performance</a:t>
            </a:r>
            <a:endParaRPr lang="en-US" sz="1600" dirty="0"/>
          </a:p>
        </p:txBody>
      </p:sp>
      <p:pic>
        <p:nvPicPr>
          <p:cNvPr id="14" name="Image 1" descr="https://kimi-img.moonshot.cn/pub/slides/26-04-03-03:21:51-d77c3jrkvk6lrpug6s70.png">    </p:cNvPr>
          <p:cNvPicPr>
            <a:picLocks noChangeAspect="1"/>
          </p:cNvPicPr>
          <p:nvPr/>
        </p:nvPicPr>
        <p:blipFill>
          <a:blip r:embed="rId2"/>
          <a:srcRect l="17" r="17" t="0" b="0"/>
          <a:stretch/>
        </p:blipFill>
        <p:spPr>
          <a:xfrm>
            <a:off x="6413786" y="1861320"/>
            <a:ext cx="4619223" cy="3176789"/>
          </a:xfrm>
          <a:prstGeom prst="roundRect">
            <a:avLst>
              <a:gd name="adj" fmla="val 0"/>
            </a:avLst>
          </a:prstGeom>
        </p:spPr>
      </p:pic>
      <p:sp>
        <p:nvSpPr>
          <p:cNvPr id="15" name="Shape 11"/>
          <p:cNvSpPr/>
          <p:nvPr/>
        </p:nvSpPr>
        <p:spPr>
          <a:xfrm>
            <a:off x="350305" y="5429627"/>
            <a:ext cx="11493106" cy="1421828"/>
          </a:xfrm>
          <a:custGeom>
            <a:avLst/>
            <a:gdLst/>
            <a:ahLst/>
            <a:cxnLst/>
            <a:rect l="l" t="t" r="r" b="b"/>
            <a:pathLst>
              <a:path w="11493106" h="1421828">
                <a:moveTo>
                  <a:pt x="103026" y="0"/>
                </a:moveTo>
                <a:lnTo>
                  <a:pt x="11390081" y="0"/>
                </a:lnTo>
                <a:cubicBezTo>
                  <a:pt x="11446980" y="0"/>
                  <a:pt x="11493106" y="46126"/>
                  <a:pt x="11493106" y="103026"/>
                </a:cubicBezTo>
                <a:lnTo>
                  <a:pt x="11493106" y="1318802"/>
                </a:lnTo>
                <a:cubicBezTo>
                  <a:pt x="11493106" y="1375701"/>
                  <a:pt x="11446980" y="1421828"/>
                  <a:pt x="11390081" y="1421828"/>
                </a:cubicBezTo>
                <a:lnTo>
                  <a:pt x="103026" y="1421828"/>
                </a:lnTo>
                <a:cubicBezTo>
                  <a:pt x="46126" y="1421828"/>
                  <a:pt x="0" y="1375701"/>
                  <a:pt x="0" y="1318802"/>
                </a:cubicBezTo>
                <a:lnTo>
                  <a:pt x="0" y="103026"/>
                </a:lnTo>
                <a:cubicBezTo>
                  <a:pt x="0" y="46164"/>
                  <a:pt x="46164" y="0"/>
                  <a:pt x="103026" y="0"/>
                </a:cubicBezTo>
                <a:close/>
              </a:path>
            </a:pathLst>
          </a:custGeom>
          <a:gradFill rotWithShape="1" flip="none">
            <a:gsLst>
              <a:gs pos="0">
                <a:srgbClr val="F4E285">
                  <a:alpha val="20000"/>
                </a:srgbClr>
              </a:gs>
              <a:gs pos="100000">
                <a:srgbClr val="6B4C9A">
                  <a:alpha val="20000"/>
                </a:srgbClr>
              </a:gs>
            </a:gsLst>
            <a:lin ang="0" scaled="1"/>
          </a:gradFill>
          <a:ln w="20320">
            <a:solidFill>
              <a:srgbClr val="F4E285">
                <a:alpha val="4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28892" y="5608213"/>
            <a:ext cx="480811" cy="480811"/>
          </a:xfrm>
          <a:custGeom>
            <a:avLst/>
            <a:gdLst/>
            <a:ahLst/>
            <a:cxnLst/>
            <a:rect l="l" t="t" r="r" b="b"/>
            <a:pathLst>
              <a:path w="480811" h="480811">
                <a:moveTo>
                  <a:pt x="240406" y="0"/>
                </a:moveTo>
                <a:lnTo>
                  <a:pt x="240406" y="0"/>
                </a:lnTo>
                <a:cubicBezTo>
                  <a:pt x="373178" y="0"/>
                  <a:pt x="480811" y="107633"/>
                  <a:pt x="480811" y="240406"/>
                </a:cubicBezTo>
                <a:lnTo>
                  <a:pt x="480811" y="240406"/>
                </a:lnTo>
                <a:cubicBezTo>
                  <a:pt x="480811" y="373178"/>
                  <a:pt x="373178" y="480811"/>
                  <a:pt x="240406" y="480811"/>
                </a:cubicBezTo>
                <a:lnTo>
                  <a:pt x="240406" y="480811"/>
                </a:lnTo>
                <a:cubicBezTo>
                  <a:pt x="107633" y="480811"/>
                  <a:pt x="0" y="373178"/>
                  <a:pt x="0" y="240406"/>
                </a:cubicBezTo>
                <a:lnTo>
                  <a:pt x="0" y="240406"/>
                </a:lnTo>
                <a:cubicBezTo>
                  <a:pt x="0" y="107633"/>
                  <a:pt x="107633" y="0"/>
                  <a:pt x="240406" y="0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17" name="Shape 13"/>
          <p:cNvSpPr/>
          <p:nvPr/>
        </p:nvSpPr>
        <p:spPr>
          <a:xfrm>
            <a:off x="692025" y="5745587"/>
            <a:ext cx="154546" cy="206062"/>
          </a:xfrm>
          <a:custGeom>
            <a:avLst/>
            <a:gdLst/>
            <a:ahLst/>
            <a:cxnLst/>
            <a:rect l="l" t="t" r="r" b="b"/>
            <a:pathLst>
              <a:path w="154546" h="206062">
                <a:moveTo>
                  <a:pt x="117882" y="154546"/>
                </a:moveTo>
                <a:cubicBezTo>
                  <a:pt x="120820" y="145572"/>
                  <a:pt x="126696" y="137442"/>
                  <a:pt x="133337" y="130439"/>
                </a:cubicBezTo>
                <a:cubicBezTo>
                  <a:pt x="146497" y="116594"/>
                  <a:pt x="154546" y="97879"/>
                  <a:pt x="154546" y="77273"/>
                </a:cubicBezTo>
                <a:cubicBezTo>
                  <a:pt x="154546" y="34612"/>
                  <a:pt x="119935" y="0"/>
                  <a:pt x="77273" y="0"/>
                </a:cubicBezTo>
                <a:cubicBezTo>
                  <a:pt x="34612" y="0"/>
                  <a:pt x="0" y="34612"/>
                  <a:pt x="0" y="77273"/>
                </a:cubicBezTo>
                <a:cubicBezTo>
                  <a:pt x="0" y="97879"/>
                  <a:pt x="8049" y="116594"/>
                  <a:pt x="21210" y="130439"/>
                </a:cubicBezTo>
                <a:cubicBezTo>
                  <a:pt x="27851" y="137442"/>
                  <a:pt x="33767" y="145572"/>
                  <a:pt x="36665" y="154546"/>
                </a:cubicBezTo>
                <a:lnTo>
                  <a:pt x="117842" y="154546"/>
                </a:lnTo>
                <a:close/>
                <a:moveTo>
                  <a:pt x="115910" y="173865"/>
                </a:moveTo>
                <a:lnTo>
                  <a:pt x="38637" y="173865"/>
                </a:lnTo>
                <a:lnTo>
                  <a:pt x="38637" y="180304"/>
                </a:lnTo>
                <a:cubicBezTo>
                  <a:pt x="38637" y="198093"/>
                  <a:pt x="53045" y="212501"/>
                  <a:pt x="70834" y="212501"/>
                </a:cubicBezTo>
                <a:lnTo>
                  <a:pt x="83713" y="212501"/>
                </a:lnTo>
                <a:cubicBezTo>
                  <a:pt x="101502" y="212501"/>
                  <a:pt x="115910" y="198093"/>
                  <a:pt x="115910" y="180304"/>
                </a:cubicBezTo>
                <a:lnTo>
                  <a:pt x="115910" y="173865"/>
                </a:lnTo>
                <a:close/>
                <a:moveTo>
                  <a:pt x="74054" y="45076"/>
                </a:moveTo>
                <a:cubicBezTo>
                  <a:pt x="58035" y="45076"/>
                  <a:pt x="45076" y="58035"/>
                  <a:pt x="45076" y="74054"/>
                </a:cubicBezTo>
                <a:cubicBezTo>
                  <a:pt x="45076" y="79406"/>
                  <a:pt x="40770" y="83713"/>
                  <a:pt x="35417" y="83713"/>
                </a:cubicBezTo>
                <a:cubicBezTo>
                  <a:pt x="30064" y="83713"/>
                  <a:pt x="25758" y="79406"/>
                  <a:pt x="25758" y="74054"/>
                </a:cubicBezTo>
                <a:cubicBezTo>
                  <a:pt x="25758" y="47370"/>
                  <a:pt x="47370" y="25758"/>
                  <a:pt x="74054" y="25758"/>
                </a:cubicBezTo>
                <a:cubicBezTo>
                  <a:pt x="79406" y="25758"/>
                  <a:pt x="83713" y="30064"/>
                  <a:pt x="83713" y="35417"/>
                </a:cubicBezTo>
                <a:cubicBezTo>
                  <a:pt x="83713" y="40770"/>
                  <a:pt x="79406" y="45076"/>
                  <a:pt x="74054" y="45076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18" name="Text 14"/>
          <p:cNvSpPr/>
          <p:nvPr/>
        </p:nvSpPr>
        <p:spPr>
          <a:xfrm>
            <a:off x="1147078" y="5608213"/>
            <a:ext cx="10620777" cy="27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3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Insight: Target Young Adults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147078" y="5951542"/>
            <a:ext cx="10595020" cy="721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7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Young Adults are the primary revenue drivers</a:t>
            </a:r>
            <a:pPr>
              <a:lnSpc>
                <a:spcPct val="130000"/>
              </a:lnSpc>
            </a:pPr>
            <a:r>
              <a:rPr lang="en-US" sz="1217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the highest sales volume (~1.8M orders). Marketing campaigns and product development should prioritize this segment for maximum impact. Middle Aged customers show strong secondary performance, while Adult and Senior segments provide consistent, steady contribution.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6677" y="403344"/>
            <a:ext cx="73335" cy="366677"/>
          </a:xfrm>
          <a:custGeom>
            <a:avLst/>
            <a:gdLst/>
            <a:ahLst/>
            <a:cxnLst/>
            <a:rect l="l" t="t" r="r" b="b"/>
            <a:pathLst>
              <a:path w="73335" h="366677">
                <a:moveTo>
                  <a:pt x="36668" y="0"/>
                </a:moveTo>
                <a:lnTo>
                  <a:pt x="36668" y="0"/>
                </a:lnTo>
                <a:cubicBezTo>
                  <a:pt x="56905" y="0"/>
                  <a:pt x="73335" y="16430"/>
                  <a:pt x="73335" y="36668"/>
                </a:cubicBezTo>
                <a:lnTo>
                  <a:pt x="73335" y="330009"/>
                </a:lnTo>
                <a:cubicBezTo>
                  <a:pt x="73335" y="350246"/>
                  <a:pt x="56905" y="366677"/>
                  <a:pt x="36668" y="366677"/>
                </a:cubicBezTo>
                <a:lnTo>
                  <a:pt x="36668" y="366677"/>
                </a:lnTo>
                <a:cubicBezTo>
                  <a:pt x="16430" y="366677"/>
                  <a:pt x="0" y="350246"/>
                  <a:pt x="0" y="330009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3" name="Text 1"/>
          <p:cNvSpPr/>
          <p:nvPr/>
        </p:nvSpPr>
        <p:spPr>
          <a:xfrm>
            <a:off x="550015" y="366677"/>
            <a:ext cx="5903495" cy="44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65" b="1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&amp; Sales by Category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0015" y="880024"/>
            <a:ext cx="11366977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4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Category performance analysis revealing opportunities for optimization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0343" y="1323703"/>
            <a:ext cx="6790852" cy="4324952"/>
          </a:xfrm>
          <a:custGeom>
            <a:avLst/>
            <a:gdLst/>
            <a:ahLst/>
            <a:cxnLst/>
            <a:rect l="l" t="t" r="r" b="b"/>
            <a:pathLst>
              <a:path w="6790852" h="4324952">
                <a:moveTo>
                  <a:pt x="109984" y="0"/>
                </a:moveTo>
                <a:lnTo>
                  <a:pt x="6680869" y="0"/>
                </a:lnTo>
                <a:cubicBezTo>
                  <a:pt x="6741611" y="0"/>
                  <a:pt x="6790852" y="49241"/>
                  <a:pt x="6790852" y="109984"/>
                </a:cubicBezTo>
                <a:lnTo>
                  <a:pt x="6790852" y="4214968"/>
                </a:lnTo>
                <a:cubicBezTo>
                  <a:pt x="6790852" y="4275710"/>
                  <a:pt x="6741611" y="4324952"/>
                  <a:pt x="6680869" y="4324952"/>
                </a:cubicBezTo>
                <a:lnTo>
                  <a:pt x="109984" y="4324952"/>
                </a:lnTo>
                <a:cubicBezTo>
                  <a:pt x="49241" y="4324952"/>
                  <a:pt x="0" y="4275710"/>
                  <a:pt x="0" y="4214968"/>
                </a:cubicBezTo>
                <a:lnTo>
                  <a:pt x="0" y="109984"/>
                </a:lnTo>
                <a:cubicBezTo>
                  <a:pt x="0" y="49241"/>
                  <a:pt x="49241" y="0"/>
                  <a:pt x="109984" y="0"/>
                </a:cubicBezTo>
                <a:close/>
              </a:path>
            </a:pathLst>
          </a:custGeom>
          <a:solidFill>
            <a:srgbClr val="4A3B69">
              <a:alpha val="30196"/>
            </a:srgbClr>
          </a:solidFill>
          <a:ln w="10160">
            <a:solidFill>
              <a:srgbClr val="6B4C9A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4849" y="1547262"/>
            <a:ext cx="220006" cy="220006"/>
          </a:xfrm>
          <a:custGeom>
            <a:avLst/>
            <a:gdLst/>
            <a:ahLst/>
            <a:cxnLst/>
            <a:rect l="l" t="t" r="r" b="b"/>
            <a:pathLst>
              <a:path w="220006" h="220006">
                <a:moveTo>
                  <a:pt x="13750" y="13750"/>
                </a:moveTo>
                <a:cubicBezTo>
                  <a:pt x="21356" y="13750"/>
                  <a:pt x="27501" y="19895"/>
                  <a:pt x="27501" y="27501"/>
                </a:cubicBezTo>
                <a:lnTo>
                  <a:pt x="27501" y="171880"/>
                </a:lnTo>
                <a:cubicBezTo>
                  <a:pt x="27501" y="175661"/>
                  <a:pt x="30595" y="178755"/>
                  <a:pt x="34376" y="178755"/>
                </a:cubicBezTo>
                <a:lnTo>
                  <a:pt x="206256" y="178755"/>
                </a:lnTo>
                <a:cubicBezTo>
                  <a:pt x="213861" y="178755"/>
                  <a:pt x="220006" y="184900"/>
                  <a:pt x="220006" y="192505"/>
                </a:cubicBezTo>
                <a:cubicBezTo>
                  <a:pt x="220006" y="200111"/>
                  <a:pt x="213861" y="206256"/>
                  <a:pt x="206256" y="206256"/>
                </a:cubicBezTo>
                <a:lnTo>
                  <a:pt x="34376" y="206256"/>
                </a:lnTo>
                <a:cubicBezTo>
                  <a:pt x="15383" y="206256"/>
                  <a:pt x="0" y="190872"/>
                  <a:pt x="0" y="171880"/>
                </a:cubicBezTo>
                <a:lnTo>
                  <a:pt x="0" y="27501"/>
                </a:lnTo>
                <a:cubicBezTo>
                  <a:pt x="0" y="19895"/>
                  <a:pt x="6145" y="13750"/>
                  <a:pt x="13750" y="13750"/>
                </a:cubicBezTo>
                <a:close/>
                <a:moveTo>
                  <a:pt x="55002" y="41251"/>
                </a:moveTo>
                <a:cubicBezTo>
                  <a:pt x="55002" y="33645"/>
                  <a:pt x="61146" y="27501"/>
                  <a:pt x="68752" y="27501"/>
                </a:cubicBezTo>
                <a:lnTo>
                  <a:pt x="151254" y="27501"/>
                </a:lnTo>
                <a:cubicBezTo>
                  <a:pt x="158860" y="27501"/>
                  <a:pt x="165005" y="33645"/>
                  <a:pt x="165005" y="41251"/>
                </a:cubicBezTo>
                <a:cubicBezTo>
                  <a:pt x="165005" y="48857"/>
                  <a:pt x="158860" y="55002"/>
                  <a:pt x="151254" y="55002"/>
                </a:cubicBezTo>
                <a:lnTo>
                  <a:pt x="68752" y="55002"/>
                </a:lnTo>
                <a:cubicBezTo>
                  <a:pt x="61146" y="55002"/>
                  <a:pt x="55002" y="48857"/>
                  <a:pt x="55002" y="41251"/>
                </a:cubicBezTo>
                <a:close/>
                <a:moveTo>
                  <a:pt x="68752" y="75627"/>
                </a:moveTo>
                <a:lnTo>
                  <a:pt x="123753" y="75627"/>
                </a:lnTo>
                <a:cubicBezTo>
                  <a:pt x="131359" y="75627"/>
                  <a:pt x="137504" y="81772"/>
                  <a:pt x="137504" y="89377"/>
                </a:cubicBezTo>
                <a:cubicBezTo>
                  <a:pt x="137504" y="96983"/>
                  <a:pt x="131359" y="103128"/>
                  <a:pt x="123753" y="103128"/>
                </a:cubicBezTo>
                <a:lnTo>
                  <a:pt x="68752" y="103128"/>
                </a:lnTo>
                <a:cubicBezTo>
                  <a:pt x="61146" y="103128"/>
                  <a:pt x="55002" y="96983"/>
                  <a:pt x="55002" y="89377"/>
                </a:cubicBezTo>
                <a:cubicBezTo>
                  <a:pt x="55002" y="81772"/>
                  <a:pt x="61146" y="75627"/>
                  <a:pt x="68752" y="75627"/>
                </a:cubicBezTo>
                <a:close/>
                <a:moveTo>
                  <a:pt x="68752" y="123753"/>
                </a:moveTo>
                <a:lnTo>
                  <a:pt x="178755" y="123753"/>
                </a:lnTo>
                <a:cubicBezTo>
                  <a:pt x="186361" y="123753"/>
                  <a:pt x="192505" y="129898"/>
                  <a:pt x="192505" y="137504"/>
                </a:cubicBezTo>
                <a:cubicBezTo>
                  <a:pt x="192505" y="145109"/>
                  <a:pt x="186361" y="151254"/>
                  <a:pt x="178755" y="151254"/>
                </a:cubicBezTo>
                <a:lnTo>
                  <a:pt x="68752" y="151254"/>
                </a:lnTo>
                <a:cubicBezTo>
                  <a:pt x="61146" y="151254"/>
                  <a:pt x="55002" y="145109"/>
                  <a:pt x="55002" y="137504"/>
                </a:cubicBezTo>
                <a:cubicBezTo>
                  <a:pt x="55002" y="129898"/>
                  <a:pt x="61146" y="123753"/>
                  <a:pt x="68752" y="123753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7" name="Text 5"/>
          <p:cNvSpPr/>
          <p:nvPr/>
        </p:nvSpPr>
        <p:spPr>
          <a:xfrm>
            <a:off x="832356" y="1510708"/>
            <a:ext cx="6251838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2" b="1" dirty="0">
                <a:solidFill>
                  <a:srgbClr val="F4E2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vs Sales Volume</a:t>
            </a:r>
            <a:endParaRPr lang="en-US" sz="1600" dirty="0"/>
          </a:p>
        </p:txBody>
      </p:sp>
      <p:pic>
        <p:nvPicPr>
          <p:cNvPr id="8" name="Image 0" descr="https://kimi-img.moonshot.cn/pub/slides/26-04-03-03:21:51-d77c3judmauv1stdkmmg.png">    </p:cNvPr>
          <p:cNvPicPr>
            <a:picLocks noChangeAspect="1"/>
          </p:cNvPicPr>
          <p:nvPr/>
        </p:nvPicPr>
        <p:blipFill>
          <a:blip r:embed="rId1"/>
          <a:srcRect l="48" r="48" t="0" b="0"/>
          <a:stretch/>
        </p:blipFill>
        <p:spPr>
          <a:xfrm>
            <a:off x="557349" y="1913939"/>
            <a:ext cx="6141835" cy="3547597"/>
          </a:xfrm>
          <a:prstGeom prst="roundRect">
            <a:avLst>
              <a:gd name="adj" fmla="val 0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7354274" y="1323703"/>
            <a:ext cx="4462455" cy="2610738"/>
          </a:xfrm>
          <a:custGeom>
            <a:avLst/>
            <a:gdLst/>
            <a:ahLst/>
            <a:cxnLst/>
            <a:rect l="l" t="t" r="r" b="b"/>
            <a:pathLst>
              <a:path w="4462455" h="2610738">
                <a:moveTo>
                  <a:pt x="109990" y="0"/>
                </a:moveTo>
                <a:lnTo>
                  <a:pt x="4352465" y="0"/>
                </a:lnTo>
                <a:cubicBezTo>
                  <a:pt x="4413211" y="0"/>
                  <a:pt x="4462455" y="49244"/>
                  <a:pt x="4462455" y="109990"/>
                </a:cubicBezTo>
                <a:lnTo>
                  <a:pt x="4462455" y="2500748"/>
                </a:lnTo>
                <a:cubicBezTo>
                  <a:pt x="4462455" y="2561494"/>
                  <a:pt x="4413211" y="2610738"/>
                  <a:pt x="4352465" y="2610738"/>
                </a:cubicBezTo>
                <a:lnTo>
                  <a:pt x="109990" y="2610738"/>
                </a:lnTo>
                <a:cubicBezTo>
                  <a:pt x="49244" y="2610738"/>
                  <a:pt x="0" y="2561494"/>
                  <a:pt x="0" y="2500748"/>
                </a:cubicBezTo>
                <a:lnTo>
                  <a:pt x="0" y="109990"/>
                </a:lnTo>
                <a:cubicBezTo>
                  <a:pt x="0" y="49244"/>
                  <a:pt x="49244" y="0"/>
                  <a:pt x="109990" y="0"/>
                </a:cubicBezTo>
                <a:close/>
              </a:path>
            </a:pathLst>
          </a:custGeom>
          <a:solidFill>
            <a:srgbClr val="4A3B69">
              <a:alpha val="30196"/>
            </a:srgbClr>
          </a:solidFill>
          <a:ln w="10160">
            <a:solidFill>
              <a:srgbClr val="6B4C9A">
                <a:alpha val="5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575655" y="1547376"/>
            <a:ext cx="160421" cy="183338"/>
          </a:xfrm>
          <a:custGeom>
            <a:avLst/>
            <a:gdLst/>
            <a:ahLst/>
            <a:cxnLst/>
            <a:rect l="l" t="t" r="r" b="b"/>
            <a:pathLst>
              <a:path w="160421" h="183338">
                <a:moveTo>
                  <a:pt x="91669" y="57293"/>
                </a:moveTo>
                <a:lnTo>
                  <a:pt x="91669" y="91669"/>
                </a:lnTo>
                <a:lnTo>
                  <a:pt x="137504" y="91669"/>
                </a:lnTo>
                <a:lnTo>
                  <a:pt x="137504" y="57293"/>
                </a:lnTo>
                <a:lnTo>
                  <a:pt x="91669" y="57293"/>
                </a:lnTo>
                <a:close/>
                <a:moveTo>
                  <a:pt x="68752" y="57293"/>
                </a:moveTo>
                <a:lnTo>
                  <a:pt x="22917" y="57293"/>
                </a:lnTo>
                <a:lnTo>
                  <a:pt x="22917" y="91669"/>
                </a:lnTo>
                <a:lnTo>
                  <a:pt x="68752" y="91669"/>
                </a:lnTo>
                <a:lnTo>
                  <a:pt x="68752" y="57293"/>
                </a:lnTo>
                <a:close/>
                <a:moveTo>
                  <a:pt x="0" y="114586"/>
                </a:moveTo>
                <a:lnTo>
                  <a:pt x="0" y="34376"/>
                </a:lnTo>
                <a:cubicBezTo>
                  <a:pt x="0" y="21736"/>
                  <a:pt x="10277" y="11459"/>
                  <a:pt x="22917" y="11459"/>
                </a:cubicBezTo>
                <a:lnTo>
                  <a:pt x="137504" y="11459"/>
                </a:lnTo>
                <a:cubicBezTo>
                  <a:pt x="150144" y="11459"/>
                  <a:pt x="160421" y="21736"/>
                  <a:pt x="160421" y="34376"/>
                </a:cubicBezTo>
                <a:lnTo>
                  <a:pt x="160421" y="148962"/>
                </a:lnTo>
                <a:cubicBezTo>
                  <a:pt x="160421" y="161603"/>
                  <a:pt x="150144" y="171880"/>
                  <a:pt x="137504" y="171880"/>
                </a:cubicBezTo>
                <a:lnTo>
                  <a:pt x="22917" y="171880"/>
                </a:lnTo>
                <a:cubicBezTo>
                  <a:pt x="10277" y="171880"/>
                  <a:pt x="0" y="161603"/>
                  <a:pt x="0" y="148962"/>
                </a:cubicBezTo>
                <a:lnTo>
                  <a:pt x="0" y="114586"/>
                </a:lnTo>
                <a:close/>
                <a:moveTo>
                  <a:pt x="137504" y="114586"/>
                </a:moveTo>
                <a:lnTo>
                  <a:pt x="91669" y="114586"/>
                </a:lnTo>
                <a:lnTo>
                  <a:pt x="91669" y="148962"/>
                </a:lnTo>
                <a:lnTo>
                  <a:pt x="137504" y="148962"/>
                </a:lnTo>
                <a:lnTo>
                  <a:pt x="137504" y="114586"/>
                </a:lnTo>
                <a:close/>
                <a:moveTo>
                  <a:pt x="68752" y="148962"/>
                </a:moveTo>
                <a:lnTo>
                  <a:pt x="68752" y="114586"/>
                </a:lnTo>
                <a:lnTo>
                  <a:pt x="22917" y="114586"/>
                </a:lnTo>
                <a:lnTo>
                  <a:pt x="22917" y="148962"/>
                </a:lnTo>
                <a:lnTo>
                  <a:pt x="68752" y="148962"/>
                </a:ln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11" name="Text 8"/>
          <p:cNvSpPr/>
          <p:nvPr/>
        </p:nvSpPr>
        <p:spPr>
          <a:xfrm>
            <a:off x="7770452" y="1510708"/>
            <a:ext cx="3950941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4" b="1" dirty="0">
                <a:solidFill>
                  <a:srgbClr val="F4E2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Category Performance Table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41279" y="1877385"/>
          <a:ext cx="4088445" cy="1870051"/>
        </p:xfrm>
        <a:graphic>
          <a:graphicData uri="http://schemas.openxmlformats.org/drawingml/2006/table">
            <a:tbl>
              <a:tblPr/>
              <a:tblGrid>
                <a:gridCol w="1463426"/>
                <a:gridCol w="1070130"/>
                <a:gridCol w="951227"/>
                <a:gridCol w="603663"/>
              </a:tblGrid>
              <a:tr h="374010"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F4E28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Category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F4E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u="none" dirty="0">
                          <a:solidFill>
                            <a:srgbClr val="F4E28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Revenue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F4E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u="none" dirty="0">
                          <a:solidFill>
                            <a:srgbClr val="F4E28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Volume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F4E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u="none" dirty="0">
                          <a:solidFill>
                            <a:srgbClr val="F4E28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AOV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F4E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74010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F5F5F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Clothing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u="none" dirty="0">
                          <a:solidFill>
                            <a:srgbClr val="F5F5F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$100K+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u="none" dirty="0">
                          <a:solidFill>
                            <a:srgbClr val="F5F5F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~1,800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u="none" dirty="0">
                          <a:solidFill>
                            <a:srgbClr val="F5F5F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~$55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74010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F5F5F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Accessories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u="none" dirty="0">
                          <a:solidFill>
                            <a:srgbClr val="F5F5F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~$75K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u="none" dirty="0">
                          <a:solidFill>
                            <a:srgbClr val="F5F5F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~1,200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u="none" dirty="0">
                          <a:solidFill>
                            <a:srgbClr val="F5F5F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~$62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74010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F5F5F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Footwear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u="none" dirty="0">
                          <a:solidFill>
                            <a:srgbClr val="F5F5F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~$35K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u="none" dirty="0">
                          <a:solidFill>
                            <a:srgbClr val="F5F5F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~600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u="none" dirty="0">
                          <a:solidFill>
                            <a:srgbClr val="F5F5F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~$58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74010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F5F5F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Outerwear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u="none" dirty="0">
                          <a:solidFill>
                            <a:srgbClr val="F5F5F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~$20K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u="none" dirty="0">
                          <a:solidFill>
                            <a:srgbClr val="F5F5F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~300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u="none" dirty="0">
                          <a:solidFill>
                            <a:srgbClr val="F5F5F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~$67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7357941" y="4092113"/>
            <a:ext cx="4460622" cy="1554709"/>
          </a:xfrm>
          <a:custGeom>
            <a:avLst/>
            <a:gdLst/>
            <a:ahLst/>
            <a:cxnLst/>
            <a:rect l="l" t="t" r="r" b="b"/>
            <a:pathLst>
              <a:path w="4460622" h="1554709">
                <a:moveTo>
                  <a:pt x="109996" y="0"/>
                </a:moveTo>
                <a:lnTo>
                  <a:pt x="4350626" y="0"/>
                </a:lnTo>
                <a:cubicBezTo>
                  <a:pt x="4411375" y="0"/>
                  <a:pt x="4460622" y="49247"/>
                  <a:pt x="4460622" y="109996"/>
                </a:cubicBezTo>
                <a:lnTo>
                  <a:pt x="4460622" y="1444713"/>
                </a:lnTo>
                <a:cubicBezTo>
                  <a:pt x="4460622" y="1505462"/>
                  <a:pt x="4411375" y="1554709"/>
                  <a:pt x="4350626" y="1554709"/>
                </a:cubicBezTo>
                <a:lnTo>
                  <a:pt x="109996" y="1554709"/>
                </a:lnTo>
                <a:cubicBezTo>
                  <a:pt x="49247" y="1554709"/>
                  <a:pt x="0" y="1505462"/>
                  <a:pt x="0" y="1444713"/>
                </a:cubicBezTo>
                <a:lnTo>
                  <a:pt x="0" y="109996"/>
                </a:lnTo>
                <a:cubicBezTo>
                  <a:pt x="0" y="49287"/>
                  <a:pt x="49287" y="0"/>
                  <a:pt x="109996" y="0"/>
                </a:cubicBezTo>
                <a:close/>
              </a:path>
            </a:pathLst>
          </a:custGeom>
          <a:gradFill rotWithShape="1" flip="none">
            <a:gsLst>
              <a:gs pos="0">
                <a:srgbClr val="6B4C9A">
                  <a:alpha val="40000"/>
                </a:srgbClr>
              </a:gs>
              <a:gs pos="100000">
                <a:srgbClr val="4A3B69">
                  <a:alpha val="40000"/>
                </a:srgbClr>
              </a:gs>
            </a:gsLst>
            <a:lin ang="2700000" scaled="1"/>
          </a:gradFill>
          <a:ln w="20320">
            <a:solidFill>
              <a:srgbClr val="F4E285">
                <a:alpha val="4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534862" y="4291950"/>
            <a:ext cx="165005" cy="165005"/>
          </a:xfrm>
          <a:custGeom>
            <a:avLst/>
            <a:gdLst/>
            <a:ahLst/>
            <a:cxnLst/>
            <a:rect l="l" t="t" r="r" b="b"/>
            <a:pathLst>
              <a:path w="165005" h="165005">
                <a:moveTo>
                  <a:pt x="108284" y="113441"/>
                </a:moveTo>
                <a:cubicBezTo>
                  <a:pt x="139609" y="113441"/>
                  <a:pt x="165005" y="88045"/>
                  <a:pt x="165005" y="56720"/>
                </a:cubicBezTo>
                <a:cubicBezTo>
                  <a:pt x="165005" y="25395"/>
                  <a:pt x="139609" y="0"/>
                  <a:pt x="108284" y="0"/>
                </a:cubicBezTo>
                <a:cubicBezTo>
                  <a:pt x="76959" y="0"/>
                  <a:pt x="51564" y="25395"/>
                  <a:pt x="51564" y="56720"/>
                </a:cubicBezTo>
                <a:cubicBezTo>
                  <a:pt x="51564" y="62747"/>
                  <a:pt x="52499" y="68580"/>
                  <a:pt x="54239" y="74026"/>
                </a:cubicBezTo>
                <a:lnTo>
                  <a:pt x="2256" y="126009"/>
                </a:lnTo>
                <a:cubicBezTo>
                  <a:pt x="806" y="127460"/>
                  <a:pt x="0" y="129425"/>
                  <a:pt x="0" y="131488"/>
                </a:cubicBezTo>
                <a:lnTo>
                  <a:pt x="0" y="157270"/>
                </a:lnTo>
                <a:cubicBezTo>
                  <a:pt x="0" y="161556"/>
                  <a:pt x="3448" y="165005"/>
                  <a:pt x="7735" y="165005"/>
                </a:cubicBezTo>
                <a:lnTo>
                  <a:pt x="33517" y="165005"/>
                </a:lnTo>
                <a:cubicBezTo>
                  <a:pt x="37803" y="165005"/>
                  <a:pt x="41251" y="161556"/>
                  <a:pt x="41251" y="157270"/>
                </a:cubicBezTo>
                <a:lnTo>
                  <a:pt x="41251" y="144379"/>
                </a:lnTo>
                <a:lnTo>
                  <a:pt x="54142" y="144379"/>
                </a:lnTo>
                <a:cubicBezTo>
                  <a:pt x="58428" y="144379"/>
                  <a:pt x="61877" y="140931"/>
                  <a:pt x="61877" y="136644"/>
                </a:cubicBezTo>
                <a:lnTo>
                  <a:pt x="61877" y="123753"/>
                </a:lnTo>
                <a:lnTo>
                  <a:pt x="74768" y="123753"/>
                </a:lnTo>
                <a:cubicBezTo>
                  <a:pt x="76830" y="123753"/>
                  <a:pt x="78796" y="122948"/>
                  <a:pt x="80246" y="121497"/>
                </a:cubicBezTo>
                <a:lnTo>
                  <a:pt x="90978" y="110766"/>
                </a:lnTo>
                <a:cubicBezTo>
                  <a:pt x="96425" y="112506"/>
                  <a:pt x="102258" y="113441"/>
                  <a:pt x="108284" y="113441"/>
                </a:cubicBezTo>
                <a:close/>
                <a:moveTo>
                  <a:pt x="121175" y="30938"/>
                </a:moveTo>
                <a:cubicBezTo>
                  <a:pt x="128290" y="30938"/>
                  <a:pt x="134066" y="36715"/>
                  <a:pt x="134066" y="43829"/>
                </a:cubicBezTo>
                <a:cubicBezTo>
                  <a:pt x="134066" y="50944"/>
                  <a:pt x="128290" y="56720"/>
                  <a:pt x="121175" y="56720"/>
                </a:cubicBezTo>
                <a:cubicBezTo>
                  <a:pt x="114060" y="56720"/>
                  <a:pt x="108284" y="50944"/>
                  <a:pt x="108284" y="43829"/>
                </a:cubicBezTo>
                <a:cubicBezTo>
                  <a:pt x="108284" y="36715"/>
                  <a:pt x="114060" y="30938"/>
                  <a:pt x="121175" y="30938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15" name="Text 11"/>
          <p:cNvSpPr/>
          <p:nvPr/>
        </p:nvSpPr>
        <p:spPr>
          <a:xfrm>
            <a:off x="7722784" y="4246116"/>
            <a:ext cx="4024277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b="1" dirty="0">
                <a:solidFill>
                  <a:srgbClr val="F4E2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511945" y="4612792"/>
            <a:ext cx="119170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633407" y="4576125"/>
            <a:ext cx="2658406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Clothing</a:t>
            </a:r>
            <a:pPr>
              <a:lnSpc>
                <a:spcPct val="130000"/>
              </a:lnSpc>
            </a:pPr>
            <a:r>
              <a:rPr lang="en-US" sz="1155" dirty="0">
                <a:solidFill>
                  <a:srgbClr val="F5F5F7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volume leader but lower AOV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511945" y="4942801"/>
            <a:ext cx="119170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7633407" y="4906134"/>
            <a:ext cx="3052583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Outerwear</a:t>
            </a:r>
            <a:pPr>
              <a:lnSpc>
                <a:spcPct val="130000"/>
              </a:lnSpc>
            </a:pPr>
            <a:r>
              <a:rPr lang="en-US" sz="1155" dirty="0">
                <a:solidFill>
                  <a:srgbClr val="F5F5F7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has highest AOV but lowest volume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7511945" y="5272810"/>
            <a:ext cx="119170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7633407" y="5236143"/>
            <a:ext cx="2181726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Accessories</a:t>
            </a:r>
            <a:pPr>
              <a:lnSpc>
                <a:spcPct val="130000"/>
              </a:lnSpc>
            </a:pPr>
            <a:r>
              <a:rPr lang="en-US" sz="1155" dirty="0">
                <a:solidFill>
                  <a:srgbClr val="F5F5F7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show strong balance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374010" y="5808159"/>
            <a:ext cx="11445813" cy="1041362"/>
          </a:xfrm>
          <a:custGeom>
            <a:avLst/>
            <a:gdLst/>
            <a:ahLst/>
            <a:cxnLst/>
            <a:rect l="l" t="t" r="r" b="b"/>
            <a:pathLst>
              <a:path w="11445813" h="1041362">
                <a:moveTo>
                  <a:pt x="109999" y="0"/>
                </a:moveTo>
                <a:lnTo>
                  <a:pt x="11335814" y="0"/>
                </a:lnTo>
                <a:cubicBezTo>
                  <a:pt x="11396565" y="0"/>
                  <a:pt x="11445813" y="49248"/>
                  <a:pt x="11445813" y="109999"/>
                </a:cubicBezTo>
                <a:lnTo>
                  <a:pt x="11445813" y="931363"/>
                </a:lnTo>
                <a:cubicBezTo>
                  <a:pt x="11445813" y="992114"/>
                  <a:pt x="11396565" y="1041362"/>
                  <a:pt x="11335814" y="1041362"/>
                </a:cubicBezTo>
                <a:lnTo>
                  <a:pt x="109999" y="1041362"/>
                </a:lnTo>
                <a:cubicBezTo>
                  <a:pt x="49248" y="1041362"/>
                  <a:pt x="0" y="992114"/>
                  <a:pt x="0" y="931363"/>
                </a:cubicBezTo>
                <a:lnTo>
                  <a:pt x="0" y="109999"/>
                </a:lnTo>
                <a:cubicBezTo>
                  <a:pt x="0" y="49289"/>
                  <a:pt x="49289" y="0"/>
                  <a:pt x="109999" y="0"/>
                </a:cubicBezTo>
                <a:close/>
              </a:path>
            </a:pathLst>
          </a:custGeom>
          <a:gradFill rotWithShape="1" flip="none">
            <a:gsLst>
              <a:gs pos="0">
                <a:srgbClr val="F4E285">
                  <a:alpha val="20000"/>
                </a:srgbClr>
              </a:gs>
              <a:gs pos="100000">
                <a:srgbClr val="6B4C9A">
                  <a:alpha val="20000"/>
                </a:srgbClr>
              </a:gs>
            </a:gsLst>
            <a:lin ang="0" scaled="1"/>
          </a:gradFill>
          <a:ln w="20320">
            <a:solidFill>
              <a:srgbClr val="F4E285">
                <a:alpha val="4000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28014" y="5962164"/>
            <a:ext cx="440012" cy="440012"/>
          </a:xfrm>
          <a:custGeom>
            <a:avLst/>
            <a:gdLst/>
            <a:ahLst/>
            <a:cxnLst/>
            <a:rect l="l" t="t" r="r" b="b"/>
            <a:pathLst>
              <a:path w="440012" h="440012">
                <a:moveTo>
                  <a:pt x="220006" y="0"/>
                </a:moveTo>
                <a:lnTo>
                  <a:pt x="220006" y="0"/>
                </a:lnTo>
                <a:cubicBezTo>
                  <a:pt x="341431" y="0"/>
                  <a:pt x="440012" y="98581"/>
                  <a:pt x="440012" y="220006"/>
                </a:cubicBezTo>
                <a:lnTo>
                  <a:pt x="440012" y="220006"/>
                </a:lnTo>
                <a:cubicBezTo>
                  <a:pt x="440012" y="341431"/>
                  <a:pt x="341431" y="440012"/>
                  <a:pt x="220006" y="440012"/>
                </a:cubicBezTo>
                <a:lnTo>
                  <a:pt x="220006" y="440012"/>
                </a:lnTo>
                <a:cubicBezTo>
                  <a:pt x="98581" y="440012"/>
                  <a:pt x="0" y="341431"/>
                  <a:pt x="0" y="220006"/>
                </a:cubicBezTo>
                <a:lnTo>
                  <a:pt x="0" y="220006"/>
                </a:lnTo>
                <a:cubicBezTo>
                  <a:pt x="0" y="98581"/>
                  <a:pt x="98581" y="0"/>
                  <a:pt x="220006" y="0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24" name="Shape 20"/>
          <p:cNvSpPr/>
          <p:nvPr/>
        </p:nvSpPr>
        <p:spPr>
          <a:xfrm>
            <a:off x="656351" y="6090501"/>
            <a:ext cx="183338" cy="183338"/>
          </a:xfrm>
          <a:custGeom>
            <a:avLst/>
            <a:gdLst/>
            <a:ahLst/>
            <a:cxnLst/>
            <a:rect l="l" t="t" r="r" b="b"/>
            <a:pathLst>
              <a:path w="183338" h="183338">
                <a:moveTo>
                  <a:pt x="45835" y="114586"/>
                </a:moveTo>
                <a:lnTo>
                  <a:pt x="8773" y="114586"/>
                </a:lnTo>
                <a:cubicBezTo>
                  <a:pt x="-143" y="114586"/>
                  <a:pt x="-5622" y="104882"/>
                  <a:pt x="-1038" y="97219"/>
                </a:cubicBezTo>
                <a:lnTo>
                  <a:pt x="17904" y="65637"/>
                </a:lnTo>
                <a:cubicBezTo>
                  <a:pt x="21019" y="60444"/>
                  <a:pt x="26606" y="57293"/>
                  <a:pt x="32657" y="57293"/>
                </a:cubicBezTo>
                <a:lnTo>
                  <a:pt x="66675" y="57293"/>
                </a:lnTo>
                <a:cubicBezTo>
                  <a:pt x="93925" y="11136"/>
                  <a:pt x="134567" y="8809"/>
                  <a:pt x="161746" y="12784"/>
                </a:cubicBezTo>
                <a:cubicBezTo>
                  <a:pt x="166329" y="13464"/>
                  <a:pt x="169910" y="17045"/>
                  <a:pt x="170555" y="21592"/>
                </a:cubicBezTo>
                <a:cubicBezTo>
                  <a:pt x="174530" y="48771"/>
                  <a:pt x="172202" y="89413"/>
                  <a:pt x="126045" y="116663"/>
                </a:cubicBezTo>
                <a:lnTo>
                  <a:pt x="126045" y="150681"/>
                </a:lnTo>
                <a:cubicBezTo>
                  <a:pt x="126045" y="156733"/>
                  <a:pt x="122894" y="162319"/>
                  <a:pt x="117702" y="165434"/>
                </a:cubicBezTo>
                <a:lnTo>
                  <a:pt x="86119" y="184377"/>
                </a:lnTo>
                <a:cubicBezTo>
                  <a:pt x="78492" y="188960"/>
                  <a:pt x="68752" y="183446"/>
                  <a:pt x="68752" y="174565"/>
                </a:cubicBezTo>
                <a:lnTo>
                  <a:pt x="68752" y="137504"/>
                </a:lnTo>
                <a:cubicBezTo>
                  <a:pt x="68752" y="124863"/>
                  <a:pt x="58475" y="114586"/>
                  <a:pt x="45835" y="114586"/>
                </a:cubicBezTo>
                <a:lnTo>
                  <a:pt x="45799" y="114586"/>
                </a:lnTo>
                <a:close/>
                <a:moveTo>
                  <a:pt x="143233" y="57293"/>
                </a:moveTo>
                <a:cubicBezTo>
                  <a:pt x="143233" y="47807"/>
                  <a:pt x="135531" y="40105"/>
                  <a:pt x="126045" y="40105"/>
                </a:cubicBezTo>
                <a:cubicBezTo>
                  <a:pt x="116559" y="40105"/>
                  <a:pt x="108857" y="47807"/>
                  <a:pt x="108857" y="57293"/>
                </a:cubicBezTo>
                <a:cubicBezTo>
                  <a:pt x="108857" y="66780"/>
                  <a:pt x="116559" y="74481"/>
                  <a:pt x="126045" y="74481"/>
                </a:cubicBezTo>
                <a:cubicBezTo>
                  <a:pt x="135531" y="74481"/>
                  <a:pt x="143233" y="66780"/>
                  <a:pt x="143233" y="57293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25" name="Text 21"/>
          <p:cNvSpPr/>
          <p:nvPr/>
        </p:nvSpPr>
        <p:spPr>
          <a:xfrm>
            <a:off x="1114697" y="5962164"/>
            <a:ext cx="10642791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4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Growth Opportunity: Outerwear Category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1114697" y="6255506"/>
            <a:ext cx="10624457" cy="44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Outerwear commands the highest AOV ($67)</a:t>
            </a:r>
            <a:pPr>
              <a:lnSpc>
                <a:spcPct val="130000"/>
              </a:lnSpc>
            </a:pPr>
            <a:r>
              <a:rPr lang="en-US" sz="1155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but has the lowest sales volume (~300 orders). This represents a significant opportunity—increasing Outerwear marketing and visibility could drive substantial revenue growth with minimal volume increase needed.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291" y="362220"/>
            <a:ext cx="65858" cy="329291"/>
          </a:xfrm>
          <a:custGeom>
            <a:avLst/>
            <a:gdLst/>
            <a:ahLst/>
            <a:cxnLst/>
            <a:rect l="l" t="t" r="r" b="b"/>
            <a:pathLst>
              <a:path w="65858" h="329291">
                <a:moveTo>
                  <a:pt x="32929" y="0"/>
                </a:moveTo>
                <a:lnTo>
                  <a:pt x="32929" y="0"/>
                </a:lnTo>
                <a:cubicBezTo>
                  <a:pt x="51103" y="0"/>
                  <a:pt x="65858" y="14755"/>
                  <a:pt x="65858" y="32929"/>
                </a:cubicBezTo>
                <a:lnTo>
                  <a:pt x="65858" y="296362"/>
                </a:lnTo>
                <a:cubicBezTo>
                  <a:pt x="65858" y="314548"/>
                  <a:pt x="51115" y="329291"/>
                  <a:pt x="32929" y="329291"/>
                </a:cubicBezTo>
                <a:lnTo>
                  <a:pt x="32929" y="329291"/>
                </a:lnTo>
                <a:cubicBezTo>
                  <a:pt x="14743" y="329291"/>
                  <a:pt x="0" y="314548"/>
                  <a:pt x="0" y="296362"/>
                </a:cubicBezTo>
                <a:lnTo>
                  <a:pt x="0" y="32929"/>
                </a:lnTo>
                <a:cubicBezTo>
                  <a:pt x="0" y="14755"/>
                  <a:pt x="14755" y="0"/>
                  <a:pt x="32929" y="0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3" name="Text 1"/>
          <p:cNvSpPr/>
          <p:nvPr/>
        </p:nvSpPr>
        <p:spPr>
          <a:xfrm>
            <a:off x="493937" y="329291"/>
            <a:ext cx="5984864" cy="395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11" b="1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Segmentation Analysis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93937" y="790298"/>
            <a:ext cx="11451095" cy="23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6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subscription status and loyalty segments for targeted strategies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2584" y="1188741"/>
            <a:ext cx="5662159" cy="4155653"/>
          </a:xfrm>
          <a:custGeom>
            <a:avLst/>
            <a:gdLst/>
            <a:ahLst/>
            <a:cxnLst/>
            <a:rect l="l" t="t" r="r" b="b"/>
            <a:pathLst>
              <a:path w="5662159" h="4155653">
                <a:moveTo>
                  <a:pt x="98780" y="0"/>
                </a:moveTo>
                <a:lnTo>
                  <a:pt x="5563379" y="0"/>
                </a:lnTo>
                <a:cubicBezTo>
                  <a:pt x="5617934" y="0"/>
                  <a:pt x="5662159" y="44225"/>
                  <a:pt x="5662159" y="98780"/>
                </a:cubicBezTo>
                <a:lnTo>
                  <a:pt x="5662159" y="4056873"/>
                </a:lnTo>
                <a:cubicBezTo>
                  <a:pt x="5662159" y="4111427"/>
                  <a:pt x="5617934" y="4155653"/>
                  <a:pt x="5563379" y="4155653"/>
                </a:cubicBezTo>
                <a:lnTo>
                  <a:pt x="98780" y="4155653"/>
                </a:lnTo>
                <a:cubicBezTo>
                  <a:pt x="44225" y="4155653"/>
                  <a:pt x="0" y="4111427"/>
                  <a:pt x="0" y="4056873"/>
                </a:cubicBezTo>
                <a:lnTo>
                  <a:pt x="0" y="98780"/>
                </a:lnTo>
                <a:cubicBezTo>
                  <a:pt x="0" y="44225"/>
                  <a:pt x="44225" y="0"/>
                  <a:pt x="98780" y="0"/>
                </a:cubicBezTo>
                <a:close/>
              </a:path>
            </a:pathLst>
          </a:custGeom>
          <a:solidFill>
            <a:srgbClr val="4A3B69">
              <a:alpha val="30196"/>
            </a:srgbClr>
          </a:solidFill>
          <a:ln w="10160">
            <a:solidFill>
              <a:srgbClr val="6B4C9A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5800" y="1422435"/>
            <a:ext cx="222271" cy="197575"/>
          </a:xfrm>
          <a:custGeom>
            <a:avLst/>
            <a:gdLst/>
            <a:ahLst/>
            <a:cxnLst/>
            <a:rect l="l" t="t" r="r" b="b"/>
            <a:pathLst>
              <a:path w="222271" h="197575">
                <a:moveTo>
                  <a:pt x="197729" y="92613"/>
                </a:moveTo>
                <a:lnTo>
                  <a:pt x="129813" y="92613"/>
                </a:lnTo>
                <a:cubicBezTo>
                  <a:pt x="122982" y="92613"/>
                  <a:pt x="117464" y="87095"/>
                  <a:pt x="117464" y="80265"/>
                </a:cubicBezTo>
                <a:lnTo>
                  <a:pt x="117464" y="12348"/>
                </a:lnTo>
                <a:cubicBezTo>
                  <a:pt x="117464" y="5518"/>
                  <a:pt x="123021" y="-77"/>
                  <a:pt x="129774" y="810"/>
                </a:cubicBezTo>
                <a:cubicBezTo>
                  <a:pt x="171064" y="6290"/>
                  <a:pt x="203787" y="39013"/>
                  <a:pt x="209267" y="80303"/>
                </a:cubicBezTo>
                <a:cubicBezTo>
                  <a:pt x="210155" y="87056"/>
                  <a:pt x="204559" y="92613"/>
                  <a:pt x="197729" y="92613"/>
                </a:cubicBezTo>
                <a:close/>
                <a:moveTo>
                  <a:pt x="85899" y="14355"/>
                </a:moveTo>
                <a:cubicBezTo>
                  <a:pt x="92883" y="12889"/>
                  <a:pt x="98942" y="18600"/>
                  <a:pt x="98942" y="25739"/>
                </a:cubicBezTo>
                <a:lnTo>
                  <a:pt x="98942" y="101874"/>
                </a:lnTo>
                <a:cubicBezTo>
                  <a:pt x="98942" y="104035"/>
                  <a:pt x="99713" y="106119"/>
                  <a:pt x="101064" y="107778"/>
                </a:cubicBezTo>
                <a:lnTo>
                  <a:pt x="152040" y="169289"/>
                </a:lnTo>
                <a:cubicBezTo>
                  <a:pt x="156555" y="174730"/>
                  <a:pt x="155590" y="182949"/>
                  <a:pt x="149377" y="186307"/>
                </a:cubicBezTo>
                <a:cubicBezTo>
                  <a:pt x="136218" y="193484"/>
                  <a:pt x="121130" y="197575"/>
                  <a:pt x="105116" y="197575"/>
                </a:cubicBezTo>
                <a:cubicBezTo>
                  <a:pt x="53986" y="197575"/>
                  <a:pt x="12503" y="156092"/>
                  <a:pt x="12503" y="104962"/>
                </a:cubicBezTo>
                <a:cubicBezTo>
                  <a:pt x="12503" y="60391"/>
                  <a:pt x="43953" y="23192"/>
                  <a:pt x="85899" y="14355"/>
                </a:cubicBezTo>
                <a:close/>
                <a:moveTo>
                  <a:pt x="184377" y="111136"/>
                </a:moveTo>
                <a:lnTo>
                  <a:pt x="209074" y="111136"/>
                </a:lnTo>
                <a:cubicBezTo>
                  <a:pt x="216213" y="111136"/>
                  <a:pt x="221924" y="117194"/>
                  <a:pt x="220458" y="124179"/>
                </a:cubicBezTo>
                <a:cubicBezTo>
                  <a:pt x="216522" y="142856"/>
                  <a:pt x="206952" y="159449"/>
                  <a:pt x="193600" y="172106"/>
                </a:cubicBezTo>
                <a:cubicBezTo>
                  <a:pt x="188854" y="176621"/>
                  <a:pt x="181406" y="175656"/>
                  <a:pt x="177238" y="170601"/>
                </a:cubicBezTo>
                <a:lnTo>
                  <a:pt x="144669" y="131356"/>
                </a:lnTo>
                <a:cubicBezTo>
                  <a:pt x="137994" y="123291"/>
                  <a:pt x="143743" y="111136"/>
                  <a:pt x="154162" y="111136"/>
                </a:cubicBezTo>
                <a:lnTo>
                  <a:pt x="184339" y="111136"/>
                </a:ln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7" name="Text 5"/>
          <p:cNvSpPr/>
          <p:nvPr/>
        </p:nvSpPr>
        <p:spPr>
          <a:xfrm>
            <a:off x="780420" y="1389611"/>
            <a:ext cx="5112243" cy="263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6" b="1" dirty="0">
                <a:solidFill>
                  <a:srgbClr val="F4E2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Subscription Status Breakdown</a:t>
            </a:r>
            <a:endParaRPr lang="en-US" sz="1600" dirty="0"/>
          </a:p>
        </p:txBody>
      </p:sp>
      <p:pic>
        <p:nvPicPr>
          <p:cNvPr id="8" name="Image 0" descr="https://kimi-img.moonshot.cn/pub/slides/26-04-03-03:21:51-d77c3jup4uo8chnhqkeg.png">    </p:cNvPr>
          <p:cNvPicPr>
            <a:picLocks noChangeAspect="1"/>
          </p:cNvPicPr>
          <p:nvPr/>
        </p:nvPicPr>
        <p:blipFill>
          <a:blip r:embed="rId1"/>
          <a:srcRect l="0" r="0" t="1" b="1"/>
          <a:stretch/>
        </p:blipFill>
        <p:spPr>
          <a:xfrm>
            <a:off x="533451" y="1784655"/>
            <a:ext cx="4428964" cy="2247411"/>
          </a:xfrm>
          <a:prstGeom prst="roundRect">
            <a:avLst>
              <a:gd name="adj" fmla="val 0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540037" y="4170369"/>
            <a:ext cx="2548712" cy="968116"/>
          </a:xfrm>
          <a:custGeom>
            <a:avLst/>
            <a:gdLst/>
            <a:ahLst/>
            <a:cxnLst/>
            <a:rect l="l" t="t" r="r" b="b"/>
            <a:pathLst>
              <a:path w="2548712" h="968116">
                <a:moveTo>
                  <a:pt x="65861" y="0"/>
                </a:moveTo>
                <a:lnTo>
                  <a:pt x="2482852" y="0"/>
                </a:lnTo>
                <a:cubicBezTo>
                  <a:pt x="2519226" y="0"/>
                  <a:pt x="2548712" y="29487"/>
                  <a:pt x="2548712" y="65861"/>
                </a:cubicBezTo>
                <a:lnTo>
                  <a:pt x="2548712" y="902255"/>
                </a:lnTo>
                <a:cubicBezTo>
                  <a:pt x="2548712" y="938629"/>
                  <a:pt x="2519226" y="968116"/>
                  <a:pt x="2482852" y="968116"/>
                </a:cubicBezTo>
                <a:lnTo>
                  <a:pt x="65861" y="968116"/>
                </a:lnTo>
                <a:cubicBezTo>
                  <a:pt x="29487" y="968116"/>
                  <a:pt x="0" y="938629"/>
                  <a:pt x="0" y="902255"/>
                </a:cubicBezTo>
                <a:lnTo>
                  <a:pt x="0" y="65861"/>
                </a:lnTo>
                <a:cubicBezTo>
                  <a:pt x="0" y="29511"/>
                  <a:pt x="29511" y="0"/>
                  <a:pt x="65861" y="0"/>
                </a:cubicBezTo>
                <a:close/>
              </a:path>
            </a:pathLst>
          </a:custGeom>
          <a:solidFill>
            <a:srgbClr val="6B4C9A">
              <a:alpha val="40000"/>
            </a:srgbClr>
          </a:solidFill>
          <a:ln w="20320">
            <a:solidFill>
              <a:srgbClr val="6B4C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6597" y="4308672"/>
            <a:ext cx="2395592" cy="29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45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27%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5410" y="4637963"/>
            <a:ext cx="2337966" cy="19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7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Subscribers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9527" y="4835537"/>
            <a:ext cx="2329734" cy="164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7" dirty="0">
                <a:solidFill>
                  <a:srgbClr val="F5F5F7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~1,053 customers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235387" y="4170369"/>
            <a:ext cx="2548712" cy="968116"/>
          </a:xfrm>
          <a:custGeom>
            <a:avLst/>
            <a:gdLst/>
            <a:ahLst/>
            <a:cxnLst/>
            <a:rect l="l" t="t" r="r" b="b"/>
            <a:pathLst>
              <a:path w="2548712" h="968116">
                <a:moveTo>
                  <a:pt x="65861" y="0"/>
                </a:moveTo>
                <a:lnTo>
                  <a:pt x="2482852" y="0"/>
                </a:lnTo>
                <a:cubicBezTo>
                  <a:pt x="2519226" y="0"/>
                  <a:pt x="2548712" y="29487"/>
                  <a:pt x="2548712" y="65861"/>
                </a:cubicBezTo>
                <a:lnTo>
                  <a:pt x="2548712" y="902255"/>
                </a:lnTo>
                <a:cubicBezTo>
                  <a:pt x="2548712" y="938629"/>
                  <a:pt x="2519226" y="968116"/>
                  <a:pt x="2482852" y="968116"/>
                </a:cubicBezTo>
                <a:lnTo>
                  <a:pt x="65861" y="968116"/>
                </a:lnTo>
                <a:cubicBezTo>
                  <a:pt x="29487" y="968116"/>
                  <a:pt x="0" y="938629"/>
                  <a:pt x="0" y="902255"/>
                </a:cubicBezTo>
                <a:lnTo>
                  <a:pt x="0" y="65861"/>
                </a:lnTo>
                <a:cubicBezTo>
                  <a:pt x="0" y="29511"/>
                  <a:pt x="29511" y="0"/>
                  <a:pt x="65861" y="0"/>
                </a:cubicBezTo>
                <a:close/>
              </a:path>
            </a:pathLst>
          </a:custGeom>
          <a:solidFill>
            <a:srgbClr val="F4E285">
              <a:alpha val="20000"/>
            </a:srgbClr>
          </a:solidFill>
          <a:ln w="20320">
            <a:solidFill>
              <a:srgbClr val="F4E28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11947" y="4308672"/>
            <a:ext cx="2395592" cy="29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45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73%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340760" y="4637963"/>
            <a:ext cx="2337966" cy="19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7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Non-Subscribers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44876" y="4835537"/>
            <a:ext cx="2329734" cy="164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7" dirty="0">
                <a:solidFill>
                  <a:srgbClr val="F5F5F7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~2,847 customers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97566" y="1188741"/>
            <a:ext cx="5662159" cy="4155653"/>
          </a:xfrm>
          <a:custGeom>
            <a:avLst/>
            <a:gdLst/>
            <a:ahLst/>
            <a:cxnLst/>
            <a:rect l="l" t="t" r="r" b="b"/>
            <a:pathLst>
              <a:path w="5662159" h="4155653">
                <a:moveTo>
                  <a:pt x="98780" y="0"/>
                </a:moveTo>
                <a:lnTo>
                  <a:pt x="5563379" y="0"/>
                </a:lnTo>
                <a:cubicBezTo>
                  <a:pt x="5617934" y="0"/>
                  <a:pt x="5662159" y="44225"/>
                  <a:pt x="5662159" y="98780"/>
                </a:cubicBezTo>
                <a:lnTo>
                  <a:pt x="5662159" y="4056873"/>
                </a:lnTo>
                <a:cubicBezTo>
                  <a:pt x="5662159" y="4111427"/>
                  <a:pt x="5617934" y="4155653"/>
                  <a:pt x="5563379" y="4155653"/>
                </a:cubicBezTo>
                <a:lnTo>
                  <a:pt x="98780" y="4155653"/>
                </a:lnTo>
                <a:cubicBezTo>
                  <a:pt x="44225" y="4155653"/>
                  <a:pt x="0" y="4111427"/>
                  <a:pt x="0" y="4056873"/>
                </a:cubicBezTo>
                <a:lnTo>
                  <a:pt x="0" y="98780"/>
                </a:lnTo>
                <a:cubicBezTo>
                  <a:pt x="0" y="44225"/>
                  <a:pt x="44225" y="0"/>
                  <a:pt x="98780" y="0"/>
                </a:cubicBezTo>
                <a:close/>
              </a:path>
            </a:pathLst>
          </a:custGeom>
          <a:solidFill>
            <a:srgbClr val="4A3B69">
              <a:alpha val="30196"/>
            </a:srgbClr>
          </a:solidFill>
          <a:ln w="10160">
            <a:solidFill>
              <a:srgbClr val="6B4C9A">
                <a:alpha val="50196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98433" y="1422435"/>
            <a:ext cx="246968" cy="197575"/>
          </a:xfrm>
          <a:custGeom>
            <a:avLst/>
            <a:gdLst/>
            <a:ahLst/>
            <a:cxnLst/>
            <a:rect l="l" t="t" r="r" b="b"/>
            <a:pathLst>
              <a:path w="246968" h="197575">
                <a:moveTo>
                  <a:pt x="123484" y="86439"/>
                </a:moveTo>
                <a:cubicBezTo>
                  <a:pt x="145634" y="86439"/>
                  <a:pt x="163616" y="68456"/>
                  <a:pt x="163616" y="46307"/>
                </a:cubicBezTo>
                <a:cubicBezTo>
                  <a:pt x="163616" y="24157"/>
                  <a:pt x="145634" y="6174"/>
                  <a:pt x="123484" y="6174"/>
                </a:cubicBezTo>
                <a:cubicBezTo>
                  <a:pt x="101334" y="6174"/>
                  <a:pt x="83352" y="24157"/>
                  <a:pt x="83352" y="46307"/>
                </a:cubicBezTo>
                <a:cubicBezTo>
                  <a:pt x="83352" y="68456"/>
                  <a:pt x="101334" y="86439"/>
                  <a:pt x="123484" y="86439"/>
                </a:cubicBezTo>
                <a:close/>
                <a:moveTo>
                  <a:pt x="37045" y="89526"/>
                </a:moveTo>
                <a:cubicBezTo>
                  <a:pt x="52380" y="89526"/>
                  <a:pt x="64829" y="77076"/>
                  <a:pt x="64829" y="61742"/>
                </a:cubicBezTo>
                <a:cubicBezTo>
                  <a:pt x="64829" y="46408"/>
                  <a:pt x="52380" y="33958"/>
                  <a:pt x="37045" y="33958"/>
                </a:cubicBezTo>
                <a:cubicBezTo>
                  <a:pt x="21711" y="33958"/>
                  <a:pt x="9261" y="46408"/>
                  <a:pt x="9261" y="61742"/>
                </a:cubicBezTo>
                <a:cubicBezTo>
                  <a:pt x="9261" y="77076"/>
                  <a:pt x="21711" y="89526"/>
                  <a:pt x="37045" y="89526"/>
                </a:cubicBezTo>
                <a:close/>
                <a:moveTo>
                  <a:pt x="0" y="160529"/>
                </a:moveTo>
                <a:lnTo>
                  <a:pt x="0" y="172878"/>
                </a:lnTo>
                <a:cubicBezTo>
                  <a:pt x="0" y="179708"/>
                  <a:pt x="5518" y="185226"/>
                  <a:pt x="12348" y="185226"/>
                </a:cubicBezTo>
                <a:lnTo>
                  <a:pt x="45805" y="185226"/>
                </a:lnTo>
                <a:cubicBezTo>
                  <a:pt x="44146" y="181444"/>
                  <a:pt x="43219" y="177277"/>
                  <a:pt x="43219" y="172878"/>
                </a:cubicBezTo>
                <a:lnTo>
                  <a:pt x="43219" y="166704"/>
                </a:lnTo>
                <a:cubicBezTo>
                  <a:pt x="43219" y="146174"/>
                  <a:pt x="50937" y="127420"/>
                  <a:pt x="63633" y="113220"/>
                </a:cubicBezTo>
                <a:cubicBezTo>
                  <a:pt x="59118" y="111869"/>
                  <a:pt x="54333" y="111136"/>
                  <a:pt x="49394" y="111136"/>
                </a:cubicBezTo>
                <a:cubicBezTo>
                  <a:pt x="22111" y="111136"/>
                  <a:pt x="0" y="133247"/>
                  <a:pt x="0" y="160529"/>
                </a:cubicBezTo>
                <a:close/>
                <a:moveTo>
                  <a:pt x="237707" y="61742"/>
                </a:moveTo>
                <a:cubicBezTo>
                  <a:pt x="237707" y="46408"/>
                  <a:pt x="225257" y="33958"/>
                  <a:pt x="209923" y="33958"/>
                </a:cubicBezTo>
                <a:cubicBezTo>
                  <a:pt x="194589" y="33958"/>
                  <a:pt x="182139" y="46408"/>
                  <a:pt x="182139" y="61742"/>
                </a:cubicBezTo>
                <a:cubicBezTo>
                  <a:pt x="182139" y="77076"/>
                  <a:pt x="194589" y="89526"/>
                  <a:pt x="209923" y="89526"/>
                </a:cubicBezTo>
                <a:cubicBezTo>
                  <a:pt x="225257" y="89526"/>
                  <a:pt x="237707" y="77076"/>
                  <a:pt x="237707" y="61742"/>
                </a:cubicBezTo>
                <a:close/>
                <a:moveTo>
                  <a:pt x="61742" y="166704"/>
                </a:moveTo>
                <a:lnTo>
                  <a:pt x="61742" y="172878"/>
                </a:lnTo>
                <a:cubicBezTo>
                  <a:pt x="61742" y="179708"/>
                  <a:pt x="67260" y="185226"/>
                  <a:pt x="74090" y="185226"/>
                </a:cubicBezTo>
                <a:lnTo>
                  <a:pt x="134598" y="185226"/>
                </a:lnTo>
                <a:cubicBezTo>
                  <a:pt x="131858" y="176891"/>
                  <a:pt x="132167" y="168093"/>
                  <a:pt x="138727" y="160529"/>
                </a:cubicBezTo>
                <a:cubicBezTo>
                  <a:pt x="133324" y="154278"/>
                  <a:pt x="130816" y="145210"/>
                  <a:pt x="134328" y="136103"/>
                </a:cubicBezTo>
                <a:cubicBezTo>
                  <a:pt x="136874" y="129504"/>
                  <a:pt x="140463" y="123330"/>
                  <a:pt x="144901" y="117850"/>
                </a:cubicBezTo>
                <a:cubicBezTo>
                  <a:pt x="146985" y="115303"/>
                  <a:pt x="149377" y="113335"/>
                  <a:pt x="151963" y="111907"/>
                </a:cubicBezTo>
                <a:cubicBezTo>
                  <a:pt x="143435" y="107470"/>
                  <a:pt x="133749" y="104962"/>
                  <a:pt x="123484" y="104962"/>
                </a:cubicBezTo>
                <a:cubicBezTo>
                  <a:pt x="89372" y="104962"/>
                  <a:pt x="61742" y="132591"/>
                  <a:pt x="61742" y="166704"/>
                </a:cubicBezTo>
                <a:close/>
                <a:moveTo>
                  <a:pt x="241026" y="149686"/>
                </a:moveTo>
                <a:cubicBezTo>
                  <a:pt x="243457" y="148297"/>
                  <a:pt x="244692" y="145403"/>
                  <a:pt x="243650" y="142740"/>
                </a:cubicBezTo>
                <a:cubicBezTo>
                  <a:pt x="241797" y="137955"/>
                  <a:pt x="239212" y="133440"/>
                  <a:pt x="235970" y="129465"/>
                </a:cubicBezTo>
                <a:cubicBezTo>
                  <a:pt x="234195" y="127266"/>
                  <a:pt x="231070" y="126880"/>
                  <a:pt x="228639" y="128308"/>
                </a:cubicBezTo>
                <a:cubicBezTo>
                  <a:pt x="220226" y="133170"/>
                  <a:pt x="209884" y="127227"/>
                  <a:pt x="209884" y="117464"/>
                </a:cubicBezTo>
                <a:cubicBezTo>
                  <a:pt x="209884" y="114647"/>
                  <a:pt x="207994" y="112139"/>
                  <a:pt x="205215" y="111715"/>
                </a:cubicBezTo>
                <a:cubicBezTo>
                  <a:pt x="200237" y="110943"/>
                  <a:pt x="194873" y="110943"/>
                  <a:pt x="189895" y="111715"/>
                </a:cubicBezTo>
                <a:cubicBezTo>
                  <a:pt x="187117" y="112139"/>
                  <a:pt x="185226" y="114647"/>
                  <a:pt x="185226" y="117464"/>
                </a:cubicBezTo>
                <a:cubicBezTo>
                  <a:pt x="185226" y="127189"/>
                  <a:pt x="174884" y="133170"/>
                  <a:pt x="166472" y="128308"/>
                </a:cubicBezTo>
                <a:cubicBezTo>
                  <a:pt x="164041" y="126919"/>
                  <a:pt x="160915" y="127304"/>
                  <a:pt x="159140" y="129465"/>
                </a:cubicBezTo>
                <a:cubicBezTo>
                  <a:pt x="155899" y="133440"/>
                  <a:pt x="153313" y="137955"/>
                  <a:pt x="151461" y="142740"/>
                </a:cubicBezTo>
                <a:cubicBezTo>
                  <a:pt x="150458" y="145364"/>
                  <a:pt x="151654" y="148258"/>
                  <a:pt x="154085" y="149647"/>
                </a:cubicBezTo>
                <a:cubicBezTo>
                  <a:pt x="162536" y="154510"/>
                  <a:pt x="162536" y="166433"/>
                  <a:pt x="154085" y="171334"/>
                </a:cubicBezTo>
                <a:cubicBezTo>
                  <a:pt x="151654" y="172723"/>
                  <a:pt x="150419" y="175618"/>
                  <a:pt x="151461" y="178242"/>
                </a:cubicBezTo>
                <a:cubicBezTo>
                  <a:pt x="153313" y="183027"/>
                  <a:pt x="155899" y="187542"/>
                  <a:pt x="159140" y="191516"/>
                </a:cubicBezTo>
                <a:cubicBezTo>
                  <a:pt x="160915" y="193716"/>
                  <a:pt x="164041" y="194102"/>
                  <a:pt x="166472" y="192674"/>
                </a:cubicBezTo>
                <a:cubicBezTo>
                  <a:pt x="174884" y="187812"/>
                  <a:pt x="185226" y="193793"/>
                  <a:pt x="185226" y="203517"/>
                </a:cubicBezTo>
                <a:cubicBezTo>
                  <a:pt x="185226" y="206334"/>
                  <a:pt x="187117" y="208843"/>
                  <a:pt x="189895" y="209267"/>
                </a:cubicBezTo>
                <a:cubicBezTo>
                  <a:pt x="194873" y="210039"/>
                  <a:pt x="200237" y="210039"/>
                  <a:pt x="205215" y="209267"/>
                </a:cubicBezTo>
                <a:cubicBezTo>
                  <a:pt x="207994" y="208843"/>
                  <a:pt x="209884" y="206334"/>
                  <a:pt x="209884" y="203517"/>
                </a:cubicBezTo>
                <a:cubicBezTo>
                  <a:pt x="209884" y="193793"/>
                  <a:pt x="220226" y="187812"/>
                  <a:pt x="228639" y="192674"/>
                </a:cubicBezTo>
                <a:cubicBezTo>
                  <a:pt x="231070" y="194063"/>
                  <a:pt x="234195" y="193677"/>
                  <a:pt x="235970" y="191516"/>
                </a:cubicBezTo>
                <a:cubicBezTo>
                  <a:pt x="239212" y="187542"/>
                  <a:pt x="241797" y="183027"/>
                  <a:pt x="243650" y="178242"/>
                </a:cubicBezTo>
                <a:cubicBezTo>
                  <a:pt x="244653" y="175618"/>
                  <a:pt x="243457" y="172723"/>
                  <a:pt x="241026" y="171334"/>
                </a:cubicBezTo>
                <a:cubicBezTo>
                  <a:pt x="232575" y="166472"/>
                  <a:pt x="232575" y="154548"/>
                  <a:pt x="241026" y="149647"/>
                </a:cubicBezTo>
                <a:close/>
                <a:moveTo>
                  <a:pt x="182139" y="160529"/>
                </a:moveTo>
                <a:cubicBezTo>
                  <a:pt x="182139" y="152010"/>
                  <a:pt x="189056" y="145094"/>
                  <a:pt x="197575" y="145094"/>
                </a:cubicBezTo>
                <a:cubicBezTo>
                  <a:pt x="206094" y="145094"/>
                  <a:pt x="213010" y="152010"/>
                  <a:pt x="213010" y="160529"/>
                </a:cubicBezTo>
                <a:cubicBezTo>
                  <a:pt x="213010" y="169048"/>
                  <a:pt x="206094" y="175965"/>
                  <a:pt x="197575" y="175965"/>
                </a:cubicBezTo>
                <a:cubicBezTo>
                  <a:pt x="189056" y="175965"/>
                  <a:pt x="182139" y="169048"/>
                  <a:pt x="182139" y="160529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19" name="Text 16"/>
          <p:cNvSpPr/>
          <p:nvPr/>
        </p:nvSpPr>
        <p:spPr>
          <a:xfrm>
            <a:off x="6645401" y="1389611"/>
            <a:ext cx="5112243" cy="263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6" b="1" dirty="0">
                <a:solidFill>
                  <a:srgbClr val="F4E2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Loyalty Segments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414898" y="1817789"/>
            <a:ext cx="5243959" cy="1119589"/>
          </a:xfrm>
          <a:custGeom>
            <a:avLst/>
            <a:gdLst/>
            <a:ahLst/>
            <a:cxnLst/>
            <a:rect l="l" t="t" r="r" b="b"/>
            <a:pathLst>
              <a:path w="5243959" h="1119589">
                <a:moveTo>
                  <a:pt x="32929" y="0"/>
                </a:moveTo>
                <a:lnTo>
                  <a:pt x="5178105" y="0"/>
                </a:lnTo>
                <a:cubicBezTo>
                  <a:pt x="5214476" y="0"/>
                  <a:pt x="5243959" y="29484"/>
                  <a:pt x="5243959" y="65854"/>
                </a:cubicBezTo>
                <a:lnTo>
                  <a:pt x="5243959" y="1053735"/>
                </a:lnTo>
                <a:cubicBezTo>
                  <a:pt x="5243959" y="1090106"/>
                  <a:pt x="5214476" y="1119589"/>
                  <a:pt x="5178105" y="1119589"/>
                </a:cubicBezTo>
                <a:lnTo>
                  <a:pt x="32929" y="1119589"/>
                </a:lnTo>
                <a:cubicBezTo>
                  <a:pt x="14743" y="1119589"/>
                  <a:pt x="0" y="1104847"/>
                  <a:pt x="0" y="1086660"/>
                </a:cubicBezTo>
                <a:lnTo>
                  <a:pt x="0" y="32929"/>
                </a:lnTo>
                <a:cubicBezTo>
                  <a:pt x="0" y="14755"/>
                  <a:pt x="14755" y="0"/>
                  <a:pt x="32929" y="0"/>
                </a:cubicBezTo>
                <a:close/>
              </a:path>
            </a:pathLst>
          </a:custGeom>
          <a:gradFill rotWithShape="1" flip="none">
            <a:gsLst>
              <a:gs pos="0">
                <a:srgbClr val="6B4C9A">
                  <a:alpha val="50000"/>
                </a:srgbClr>
              </a:gs>
              <a:gs pos="100000">
                <a:srgbClr val="4A3B69">
                  <a:alpha val="30000"/>
                </a:srgbClr>
              </a:gs>
            </a:gsLst>
            <a:lin ang="0" scaled="1"/>
          </a:gradFill>
          <a:ln/>
        </p:spPr>
      </p:sp>
      <p:sp>
        <p:nvSpPr>
          <p:cNvPr id="21" name="Shape 18"/>
          <p:cNvSpPr/>
          <p:nvPr/>
        </p:nvSpPr>
        <p:spPr>
          <a:xfrm>
            <a:off x="6414898" y="1817789"/>
            <a:ext cx="32929" cy="1119589"/>
          </a:xfrm>
          <a:custGeom>
            <a:avLst/>
            <a:gdLst/>
            <a:ahLst/>
            <a:cxnLst/>
            <a:rect l="l" t="t" r="r" b="b"/>
            <a:pathLst>
              <a:path w="32929" h="1119589">
                <a:moveTo>
                  <a:pt x="32929" y="0"/>
                </a:moveTo>
                <a:lnTo>
                  <a:pt x="32929" y="0"/>
                </a:lnTo>
                <a:lnTo>
                  <a:pt x="32929" y="1119589"/>
                </a:lnTo>
                <a:lnTo>
                  <a:pt x="32929" y="1119589"/>
                </a:lnTo>
                <a:cubicBezTo>
                  <a:pt x="14743" y="1119589"/>
                  <a:pt x="0" y="1104847"/>
                  <a:pt x="0" y="1086660"/>
                </a:cubicBezTo>
                <a:lnTo>
                  <a:pt x="0" y="32929"/>
                </a:lnTo>
                <a:cubicBezTo>
                  <a:pt x="0" y="14755"/>
                  <a:pt x="14755" y="0"/>
                  <a:pt x="32929" y="0"/>
                </a:cubicBezTo>
                <a:close/>
              </a:path>
            </a:pathLst>
          </a:custGeom>
          <a:solidFill>
            <a:srgbClr val="6B4C9A"/>
          </a:solidFill>
          <a:ln/>
        </p:spPr>
      </p:sp>
      <p:sp>
        <p:nvSpPr>
          <p:cNvPr id="22" name="Shape 19"/>
          <p:cNvSpPr/>
          <p:nvPr/>
        </p:nvSpPr>
        <p:spPr>
          <a:xfrm>
            <a:off x="6563079" y="1949506"/>
            <a:ext cx="395149" cy="395149"/>
          </a:xfrm>
          <a:custGeom>
            <a:avLst/>
            <a:gdLst/>
            <a:ahLst/>
            <a:cxnLst/>
            <a:rect l="l" t="t" r="r" b="b"/>
            <a:pathLst>
              <a:path w="395149" h="395149">
                <a:moveTo>
                  <a:pt x="197575" y="0"/>
                </a:moveTo>
                <a:lnTo>
                  <a:pt x="197575" y="0"/>
                </a:lnTo>
                <a:cubicBezTo>
                  <a:pt x="306692" y="0"/>
                  <a:pt x="395149" y="88457"/>
                  <a:pt x="395149" y="197575"/>
                </a:cubicBezTo>
                <a:lnTo>
                  <a:pt x="395149" y="197575"/>
                </a:lnTo>
                <a:cubicBezTo>
                  <a:pt x="395149" y="306692"/>
                  <a:pt x="306692" y="395149"/>
                  <a:pt x="197575" y="395149"/>
                </a:cubicBezTo>
                <a:lnTo>
                  <a:pt x="197575" y="395149"/>
                </a:lnTo>
                <a:cubicBezTo>
                  <a:pt x="88457" y="395149"/>
                  <a:pt x="0" y="306692"/>
                  <a:pt x="0" y="197575"/>
                </a:cubicBezTo>
                <a:lnTo>
                  <a:pt x="0" y="197575"/>
                </a:lnTo>
                <a:cubicBezTo>
                  <a:pt x="0" y="88457"/>
                  <a:pt x="88457" y="0"/>
                  <a:pt x="197575" y="0"/>
                </a:cubicBezTo>
                <a:close/>
              </a:path>
            </a:pathLst>
          </a:custGeom>
          <a:solidFill>
            <a:srgbClr val="6B4C9A"/>
          </a:solidFill>
          <a:ln/>
        </p:spPr>
      </p:sp>
      <p:sp>
        <p:nvSpPr>
          <p:cNvPr id="23" name="Shape 20"/>
          <p:cNvSpPr/>
          <p:nvPr/>
        </p:nvSpPr>
        <p:spPr>
          <a:xfrm>
            <a:off x="6688621" y="2064758"/>
            <a:ext cx="144065" cy="164646"/>
          </a:xfrm>
          <a:custGeom>
            <a:avLst/>
            <a:gdLst/>
            <a:ahLst/>
            <a:cxnLst/>
            <a:rect l="l" t="t" r="r" b="b"/>
            <a:pathLst>
              <a:path w="144065" h="164646">
                <a:moveTo>
                  <a:pt x="72032" y="79750"/>
                </a:moveTo>
                <a:cubicBezTo>
                  <a:pt x="93330" y="79750"/>
                  <a:pt x="110621" y="62459"/>
                  <a:pt x="110621" y="41161"/>
                </a:cubicBezTo>
                <a:cubicBezTo>
                  <a:pt x="110621" y="19864"/>
                  <a:pt x="93330" y="2573"/>
                  <a:pt x="72032" y="2573"/>
                </a:cubicBezTo>
                <a:cubicBezTo>
                  <a:pt x="50735" y="2573"/>
                  <a:pt x="33444" y="19864"/>
                  <a:pt x="33444" y="41161"/>
                </a:cubicBezTo>
                <a:cubicBezTo>
                  <a:pt x="33444" y="62459"/>
                  <a:pt x="50735" y="79750"/>
                  <a:pt x="72032" y="79750"/>
                </a:cubicBezTo>
                <a:close/>
                <a:moveTo>
                  <a:pt x="62482" y="97758"/>
                </a:moveTo>
                <a:cubicBezTo>
                  <a:pt x="30807" y="97758"/>
                  <a:pt x="5145" y="123420"/>
                  <a:pt x="5145" y="155095"/>
                </a:cubicBezTo>
                <a:cubicBezTo>
                  <a:pt x="5145" y="160369"/>
                  <a:pt x="9422" y="164646"/>
                  <a:pt x="14696" y="164646"/>
                </a:cubicBezTo>
                <a:lnTo>
                  <a:pt x="129369" y="164646"/>
                </a:lnTo>
                <a:cubicBezTo>
                  <a:pt x="134643" y="164646"/>
                  <a:pt x="138920" y="160369"/>
                  <a:pt x="138920" y="155095"/>
                </a:cubicBezTo>
                <a:cubicBezTo>
                  <a:pt x="138920" y="123420"/>
                  <a:pt x="113258" y="97758"/>
                  <a:pt x="81583" y="97758"/>
                </a:cubicBezTo>
                <a:lnTo>
                  <a:pt x="62482" y="97758"/>
                </a:ln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4" name="Text 21"/>
          <p:cNvSpPr/>
          <p:nvPr/>
        </p:nvSpPr>
        <p:spPr>
          <a:xfrm>
            <a:off x="7057015" y="1949506"/>
            <a:ext cx="1226609" cy="23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6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Customers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057015" y="2180009"/>
            <a:ext cx="1201912" cy="164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7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1st Purchase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0594733" y="2031828"/>
            <a:ext cx="930247" cy="230504"/>
          </a:xfrm>
          <a:custGeom>
            <a:avLst/>
            <a:gdLst/>
            <a:ahLst/>
            <a:cxnLst/>
            <a:rect l="l" t="t" r="r" b="b"/>
            <a:pathLst>
              <a:path w="930247" h="230504">
                <a:moveTo>
                  <a:pt x="115252" y="0"/>
                </a:moveTo>
                <a:lnTo>
                  <a:pt x="814995" y="0"/>
                </a:lnTo>
                <a:cubicBezTo>
                  <a:pt x="878647" y="0"/>
                  <a:pt x="930247" y="51600"/>
                  <a:pt x="930247" y="115252"/>
                </a:cubicBezTo>
                <a:lnTo>
                  <a:pt x="930247" y="115252"/>
                </a:lnTo>
                <a:cubicBezTo>
                  <a:pt x="930247" y="178904"/>
                  <a:pt x="878647" y="230504"/>
                  <a:pt x="814995" y="230504"/>
                </a:cubicBezTo>
                <a:lnTo>
                  <a:pt x="115252" y="230504"/>
                </a:lnTo>
                <a:cubicBezTo>
                  <a:pt x="51643" y="230504"/>
                  <a:pt x="0" y="178861"/>
                  <a:pt x="0" y="115252"/>
                </a:cubicBezTo>
                <a:lnTo>
                  <a:pt x="0" y="115252"/>
                </a:lnTo>
                <a:cubicBezTo>
                  <a:pt x="0" y="51643"/>
                  <a:pt x="51643" y="0"/>
                  <a:pt x="115252" y="0"/>
                </a:cubicBezTo>
                <a:close/>
              </a:path>
            </a:pathLst>
          </a:custGeom>
          <a:solidFill>
            <a:srgbClr val="F4E285">
              <a:alpha val="2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10594733" y="2031828"/>
            <a:ext cx="987873" cy="230504"/>
          </a:xfrm>
          <a:prstGeom prst="rect">
            <a:avLst/>
          </a:prstGeom>
          <a:noFill/>
          <a:ln/>
        </p:spPr>
        <p:txBody>
          <a:bodyPr wrap="square" lIns="98787" tIns="32929" rIns="98787" bIns="32929" rtlCol="0" anchor="ctr"/>
          <a:lstStyle/>
          <a:p>
            <a:pPr>
              <a:lnSpc>
                <a:spcPct val="120000"/>
              </a:lnSpc>
            </a:pPr>
            <a:r>
              <a:rPr lang="en-US" sz="907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ONBOARDING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563079" y="2410513"/>
            <a:ext cx="5029920" cy="395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7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 on welcome campaigns, first-purchase incentives, and education about subscription benefits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414898" y="3003752"/>
            <a:ext cx="5243959" cy="1119589"/>
          </a:xfrm>
          <a:custGeom>
            <a:avLst/>
            <a:gdLst/>
            <a:ahLst/>
            <a:cxnLst/>
            <a:rect l="l" t="t" r="r" b="b"/>
            <a:pathLst>
              <a:path w="5243959" h="1119589">
                <a:moveTo>
                  <a:pt x="32929" y="0"/>
                </a:moveTo>
                <a:lnTo>
                  <a:pt x="5178105" y="0"/>
                </a:lnTo>
                <a:cubicBezTo>
                  <a:pt x="5214476" y="0"/>
                  <a:pt x="5243959" y="29484"/>
                  <a:pt x="5243959" y="65854"/>
                </a:cubicBezTo>
                <a:lnTo>
                  <a:pt x="5243959" y="1053735"/>
                </a:lnTo>
                <a:cubicBezTo>
                  <a:pt x="5243959" y="1090106"/>
                  <a:pt x="5214476" y="1119589"/>
                  <a:pt x="5178105" y="1119589"/>
                </a:cubicBezTo>
                <a:lnTo>
                  <a:pt x="32929" y="1119589"/>
                </a:lnTo>
                <a:cubicBezTo>
                  <a:pt x="14743" y="1119589"/>
                  <a:pt x="0" y="1104847"/>
                  <a:pt x="0" y="1086660"/>
                </a:cubicBezTo>
                <a:lnTo>
                  <a:pt x="0" y="32929"/>
                </a:lnTo>
                <a:cubicBezTo>
                  <a:pt x="0" y="14755"/>
                  <a:pt x="14755" y="0"/>
                  <a:pt x="32929" y="0"/>
                </a:cubicBezTo>
                <a:close/>
              </a:path>
            </a:pathLst>
          </a:custGeom>
          <a:gradFill rotWithShape="1" flip="none">
            <a:gsLst>
              <a:gs pos="0">
                <a:srgbClr val="6B4C9A">
                  <a:alpha val="50000"/>
                </a:srgbClr>
              </a:gs>
              <a:gs pos="100000">
                <a:srgbClr val="4A3B69">
                  <a:alpha val="30000"/>
                </a:srgbClr>
              </a:gs>
            </a:gsLst>
            <a:lin ang="0" scaled="1"/>
          </a:gradFill>
          <a:ln/>
        </p:spPr>
      </p:sp>
      <p:sp>
        <p:nvSpPr>
          <p:cNvPr id="30" name="Shape 27"/>
          <p:cNvSpPr/>
          <p:nvPr/>
        </p:nvSpPr>
        <p:spPr>
          <a:xfrm>
            <a:off x="6414898" y="3003752"/>
            <a:ext cx="32929" cy="1119589"/>
          </a:xfrm>
          <a:custGeom>
            <a:avLst/>
            <a:gdLst/>
            <a:ahLst/>
            <a:cxnLst/>
            <a:rect l="l" t="t" r="r" b="b"/>
            <a:pathLst>
              <a:path w="32929" h="1119589">
                <a:moveTo>
                  <a:pt x="32929" y="0"/>
                </a:moveTo>
                <a:lnTo>
                  <a:pt x="32929" y="0"/>
                </a:lnTo>
                <a:lnTo>
                  <a:pt x="32929" y="1119589"/>
                </a:lnTo>
                <a:lnTo>
                  <a:pt x="32929" y="1119589"/>
                </a:lnTo>
                <a:cubicBezTo>
                  <a:pt x="14743" y="1119589"/>
                  <a:pt x="0" y="1104847"/>
                  <a:pt x="0" y="1086660"/>
                </a:cubicBezTo>
                <a:lnTo>
                  <a:pt x="0" y="32929"/>
                </a:lnTo>
                <a:cubicBezTo>
                  <a:pt x="0" y="14755"/>
                  <a:pt x="14755" y="0"/>
                  <a:pt x="32929" y="0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31" name="Shape 28"/>
          <p:cNvSpPr/>
          <p:nvPr/>
        </p:nvSpPr>
        <p:spPr>
          <a:xfrm>
            <a:off x="6563079" y="3135468"/>
            <a:ext cx="395149" cy="395149"/>
          </a:xfrm>
          <a:custGeom>
            <a:avLst/>
            <a:gdLst/>
            <a:ahLst/>
            <a:cxnLst/>
            <a:rect l="l" t="t" r="r" b="b"/>
            <a:pathLst>
              <a:path w="395149" h="395149">
                <a:moveTo>
                  <a:pt x="197575" y="0"/>
                </a:moveTo>
                <a:lnTo>
                  <a:pt x="197575" y="0"/>
                </a:lnTo>
                <a:cubicBezTo>
                  <a:pt x="306692" y="0"/>
                  <a:pt x="395149" y="88457"/>
                  <a:pt x="395149" y="197575"/>
                </a:cubicBezTo>
                <a:lnTo>
                  <a:pt x="395149" y="197575"/>
                </a:lnTo>
                <a:cubicBezTo>
                  <a:pt x="395149" y="306692"/>
                  <a:pt x="306692" y="395149"/>
                  <a:pt x="197575" y="395149"/>
                </a:cubicBezTo>
                <a:lnTo>
                  <a:pt x="197575" y="395149"/>
                </a:lnTo>
                <a:cubicBezTo>
                  <a:pt x="88457" y="395149"/>
                  <a:pt x="0" y="306692"/>
                  <a:pt x="0" y="197575"/>
                </a:cubicBezTo>
                <a:lnTo>
                  <a:pt x="0" y="197575"/>
                </a:lnTo>
                <a:cubicBezTo>
                  <a:pt x="0" y="88457"/>
                  <a:pt x="88457" y="0"/>
                  <a:pt x="197575" y="0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32" name="Shape 29"/>
          <p:cNvSpPr/>
          <p:nvPr/>
        </p:nvSpPr>
        <p:spPr>
          <a:xfrm>
            <a:off x="6657750" y="3250720"/>
            <a:ext cx="205807" cy="164646"/>
          </a:xfrm>
          <a:custGeom>
            <a:avLst/>
            <a:gdLst/>
            <a:ahLst/>
            <a:cxnLst/>
            <a:rect l="l" t="t" r="r" b="b"/>
            <a:pathLst>
              <a:path w="205807" h="164646">
                <a:moveTo>
                  <a:pt x="43734" y="41161"/>
                </a:moveTo>
                <a:cubicBezTo>
                  <a:pt x="43734" y="19864"/>
                  <a:pt x="61025" y="2573"/>
                  <a:pt x="82323" y="2573"/>
                </a:cubicBezTo>
                <a:cubicBezTo>
                  <a:pt x="103620" y="2573"/>
                  <a:pt x="120912" y="19864"/>
                  <a:pt x="120912" y="41161"/>
                </a:cubicBezTo>
                <a:cubicBezTo>
                  <a:pt x="120912" y="62459"/>
                  <a:pt x="103620" y="79750"/>
                  <a:pt x="82323" y="79750"/>
                </a:cubicBezTo>
                <a:cubicBezTo>
                  <a:pt x="61025" y="79750"/>
                  <a:pt x="43734" y="62459"/>
                  <a:pt x="43734" y="41161"/>
                </a:cubicBezTo>
                <a:close/>
                <a:moveTo>
                  <a:pt x="15436" y="155095"/>
                </a:moveTo>
                <a:cubicBezTo>
                  <a:pt x="15436" y="123420"/>
                  <a:pt x="41097" y="97758"/>
                  <a:pt x="72772" y="97758"/>
                </a:cubicBezTo>
                <a:lnTo>
                  <a:pt x="91873" y="97758"/>
                </a:lnTo>
                <a:cubicBezTo>
                  <a:pt x="123548" y="97758"/>
                  <a:pt x="149210" y="123420"/>
                  <a:pt x="149210" y="155095"/>
                </a:cubicBezTo>
                <a:cubicBezTo>
                  <a:pt x="149210" y="160369"/>
                  <a:pt x="144933" y="164646"/>
                  <a:pt x="139659" y="164646"/>
                </a:cubicBezTo>
                <a:lnTo>
                  <a:pt x="24986" y="164646"/>
                </a:lnTo>
                <a:cubicBezTo>
                  <a:pt x="19712" y="164646"/>
                  <a:pt x="15436" y="160369"/>
                  <a:pt x="15436" y="155095"/>
                </a:cubicBezTo>
                <a:close/>
                <a:moveTo>
                  <a:pt x="196931" y="42673"/>
                </a:moveTo>
                <a:lnTo>
                  <a:pt x="171206" y="83834"/>
                </a:lnTo>
                <a:cubicBezTo>
                  <a:pt x="169855" y="85989"/>
                  <a:pt x="167540" y="87339"/>
                  <a:pt x="164999" y="87468"/>
                </a:cubicBezTo>
                <a:cubicBezTo>
                  <a:pt x="162459" y="87597"/>
                  <a:pt x="160015" y="86439"/>
                  <a:pt x="158503" y="84381"/>
                </a:cubicBezTo>
                <a:lnTo>
                  <a:pt x="143068" y="63800"/>
                </a:lnTo>
                <a:cubicBezTo>
                  <a:pt x="140495" y="60391"/>
                  <a:pt x="141203" y="55568"/>
                  <a:pt x="144611" y="52995"/>
                </a:cubicBezTo>
                <a:cubicBezTo>
                  <a:pt x="148020" y="50423"/>
                  <a:pt x="152844" y="51130"/>
                  <a:pt x="155416" y="54539"/>
                </a:cubicBezTo>
                <a:lnTo>
                  <a:pt x="164099" y="66115"/>
                </a:lnTo>
                <a:lnTo>
                  <a:pt x="183843" y="34505"/>
                </a:lnTo>
                <a:cubicBezTo>
                  <a:pt x="186094" y="30903"/>
                  <a:pt x="190854" y="29778"/>
                  <a:pt x="194488" y="32061"/>
                </a:cubicBezTo>
                <a:cubicBezTo>
                  <a:pt x="198121" y="34344"/>
                  <a:pt x="199215" y="39071"/>
                  <a:pt x="196931" y="42705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33" name="Text 30"/>
          <p:cNvSpPr/>
          <p:nvPr/>
        </p:nvSpPr>
        <p:spPr>
          <a:xfrm>
            <a:off x="7057015" y="3135468"/>
            <a:ext cx="1572365" cy="23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6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Returning Customers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057015" y="3365972"/>
            <a:ext cx="1547668" cy="164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7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2-10 Purchases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10735608" y="3217791"/>
            <a:ext cx="790298" cy="230504"/>
          </a:xfrm>
          <a:custGeom>
            <a:avLst/>
            <a:gdLst/>
            <a:ahLst/>
            <a:cxnLst/>
            <a:rect l="l" t="t" r="r" b="b"/>
            <a:pathLst>
              <a:path w="790298" h="230504">
                <a:moveTo>
                  <a:pt x="115252" y="0"/>
                </a:moveTo>
                <a:lnTo>
                  <a:pt x="675047" y="0"/>
                </a:lnTo>
                <a:cubicBezTo>
                  <a:pt x="738698" y="0"/>
                  <a:pt x="790298" y="51600"/>
                  <a:pt x="790298" y="115252"/>
                </a:cubicBezTo>
                <a:lnTo>
                  <a:pt x="790298" y="115252"/>
                </a:lnTo>
                <a:cubicBezTo>
                  <a:pt x="790298" y="178904"/>
                  <a:pt x="738698" y="230504"/>
                  <a:pt x="675047" y="230504"/>
                </a:cubicBezTo>
                <a:lnTo>
                  <a:pt x="115252" y="230504"/>
                </a:lnTo>
                <a:cubicBezTo>
                  <a:pt x="51643" y="230504"/>
                  <a:pt x="0" y="178861"/>
                  <a:pt x="0" y="115252"/>
                </a:cubicBezTo>
                <a:lnTo>
                  <a:pt x="0" y="115252"/>
                </a:lnTo>
                <a:cubicBezTo>
                  <a:pt x="0" y="51643"/>
                  <a:pt x="51643" y="0"/>
                  <a:pt x="115252" y="0"/>
                </a:cubicBezTo>
                <a:close/>
              </a:path>
            </a:pathLst>
          </a:custGeom>
          <a:solidFill>
            <a:srgbClr val="F4E285">
              <a:alpha val="20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10735608" y="3217791"/>
            <a:ext cx="847924" cy="230504"/>
          </a:xfrm>
          <a:prstGeom prst="rect">
            <a:avLst/>
          </a:prstGeom>
          <a:noFill/>
          <a:ln/>
        </p:spPr>
        <p:txBody>
          <a:bodyPr wrap="square" lIns="98787" tIns="32929" rIns="98787" bIns="32929" rtlCol="0" anchor="ctr"/>
          <a:lstStyle/>
          <a:p>
            <a:pPr>
              <a:lnSpc>
                <a:spcPct val="120000"/>
              </a:lnSpc>
            </a:pPr>
            <a:r>
              <a:rPr lang="en-US" sz="907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RETENTION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563079" y="3596475"/>
            <a:ext cx="5029920" cy="395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7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retention programs, personalized recommendations, and subscription conversion offers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414898" y="4189818"/>
            <a:ext cx="5243959" cy="922015"/>
          </a:xfrm>
          <a:custGeom>
            <a:avLst/>
            <a:gdLst/>
            <a:ahLst/>
            <a:cxnLst/>
            <a:rect l="l" t="t" r="r" b="b"/>
            <a:pathLst>
              <a:path w="5243959" h="922015">
                <a:moveTo>
                  <a:pt x="32929" y="0"/>
                </a:moveTo>
                <a:lnTo>
                  <a:pt x="5178100" y="0"/>
                </a:lnTo>
                <a:cubicBezTo>
                  <a:pt x="5214473" y="0"/>
                  <a:pt x="5243959" y="29486"/>
                  <a:pt x="5243959" y="65860"/>
                </a:cubicBezTo>
                <a:lnTo>
                  <a:pt x="5243959" y="856155"/>
                </a:lnTo>
                <a:cubicBezTo>
                  <a:pt x="5243959" y="892529"/>
                  <a:pt x="5214473" y="922015"/>
                  <a:pt x="5178100" y="922015"/>
                </a:cubicBezTo>
                <a:lnTo>
                  <a:pt x="32929" y="922015"/>
                </a:lnTo>
                <a:cubicBezTo>
                  <a:pt x="14743" y="922015"/>
                  <a:pt x="0" y="907272"/>
                  <a:pt x="0" y="889086"/>
                </a:cubicBezTo>
                <a:lnTo>
                  <a:pt x="0" y="32929"/>
                </a:lnTo>
                <a:cubicBezTo>
                  <a:pt x="0" y="14755"/>
                  <a:pt x="14755" y="0"/>
                  <a:pt x="32929" y="0"/>
                </a:cubicBezTo>
                <a:close/>
              </a:path>
            </a:pathLst>
          </a:custGeom>
          <a:gradFill rotWithShape="1" flip="none">
            <a:gsLst>
              <a:gs pos="0">
                <a:srgbClr val="6B4C9A">
                  <a:alpha val="50000"/>
                </a:srgbClr>
              </a:gs>
              <a:gs pos="100000">
                <a:srgbClr val="4A3B69">
                  <a:alpha val="30000"/>
                </a:srgbClr>
              </a:gs>
            </a:gsLst>
            <a:lin ang="0" scaled="1"/>
          </a:gradFill>
          <a:ln/>
        </p:spPr>
      </p:sp>
      <p:sp>
        <p:nvSpPr>
          <p:cNvPr id="39" name="Shape 36"/>
          <p:cNvSpPr/>
          <p:nvPr/>
        </p:nvSpPr>
        <p:spPr>
          <a:xfrm>
            <a:off x="6414898" y="4189818"/>
            <a:ext cx="32929" cy="922015"/>
          </a:xfrm>
          <a:custGeom>
            <a:avLst/>
            <a:gdLst/>
            <a:ahLst/>
            <a:cxnLst/>
            <a:rect l="l" t="t" r="r" b="b"/>
            <a:pathLst>
              <a:path w="32929" h="922015">
                <a:moveTo>
                  <a:pt x="32929" y="0"/>
                </a:moveTo>
                <a:lnTo>
                  <a:pt x="32929" y="0"/>
                </a:lnTo>
                <a:lnTo>
                  <a:pt x="32929" y="922015"/>
                </a:lnTo>
                <a:lnTo>
                  <a:pt x="32929" y="922015"/>
                </a:lnTo>
                <a:cubicBezTo>
                  <a:pt x="14743" y="922015"/>
                  <a:pt x="0" y="907272"/>
                  <a:pt x="0" y="889086"/>
                </a:cubicBezTo>
                <a:lnTo>
                  <a:pt x="0" y="32929"/>
                </a:lnTo>
                <a:cubicBezTo>
                  <a:pt x="0" y="14755"/>
                  <a:pt x="14755" y="0"/>
                  <a:pt x="32929" y="0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40" name="Shape 37"/>
          <p:cNvSpPr/>
          <p:nvPr/>
        </p:nvSpPr>
        <p:spPr>
          <a:xfrm>
            <a:off x="6563079" y="4321535"/>
            <a:ext cx="395149" cy="395149"/>
          </a:xfrm>
          <a:custGeom>
            <a:avLst/>
            <a:gdLst/>
            <a:ahLst/>
            <a:cxnLst/>
            <a:rect l="l" t="t" r="r" b="b"/>
            <a:pathLst>
              <a:path w="395149" h="395149">
                <a:moveTo>
                  <a:pt x="197575" y="0"/>
                </a:moveTo>
                <a:lnTo>
                  <a:pt x="197575" y="0"/>
                </a:lnTo>
                <a:cubicBezTo>
                  <a:pt x="306692" y="0"/>
                  <a:pt x="395149" y="88457"/>
                  <a:pt x="395149" y="197575"/>
                </a:cubicBezTo>
                <a:lnTo>
                  <a:pt x="395149" y="197575"/>
                </a:lnTo>
                <a:cubicBezTo>
                  <a:pt x="395149" y="306692"/>
                  <a:pt x="306692" y="395149"/>
                  <a:pt x="197575" y="395149"/>
                </a:cubicBezTo>
                <a:lnTo>
                  <a:pt x="197575" y="395149"/>
                </a:lnTo>
                <a:cubicBezTo>
                  <a:pt x="88457" y="395149"/>
                  <a:pt x="0" y="306692"/>
                  <a:pt x="0" y="197575"/>
                </a:cubicBezTo>
                <a:lnTo>
                  <a:pt x="0" y="197575"/>
                </a:lnTo>
                <a:cubicBezTo>
                  <a:pt x="0" y="88457"/>
                  <a:pt x="88457" y="0"/>
                  <a:pt x="197575" y="0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41" name="Shape 38"/>
          <p:cNvSpPr/>
          <p:nvPr/>
        </p:nvSpPr>
        <p:spPr>
          <a:xfrm>
            <a:off x="6668040" y="4436786"/>
            <a:ext cx="185226" cy="164646"/>
          </a:xfrm>
          <a:custGeom>
            <a:avLst/>
            <a:gdLst/>
            <a:ahLst/>
            <a:cxnLst/>
            <a:rect l="l" t="t" r="r" b="b"/>
            <a:pathLst>
              <a:path w="185226" h="164646">
                <a:moveTo>
                  <a:pt x="100652" y="28041"/>
                </a:moveTo>
                <a:cubicBezTo>
                  <a:pt x="103611" y="25694"/>
                  <a:pt x="105476" y="22060"/>
                  <a:pt x="105476" y="18008"/>
                </a:cubicBezTo>
                <a:cubicBezTo>
                  <a:pt x="105476" y="10901"/>
                  <a:pt x="99720" y="5145"/>
                  <a:pt x="92613" y="5145"/>
                </a:cubicBezTo>
                <a:cubicBezTo>
                  <a:pt x="85506" y="5145"/>
                  <a:pt x="79750" y="10901"/>
                  <a:pt x="79750" y="18008"/>
                </a:cubicBezTo>
                <a:cubicBezTo>
                  <a:pt x="79750" y="22060"/>
                  <a:pt x="81647" y="25694"/>
                  <a:pt x="84574" y="28041"/>
                </a:cubicBezTo>
                <a:lnTo>
                  <a:pt x="62578" y="62642"/>
                </a:lnTo>
                <a:cubicBezTo>
                  <a:pt x="59362" y="67691"/>
                  <a:pt x="52513" y="68945"/>
                  <a:pt x="47721" y="65344"/>
                </a:cubicBezTo>
                <a:lnTo>
                  <a:pt x="28588" y="51034"/>
                </a:lnTo>
                <a:cubicBezTo>
                  <a:pt x="30035" y="48976"/>
                  <a:pt x="30871" y="46435"/>
                  <a:pt x="30871" y="43734"/>
                </a:cubicBezTo>
                <a:cubicBezTo>
                  <a:pt x="30871" y="36627"/>
                  <a:pt x="25115" y="30871"/>
                  <a:pt x="18008" y="30871"/>
                </a:cubicBezTo>
                <a:cubicBezTo>
                  <a:pt x="10901" y="30871"/>
                  <a:pt x="5145" y="36627"/>
                  <a:pt x="5145" y="43734"/>
                </a:cubicBezTo>
                <a:cubicBezTo>
                  <a:pt x="5145" y="50744"/>
                  <a:pt x="10773" y="56468"/>
                  <a:pt x="17751" y="56597"/>
                </a:cubicBezTo>
                <a:lnTo>
                  <a:pt x="28234" y="126539"/>
                </a:lnTo>
                <a:cubicBezTo>
                  <a:pt x="29746" y="136604"/>
                  <a:pt x="38396" y="144065"/>
                  <a:pt x="48590" y="144065"/>
                </a:cubicBezTo>
                <a:lnTo>
                  <a:pt x="136636" y="144065"/>
                </a:lnTo>
                <a:cubicBezTo>
                  <a:pt x="146830" y="144065"/>
                  <a:pt x="155481" y="136604"/>
                  <a:pt x="156992" y="126539"/>
                </a:cubicBezTo>
                <a:lnTo>
                  <a:pt x="167475" y="56597"/>
                </a:lnTo>
                <a:cubicBezTo>
                  <a:pt x="174453" y="56468"/>
                  <a:pt x="180081" y="50744"/>
                  <a:pt x="180081" y="43734"/>
                </a:cubicBezTo>
                <a:cubicBezTo>
                  <a:pt x="180081" y="36627"/>
                  <a:pt x="174325" y="30871"/>
                  <a:pt x="167218" y="30871"/>
                </a:cubicBezTo>
                <a:cubicBezTo>
                  <a:pt x="160111" y="30871"/>
                  <a:pt x="154355" y="36627"/>
                  <a:pt x="154355" y="43734"/>
                </a:cubicBezTo>
                <a:cubicBezTo>
                  <a:pt x="154355" y="46435"/>
                  <a:pt x="155191" y="48976"/>
                  <a:pt x="156638" y="51034"/>
                </a:cubicBezTo>
                <a:lnTo>
                  <a:pt x="137537" y="65376"/>
                </a:lnTo>
                <a:cubicBezTo>
                  <a:pt x="132745" y="68977"/>
                  <a:pt x="125896" y="67723"/>
                  <a:pt x="122680" y="62675"/>
                </a:cubicBezTo>
                <a:lnTo>
                  <a:pt x="100652" y="28041"/>
                </a:ln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42" name="Text 39"/>
          <p:cNvSpPr/>
          <p:nvPr/>
        </p:nvSpPr>
        <p:spPr>
          <a:xfrm>
            <a:off x="7057015" y="4321535"/>
            <a:ext cx="1267770" cy="23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6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Loyal Customers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7057015" y="4552038"/>
            <a:ext cx="1243074" cy="164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7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10+ Purchases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10507883" y="4403857"/>
            <a:ext cx="1020802" cy="230504"/>
          </a:xfrm>
          <a:custGeom>
            <a:avLst/>
            <a:gdLst/>
            <a:ahLst/>
            <a:cxnLst/>
            <a:rect l="l" t="t" r="r" b="b"/>
            <a:pathLst>
              <a:path w="1020802" h="230504">
                <a:moveTo>
                  <a:pt x="115252" y="0"/>
                </a:moveTo>
                <a:lnTo>
                  <a:pt x="905550" y="0"/>
                </a:lnTo>
                <a:cubicBezTo>
                  <a:pt x="969202" y="0"/>
                  <a:pt x="1020802" y="51600"/>
                  <a:pt x="1020802" y="115252"/>
                </a:cubicBezTo>
                <a:lnTo>
                  <a:pt x="1020802" y="115252"/>
                </a:lnTo>
                <a:cubicBezTo>
                  <a:pt x="1020802" y="178904"/>
                  <a:pt x="969202" y="230504"/>
                  <a:pt x="905550" y="230504"/>
                </a:cubicBezTo>
                <a:lnTo>
                  <a:pt x="115252" y="230504"/>
                </a:lnTo>
                <a:cubicBezTo>
                  <a:pt x="51643" y="230504"/>
                  <a:pt x="0" y="178861"/>
                  <a:pt x="0" y="115252"/>
                </a:cubicBezTo>
                <a:lnTo>
                  <a:pt x="0" y="115252"/>
                </a:lnTo>
                <a:cubicBezTo>
                  <a:pt x="0" y="51643"/>
                  <a:pt x="51643" y="0"/>
                  <a:pt x="115252" y="0"/>
                </a:cubicBezTo>
                <a:close/>
              </a:path>
            </a:pathLst>
          </a:custGeom>
          <a:solidFill>
            <a:srgbClr val="F4E285">
              <a:alpha val="20000"/>
            </a:srgbClr>
          </a:solidFill>
          <a:ln/>
        </p:spPr>
      </p:sp>
      <p:sp>
        <p:nvSpPr>
          <p:cNvPr id="45" name="Text 42"/>
          <p:cNvSpPr/>
          <p:nvPr/>
        </p:nvSpPr>
        <p:spPr>
          <a:xfrm>
            <a:off x="10507883" y="4403857"/>
            <a:ext cx="1078428" cy="230504"/>
          </a:xfrm>
          <a:prstGeom prst="rect">
            <a:avLst/>
          </a:prstGeom>
          <a:noFill/>
          <a:ln/>
        </p:spPr>
        <p:txBody>
          <a:bodyPr wrap="square" lIns="98787" tIns="32929" rIns="98787" bIns="32929" rtlCol="0" anchor="ctr"/>
          <a:lstStyle/>
          <a:p>
            <a:pPr>
              <a:lnSpc>
                <a:spcPct val="120000"/>
              </a:lnSpc>
            </a:pPr>
            <a:r>
              <a:rPr lang="en-US" sz="907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VIP TREATMENT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563079" y="4782542"/>
            <a:ext cx="5029920" cy="19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7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 exclusive benefits, early access, referral incentives, and advocacy programs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335877" y="5487533"/>
            <a:ext cx="11521893" cy="1363265"/>
          </a:xfrm>
          <a:custGeom>
            <a:avLst/>
            <a:gdLst/>
            <a:ahLst/>
            <a:cxnLst/>
            <a:rect l="l" t="t" r="r" b="b"/>
            <a:pathLst>
              <a:path w="11521893" h="1363265">
                <a:moveTo>
                  <a:pt x="98782" y="0"/>
                </a:moveTo>
                <a:lnTo>
                  <a:pt x="11423111" y="0"/>
                </a:lnTo>
                <a:cubicBezTo>
                  <a:pt x="11477666" y="0"/>
                  <a:pt x="11521893" y="44226"/>
                  <a:pt x="11521893" y="98782"/>
                </a:cubicBezTo>
                <a:lnTo>
                  <a:pt x="11521893" y="1264483"/>
                </a:lnTo>
                <a:cubicBezTo>
                  <a:pt x="11521893" y="1319039"/>
                  <a:pt x="11477666" y="1363265"/>
                  <a:pt x="11423111" y="1363265"/>
                </a:cubicBezTo>
                <a:lnTo>
                  <a:pt x="98782" y="1363265"/>
                </a:lnTo>
                <a:cubicBezTo>
                  <a:pt x="44263" y="1363265"/>
                  <a:pt x="0" y="1319002"/>
                  <a:pt x="0" y="1264483"/>
                </a:cubicBezTo>
                <a:lnTo>
                  <a:pt x="0" y="98782"/>
                </a:lnTo>
                <a:cubicBezTo>
                  <a:pt x="0" y="44226"/>
                  <a:pt x="44226" y="0"/>
                  <a:pt x="98782" y="0"/>
                </a:cubicBezTo>
                <a:close/>
              </a:path>
            </a:pathLst>
          </a:custGeom>
          <a:gradFill rotWithShape="1" flip="none">
            <a:gsLst>
              <a:gs pos="0">
                <a:srgbClr val="F4E285">
                  <a:alpha val="30000"/>
                </a:srgbClr>
              </a:gs>
              <a:gs pos="100000">
                <a:srgbClr val="6B4C9A">
                  <a:alpha val="30000"/>
                </a:srgbClr>
              </a:gs>
            </a:gsLst>
            <a:lin ang="0" scaled="1"/>
          </a:gradFill>
          <a:ln w="20320">
            <a:solidFill>
              <a:srgbClr val="F4E285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07108" y="5658765"/>
            <a:ext cx="461007" cy="461007"/>
          </a:xfrm>
          <a:custGeom>
            <a:avLst/>
            <a:gdLst/>
            <a:ahLst/>
            <a:cxnLst/>
            <a:rect l="l" t="t" r="r" b="b"/>
            <a:pathLst>
              <a:path w="461007" h="461007">
                <a:moveTo>
                  <a:pt x="230504" y="0"/>
                </a:moveTo>
                <a:lnTo>
                  <a:pt x="230504" y="0"/>
                </a:lnTo>
                <a:cubicBezTo>
                  <a:pt x="357722" y="0"/>
                  <a:pt x="461007" y="103285"/>
                  <a:pt x="461007" y="230504"/>
                </a:cubicBezTo>
                <a:lnTo>
                  <a:pt x="461007" y="230504"/>
                </a:lnTo>
                <a:cubicBezTo>
                  <a:pt x="461007" y="357722"/>
                  <a:pt x="357722" y="461007"/>
                  <a:pt x="230504" y="461007"/>
                </a:cubicBezTo>
                <a:lnTo>
                  <a:pt x="230504" y="461007"/>
                </a:lnTo>
                <a:cubicBezTo>
                  <a:pt x="103285" y="461007"/>
                  <a:pt x="0" y="357722"/>
                  <a:pt x="0" y="230504"/>
                </a:cubicBezTo>
                <a:lnTo>
                  <a:pt x="0" y="230504"/>
                </a:lnTo>
                <a:cubicBezTo>
                  <a:pt x="0" y="103285"/>
                  <a:pt x="103285" y="0"/>
                  <a:pt x="230504" y="0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49" name="Shape 46"/>
          <p:cNvSpPr/>
          <p:nvPr/>
        </p:nvSpPr>
        <p:spPr>
          <a:xfrm>
            <a:off x="712915" y="5790481"/>
            <a:ext cx="49394" cy="197575"/>
          </a:xfrm>
          <a:custGeom>
            <a:avLst/>
            <a:gdLst/>
            <a:ahLst/>
            <a:cxnLst/>
            <a:rect l="l" t="t" r="r" b="b"/>
            <a:pathLst>
              <a:path w="49394" h="197575">
                <a:moveTo>
                  <a:pt x="37045" y="12348"/>
                </a:moveTo>
                <a:cubicBezTo>
                  <a:pt x="37045" y="5518"/>
                  <a:pt x="31527" y="0"/>
                  <a:pt x="24697" y="0"/>
                </a:cubicBezTo>
                <a:cubicBezTo>
                  <a:pt x="17867" y="0"/>
                  <a:pt x="12348" y="5518"/>
                  <a:pt x="12348" y="12348"/>
                </a:cubicBezTo>
                <a:lnTo>
                  <a:pt x="12348" y="135833"/>
                </a:lnTo>
                <a:cubicBezTo>
                  <a:pt x="12348" y="142663"/>
                  <a:pt x="17867" y="148181"/>
                  <a:pt x="24697" y="148181"/>
                </a:cubicBezTo>
                <a:cubicBezTo>
                  <a:pt x="31527" y="148181"/>
                  <a:pt x="37045" y="142663"/>
                  <a:pt x="37045" y="135833"/>
                </a:cubicBezTo>
                <a:lnTo>
                  <a:pt x="37045" y="12348"/>
                </a:lnTo>
                <a:close/>
                <a:moveTo>
                  <a:pt x="24697" y="197575"/>
                </a:moveTo>
                <a:cubicBezTo>
                  <a:pt x="33225" y="197575"/>
                  <a:pt x="40132" y="190667"/>
                  <a:pt x="40132" y="182139"/>
                </a:cubicBezTo>
                <a:cubicBezTo>
                  <a:pt x="40132" y="173611"/>
                  <a:pt x="33225" y="166704"/>
                  <a:pt x="24697" y="166704"/>
                </a:cubicBezTo>
                <a:cubicBezTo>
                  <a:pt x="16169" y="166704"/>
                  <a:pt x="9261" y="173611"/>
                  <a:pt x="9261" y="182139"/>
                </a:cubicBezTo>
                <a:cubicBezTo>
                  <a:pt x="9261" y="190667"/>
                  <a:pt x="16169" y="197575"/>
                  <a:pt x="24697" y="197575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50" name="Text 47"/>
          <p:cNvSpPr/>
          <p:nvPr/>
        </p:nvSpPr>
        <p:spPr>
          <a:xfrm>
            <a:off x="1099832" y="5658765"/>
            <a:ext cx="10685494" cy="263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6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Finding: Massive Conversion Opportunity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1099832" y="5987951"/>
            <a:ext cx="10660797" cy="691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73% non-subscriber rate</a:t>
            </a:r>
            <a:pPr>
              <a:lnSpc>
                <a:spcPct val="130000"/>
              </a:lnSpc>
            </a:pPr>
            <a:r>
              <a:rPr lang="en-US" sz="1167" dirty="0">
                <a:solidFill>
                  <a:srgbClr val="F5F5F7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represents a massive untapped opportunity. Converting just 10% of non-subscribers (285 customers) to subscription could generate significant recurring revenue. Current subscribers show strong engagement—replicating this success with the larger non-subscriber base is the highest-impact strategic priority.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0578" y="407635"/>
            <a:ext cx="74116" cy="370578"/>
          </a:xfrm>
          <a:custGeom>
            <a:avLst/>
            <a:gdLst/>
            <a:ahLst/>
            <a:cxnLst/>
            <a:rect l="l" t="t" r="r" b="b"/>
            <a:pathLst>
              <a:path w="74116" h="370578">
                <a:moveTo>
                  <a:pt x="37058" y="0"/>
                </a:moveTo>
                <a:lnTo>
                  <a:pt x="37058" y="0"/>
                </a:lnTo>
                <a:cubicBezTo>
                  <a:pt x="57524" y="0"/>
                  <a:pt x="74116" y="16591"/>
                  <a:pt x="74116" y="37058"/>
                </a:cubicBezTo>
                <a:lnTo>
                  <a:pt x="74116" y="333520"/>
                </a:lnTo>
                <a:cubicBezTo>
                  <a:pt x="74116" y="353986"/>
                  <a:pt x="57524" y="370578"/>
                  <a:pt x="37058" y="370578"/>
                </a:cubicBezTo>
                <a:lnTo>
                  <a:pt x="37058" y="370578"/>
                </a:lnTo>
                <a:cubicBezTo>
                  <a:pt x="16591" y="370578"/>
                  <a:pt x="0" y="353986"/>
                  <a:pt x="0" y="333520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3" name="Text 1"/>
          <p:cNvSpPr/>
          <p:nvPr/>
        </p:nvSpPr>
        <p:spPr>
          <a:xfrm>
            <a:off x="555866" y="370578"/>
            <a:ext cx="6744511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02" b="1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Purchase Behavior &amp; Preferences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5866" y="889386"/>
            <a:ext cx="11358201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how customers shop, pay, and receive their orders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4283" y="1337785"/>
            <a:ext cx="3685393" cy="4611837"/>
          </a:xfrm>
          <a:custGeom>
            <a:avLst/>
            <a:gdLst/>
            <a:ahLst/>
            <a:cxnLst/>
            <a:rect l="l" t="t" r="r" b="b"/>
            <a:pathLst>
              <a:path w="3685393" h="4611837">
                <a:moveTo>
                  <a:pt x="111188" y="0"/>
                </a:moveTo>
                <a:lnTo>
                  <a:pt x="3574205" y="0"/>
                </a:lnTo>
                <a:cubicBezTo>
                  <a:pt x="3635613" y="0"/>
                  <a:pt x="3685393" y="49781"/>
                  <a:pt x="3685393" y="111188"/>
                </a:cubicBezTo>
                <a:lnTo>
                  <a:pt x="3685393" y="4500649"/>
                </a:lnTo>
                <a:cubicBezTo>
                  <a:pt x="3685393" y="4562056"/>
                  <a:pt x="3635613" y="4611837"/>
                  <a:pt x="3574205" y="4611837"/>
                </a:cubicBezTo>
                <a:lnTo>
                  <a:pt x="111188" y="4611837"/>
                </a:lnTo>
                <a:cubicBezTo>
                  <a:pt x="49781" y="4611837"/>
                  <a:pt x="0" y="4562056"/>
                  <a:pt x="0" y="4500649"/>
                </a:cubicBezTo>
                <a:lnTo>
                  <a:pt x="0" y="111188"/>
                </a:lnTo>
                <a:cubicBezTo>
                  <a:pt x="0" y="49822"/>
                  <a:pt x="49822" y="0"/>
                  <a:pt x="111188" y="0"/>
                </a:cubicBezTo>
                <a:close/>
              </a:path>
            </a:pathLst>
          </a:custGeom>
          <a:solidFill>
            <a:srgbClr val="4A3B69">
              <a:alpha val="30196"/>
            </a:srgbClr>
          </a:solidFill>
          <a:ln w="10160">
            <a:solidFill>
              <a:srgbClr val="6B4C9A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3278" y="1526782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222347" y="0"/>
                </a:moveTo>
                <a:lnTo>
                  <a:pt x="222347" y="0"/>
                </a:lnTo>
                <a:cubicBezTo>
                  <a:pt x="345145" y="0"/>
                  <a:pt x="444693" y="99548"/>
                  <a:pt x="444693" y="222347"/>
                </a:cubicBezTo>
                <a:lnTo>
                  <a:pt x="444693" y="222347"/>
                </a:lnTo>
                <a:cubicBezTo>
                  <a:pt x="444693" y="345145"/>
                  <a:pt x="345145" y="444693"/>
                  <a:pt x="222347" y="444693"/>
                </a:cubicBezTo>
                <a:lnTo>
                  <a:pt x="222347" y="444693"/>
                </a:lnTo>
                <a:cubicBezTo>
                  <a:pt x="99548" y="444693"/>
                  <a:pt x="0" y="345145"/>
                  <a:pt x="0" y="222347"/>
                </a:cubicBezTo>
                <a:lnTo>
                  <a:pt x="0" y="222347"/>
                </a:lnTo>
                <a:cubicBezTo>
                  <a:pt x="0" y="99548"/>
                  <a:pt x="99548" y="0"/>
                  <a:pt x="222347" y="0"/>
                </a:cubicBezTo>
                <a:close/>
              </a:path>
            </a:pathLst>
          </a:custGeom>
          <a:solidFill>
            <a:srgbClr val="6B4C9A"/>
          </a:solidFill>
          <a:ln/>
        </p:spPr>
      </p:sp>
      <p:sp>
        <p:nvSpPr>
          <p:cNvPr id="7" name="Shape 5"/>
          <p:cNvSpPr/>
          <p:nvPr/>
        </p:nvSpPr>
        <p:spPr>
          <a:xfrm>
            <a:off x="669819" y="1656484"/>
            <a:ext cx="231611" cy="185289"/>
          </a:xfrm>
          <a:custGeom>
            <a:avLst/>
            <a:gdLst/>
            <a:ahLst/>
            <a:cxnLst/>
            <a:rect l="l" t="t" r="r" b="b"/>
            <a:pathLst>
              <a:path w="231611" h="185289">
                <a:moveTo>
                  <a:pt x="23161" y="34742"/>
                </a:moveTo>
                <a:cubicBezTo>
                  <a:pt x="23161" y="21967"/>
                  <a:pt x="33547" y="11581"/>
                  <a:pt x="46322" y="11581"/>
                </a:cubicBezTo>
                <a:lnTo>
                  <a:pt x="150547" y="11581"/>
                </a:lnTo>
                <a:cubicBezTo>
                  <a:pt x="163322" y="11581"/>
                  <a:pt x="173708" y="21967"/>
                  <a:pt x="173708" y="34742"/>
                </a:cubicBezTo>
                <a:lnTo>
                  <a:pt x="173708" y="46322"/>
                </a:lnTo>
                <a:lnTo>
                  <a:pt x="192056" y="46322"/>
                </a:lnTo>
                <a:cubicBezTo>
                  <a:pt x="198208" y="46322"/>
                  <a:pt x="204107" y="48747"/>
                  <a:pt x="208450" y="53090"/>
                </a:cubicBezTo>
                <a:lnTo>
                  <a:pt x="224844" y="69483"/>
                </a:lnTo>
                <a:cubicBezTo>
                  <a:pt x="229186" y="73826"/>
                  <a:pt x="231611" y="79725"/>
                  <a:pt x="231611" y="85877"/>
                </a:cubicBezTo>
                <a:lnTo>
                  <a:pt x="231611" y="138967"/>
                </a:lnTo>
                <a:cubicBezTo>
                  <a:pt x="231611" y="151741"/>
                  <a:pt x="221225" y="162128"/>
                  <a:pt x="208450" y="162128"/>
                </a:cubicBezTo>
                <a:lnTo>
                  <a:pt x="207256" y="162128"/>
                </a:lnTo>
                <a:cubicBezTo>
                  <a:pt x="203492" y="175481"/>
                  <a:pt x="191188" y="185289"/>
                  <a:pt x="176603" y="185289"/>
                </a:cubicBezTo>
                <a:cubicBezTo>
                  <a:pt x="162019" y="185289"/>
                  <a:pt x="149751" y="175481"/>
                  <a:pt x="145951" y="162128"/>
                </a:cubicBezTo>
                <a:lnTo>
                  <a:pt x="108821" y="162128"/>
                </a:lnTo>
                <a:cubicBezTo>
                  <a:pt x="105057" y="175481"/>
                  <a:pt x="92753" y="185289"/>
                  <a:pt x="78169" y="185289"/>
                </a:cubicBezTo>
                <a:cubicBezTo>
                  <a:pt x="63584" y="185289"/>
                  <a:pt x="51316" y="175481"/>
                  <a:pt x="47516" y="162128"/>
                </a:cubicBezTo>
                <a:lnTo>
                  <a:pt x="46322" y="162128"/>
                </a:lnTo>
                <a:cubicBezTo>
                  <a:pt x="33547" y="162128"/>
                  <a:pt x="23161" y="151741"/>
                  <a:pt x="23161" y="138967"/>
                </a:cubicBezTo>
                <a:lnTo>
                  <a:pt x="23161" y="121596"/>
                </a:lnTo>
                <a:lnTo>
                  <a:pt x="8685" y="121596"/>
                </a:lnTo>
                <a:cubicBezTo>
                  <a:pt x="3872" y="121596"/>
                  <a:pt x="0" y="117723"/>
                  <a:pt x="0" y="112910"/>
                </a:cubicBezTo>
                <a:cubicBezTo>
                  <a:pt x="0" y="108097"/>
                  <a:pt x="3872" y="104225"/>
                  <a:pt x="8685" y="104225"/>
                </a:cubicBezTo>
                <a:lnTo>
                  <a:pt x="49217" y="104225"/>
                </a:lnTo>
                <a:cubicBezTo>
                  <a:pt x="54030" y="104225"/>
                  <a:pt x="57903" y="100353"/>
                  <a:pt x="57903" y="95540"/>
                </a:cubicBezTo>
                <a:cubicBezTo>
                  <a:pt x="57903" y="90726"/>
                  <a:pt x="54030" y="86854"/>
                  <a:pt x="49217" y="86854"/>
                </a:cubicBezTo>
                <a:lnTo>
                  <a:pt x="8685" y="86854"/>
                </a:lnTo>
                <a:cubicBezTo>
                  <a:pt x="3872" y="86854"/>
                  <a:pt x="0" y="82982"/>
                  <a:pt x="0" y="78169"/>
                </a:cubicBezTo>
                <a:cubicBezTo>
                  <a:pt x="0" y="73356"/>
                  <a:pt x="3872" y="69483"/>
                  <a:pt x="8685" y="69483"/>
                </a:cubicBezTo>
                <a:lnTo>
                  <a:pt x="72378" y="69483"/>
                </a:lnTo>
                <a:cubicBezTo>
                  <a:pt x="77192" y="69483"/>
                  <a:pt x="81064" y="65611"/>
                  <a:pt x="81064" y="60798"/>
                </a:cubicBezTo>
                <a:cubicBezTo>
                  <a:pt x="81064" y="55985"/>
                  <a:pt x="77192" y="52112"/>
                  <a:pt x="72378" y="52112"/>
                </a:cubicBezTo>
                <a:lnTo>
                  <a:pt x="8685" y="52112"/>
                </a:lnTo>
                <a:cubicBezTo>
                  <a:pt x="3872" y="52112"/>
                  <a:pt x="0" y="48240"/>
                  <a:pt x="0" y="43427"/>
                </a:cubicBezTo>
                <a:cubicBezTo>
                  <a:pt x="0" y="38614"/>
                  <a:pt x="3872" y="34742"/>
                  <a:pt x="8685" y="34742"/>
                </a:cubicBezTo>
                <a:lnTo>
                  <a:pt x="23161" y="34742"/>
                </a:lnTo>
                <a:close/>
                <a:moveTo>
                  <a:pt x="208450" y="104225"/>
                </a:moveTo>
                <a:lnTo>
                  <a:pt x="208450" y="85877"/>
                </a:lnTo>
                <a:lnTo>
                  <a:pt x="192056" y="69483"/>
                </a:lnTo>
                <a:lnTo>
                  <a:pt x="173708" y="69483"/>
                </a:lnTo>
                <a:lnTo>
                  <a:pt x="173708" y="104225"/>
                </a:lnTo>
                <a:lnTo>
                  <a:pt x="208450" y="104225"/>
                </a:lnTo>
                <a:close/>
                <a:moveTo>
                  <a:pt x="92644" y="153442"/>
                </a:moveTo>
                <a:cubicBezTo>
                  <a:pt x="92644" y="145453"/>
                  <a:pt x="86158" y="138967"/>
                  <a:pt x="78169" y="138967"/>
                </a:cubicBezTo>
                <a:cubicBezTo>
                  <a:pt x="70179" y="138967"/>
                  <a:pt x="63693" y="145453"/>
                  <a:pt x="63693" y="153442"/>
                </a:cubicBezTo>
                <a:cubicBezTo>
                  <a:pt x="63693" y="161432"/>
                  <a:pt x="70179" y="167918"/>
                  <a:pt x="78169" y="167918"/>
                </a:cubicBezTo>
                <a:cubicBezTo>
                  <a:pt x="86158" y="167918"/>
                  <a:pt x="92644" y="161432"/>
                  <a:pt x="92644" y="153442"/>
                </a:cubicBezTo>
                <a:close/>
                <a:moveTo>
                  <a:pt x="176603" y="167918"/>
                </a:moveTo>
                <a:cubicBezTo>
                  <a:pt x="184593" y="167918"/>
                  <a:pt x="191079" y="161432"/>
                  <a:pt x="191079" y="153442"/>
                </a:cubicBezTo>
                <a:cubicBezTo>
                  <a:pt x="191079" y="145453"/>
                  <a:pt x="184593" y="138967"/>
                  <a:pt x="176603" y="138967"/>
                </a:cubicBezTo>
                <a:cubicBezTo>
                  <a:pt x="168614" y="138967"/>
                  <a:pt x="162128" y="145453"/>
                  <a:pt x="162128" y="153442"/>
                </a:cubicBezTo>
                <a:cubicBezTo>
                  <a:pt x="162128" y="161432"/>
                  <a:pt x="168614" y="167918"/>
                  <a:pt x="176603" y="167918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1119144" y="1619426"/>
            <a:ext cx="1843623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F4E2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Shipping Preferences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3278" y="2119706"/>
            <a:ext cx="3307404" cy="481751"/>
          </a:xfrm>
          <a:custGeom>
            <a:avLst/>
            <a:gdLst/>
            <a:ahLst/>
            <a:cxnLst/>
            <a:rect l="l" t="t" r="r" b="b"/>
            <a:pathLst>
              <a:path w="3307404" h="481751">
                <a:moveTo>
                  <a:pt x="74117" y="0"/>
                </a:moveTo>
                <a:lnTo>
                  <a:pt x="3233287" y="0"/>
                </a:lnTo>
                <a:cubicBezTo>
                  <a:pt x="3274221" y="0"/>
                  <a:pt x="3307404" y="33183"/>
                  <a:pt x="3307404" y="74117"/>
                </a:cubicBezTo>
                <a:lnTo>
                  <a:pt x="3307404" y="407633"/>
                </a:lnTo>
                <a:cubicBezTo>
                  <a:pt x="3307404" y="448567"/>
                  <a:pt x="3274221" y="481751"/>
                  <a:pt x="3233287" y="481751"/>
                </a:cubicBezTo>
                <a:lnTo>
                  <a:pt x="74117" y="481751"/>
                </a:lnTo>
                <a:cubicBezTo>
                  <a:pt x="33183" y="481751"/>
                  <a:pt x="0" y="448567"/>
                  <a:pt x="0" y="407633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1A1A2E">
              <a:alpha val="5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92980" y="2286466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8888" y="20932"/>
                </a:moveTo>
                <a:cubicBezTo>
                  <a:pt x="10886" y="14012"/>
                  <a:pt x="17226" y="9264"/>
                  <a:pt x="24435" y="9264"/>
                </a:cubicBezTo>
                <a:lnTo>
                  <a:pt x="124028" y="9264"/>
                </a:lnTo>
                <a:cubicBezTo>
                  <a:pt x="131237" y="9264"/>
                  <a:pt x="137577" y="14012"/>
                  <a:pt x="139603" y="20932"/>
                </a:cubicBezTo>
                <a:lnTo>
                  <a:pt x="146378" y="44151"/>
                </a:lnTo>
                <a:cubicBezTo>
                  <a:pt x="150084" y="56803"/>
                  <a:pt x="140559" y="69483"/>
                  <a:pt x="127386" y="69483"/>
                </a:cubicBezTo>
                <a:cubicBezTo>
                  <a:pt x="119772" y="69483"/>
                  <a:pt x="113084" y="65170"/>
                  <a:pt x="109784" y="58742"/>
                </a:cubicBezTo>
                <a:cubicBezTo>
                  <a:pt x="106425" y="65083"/>
                  <a:pt x="99766" y="69483"/>
                  <a:pt x="92007" y="69483"/>
                </a:cubicBezTo>
                <a:cubicBezTo>
                  <a:pt x="84306" y="69483"/>
                  <a:pt x="77619" y="65141"/>
                  <a:pt x="74260" y="58771"/>
                </a:cubicBezTo>
                <a:cubicBezTo>
                  <a:pt x="70902" y="65141"/>
                  <a:pt x="64214" y="69483"/>
                  <a:pt x="56513" y="69483"/>
                </a:cubicBezTo>
                <a:cubicBezTo>
                  <a:pt x="48754" y="69483"/>
                  <a:pt x="42095" y="65112"/>
                  <a:pt x="38737" y="58742"/>
                </a:cubicBezTo>
                <a:cubicBezTo>
                  <a:pt x="35436" y="65141"/>
                  <a:pt x="28749" y="69483"/>
                  <a:pt x="21134" y="69483"/>
                </a:cubicBezTo>
                <a:cubicBezTo>
                  <a:pt x="7933" y="69483"/>
                  <a:pt x="-1563" y="56832"/>
                  <a:pt x="2142" y="44151"/>
                </a:cubicBezTo>
                <a:lnTo>
                  <a:pt x="8888" y="20932"/>
                </a:lnTo>
                <a:close/>
                <a:moveTo>
                  <a:pt x="27909" y="101909"/>
                </a:moveTo>
                <a:lnTo>
                  <a:pt x="120553" y="101909"/>
                </a:lnTo>
                <a:lnTo>
                  <a:pt x="120553" y="82685"/>
                </a:lnTo>
                <a:cubicBezTo>
                  <a:pt x="122754" y="83148"/>
                  <a:pt x="125041" y="83380"/>
                  <a:pt x="127357" y="83380"/>
                </a:cubicBezTo>
                <a:cubicBezTo>
                  <a:pt x="131497" y="83380"/>
                  <a:pt x="135463" y="82627"/>
                  <a:pt x="139082" y="81295"/>
                </a:cubicBezTo>
                <a:lnTo>
                  <a:pt x="139082" y="125070"/>
                </a:lnTo>
                <a:cubicBezTo>
                  <a:pt x="139082" y="132742"/>
                  <a:pt x="132858" y="138967"/>
                  <a:pt x="125186" y="138967"/>
                </a:cubicBezTo>
                <a:lnTo>
                  <a:pt x="23277" y="138967"/>
                </a:lnTo>
                <a:cubicBezTo>
                  <a:pt x="15605" y="138967"/>
                  <a:pt x="9380" y="132742"/>
                  <a:pt x="9380" y="125070"/>
                </a:cubicBezTo>
                <a:lnTo>
                  <a:pt x="9380" y="81295"/>
                </a:lnTo>
                <a:cubicBezTo>
                  <a:pt x="12999" y="82627"/>
                  <a:pt x="16937" y="83380"/>
                  <a:pt x="21106" y="83380"/>
                </a:cubicBezTo>
                <a:cubicBezTo>
                  <a:pt x="23451" y="83380"/>
                  <a:pt x="25709" y="83148"/>
                  <a:pt x="27909" y="82685"/>
                </a:cubicBezTo>
                <a:lnTo>
                  <a:pt x="27909" y="101909"/>
                </a:ln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11" name="Text 9"/>
          <p:cNvSpPr/>
          <p:nvPr/>
        </p:nvSpPr>
        <p:spPr>
          <a:xfrm>
            <a:off x="970913" y="2249408"/>
            <a:ext cx="870857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 Pickup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62476" y="2230879"/>
            <a:ext cx="694833" cy="259404"/>
          </a:xfrm>
          <a:custGeom>
            <a:avLst/>
            <a:gdLst/>
            <a:ahLst/>
            <a:cxnLst/>
            <a:rect l="l" t="t" r="r" b="b"/>
            <a:pathLst>
              <a:path w="694833" h="259404">
                <a:moveTo>
                  <a:pt x="37058" y="0"/>
                </a:moveTo>
                <a:lnTo>
                  <a:pt x="657774" y="0"/>
                </a:lnTo>
                <a:cubicBezTo>
                  <a:pt x="678241" y="0"/>
                  <a:pt x="694833" y="16592"/>
                  <a:pt x="694833" y="37058"/>
                </a:cubicBezTo>
                <a:lnTo>
                  <a:pt x="694833" y="222346"/>
                </a:lnTo>
                <a:cubicBezTo>
                  <a:pt x="694833" y="242813"/>
                  <a:pt x="678241" y="259404"/>
                  <a:pt x="657774" y="259404"/>
                </a:cubicBezTo>
                <a:lnTo>
                  <a:pt x="37058" y="259404"/>
                </a:lnTo>
                <a:cubicBezTo>
                  <a:pt x="16592" y="259404"/>
                  <a:pt x="0" y="242813"/>
                  <a:pt x="0" y="222346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F4E285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062476" y="2230879"/>
            <a:ext cx="759684" cy="259404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POPULAR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3278" y="2712630"/>
            <a:ext cx="3307404" cy="481751"/>
          </a:xfrm>
          <a:custGeom>
            <a:avLst/>
            <a:gdLst/>
            <a:ahLst/>
            <a:cxnLst/>
            <a:rect l="l" t="t" r="r" b="b"/>
            <a:pathLst>
              <a:path w="3307404" h="481751">
                <a:moveTo>
                  <a:pt x="74117" y="0"/>
                </a:moveTo>
                <a:lnTo>
                  <a:pt x="3233287" y="0"/>
                </a:lnTo>
                <a:cubicBezTo>
                  <a:pt x="3274221" y="0"/>
                  <a:pt x="3307404" y="33183"/>
                  <a:pt x="3307404" y="74117"/>
                </a:cubicBezTo>
                <a:lnTo>
                  <a:pt x="3307404" y="407633"/>
                </a:lnTo>
                <a:cubicBezTo>
                  <a:pt x="3307404" y="448567"/>
                  <a:pt x="3274221" y="481751"/>
                  <a:pt x="3233287" y="481751"/>
                </a:cubicBezTo>
                <a:lnTo>
                  <a:pt x="74117" y="481751"/>
                </a:lnTo>
                <a:cubicBezTo>
                  <a:pt x="33183" y="481751"/>
                  <a:pt x="0" y="448567"/>
                  <a:pt x="0" y="407633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1A1A2E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02244" y="2879390"/>
            <a:ext cx="129702" cy="148231"/>
          </a:xfrm>
          <a:custGeom>
            <a:avLst/>
            <a:gdLst/>
            <a:ahLst/>
            <a:cxnLst/>
            <a:rect l="l" t="t" r="r" b="b"/>
            <a:pathLst>
              <a:path w="129702" h="148231">
                <a:moveTo>
                  <a:pt x="98087" y="-2866"/>
                </a:moveTo>
                <a:cubicBezTo>
                  <a:pt x="101532" y="-376"/>
                  <a:pt x="102806" y="4140"/>
                  <a:pt x="101243" y="8077"/>
                </a:cubicBezTo>
                <a:lnTo>
                  <a:pt x="78545" y="64851"/>
                </a:lnTo>
                <a:lnTo>
                  <a:pt x="120438" y="64851"/>
                </a:lnTo>
                <a:cubicBezTo>
                  <a:pt x="124346" y="64851"/>
                  <a:pt x="127820" y="67283"/>
                  <a:pt x="129152" y="70960"/>
                </a:cubicBezTo>
                <a:cubicBezTo>
                  <a:pt x="130484" y="74637"/>
                  <a:pt x="129355" y="78748"/>
                  <a:pt x="126373" y="81238"/>
                </a:cubicBezTo>
                <a:lnTo>
                  <a:pt x="42993" y="150721"/>
                </a:lnTo>
                <a:cubicBezTo>
                  <a:pt x="39721" y="153442"/>
                  <a:pt x="35060" y="153587"/>
                  <a:pt x="31615" y="151097"/>
                </a:cubicBezTo>
                <a:cubicBezTo>
                  <a:pt x="28170" y="148607"/>
                  <a:pt x="26896" y="144091"/>
                  <a:pt x="28459" y="140154"/>
                </a:cubicBezTo>
                <a:lnTo>
                  <a:pt x="51157" y="83380"/>
                </a:lnTo>
                <a:lnTo>
                  <a:pt x="9264" y="83380"/>
                </a:lnTo>
                <a:cubicBezTo>
                  <a:pt x="5356" y="83380"/>
                  <a:pt x="1882" y="80948"/>
                  <a:pt x="550" y="77271"/>
                </a:cubicBezTo>
                <a:cubicBezTo>
                  <a:pt x="-782" y="73594"/>
                  <a:pt x="347" y="69483"/>
                  <a:pt x="3329" y="66993"/>
                </a:cubicBezTo>
                <a:lnTo>
                  <a:pt x="86709" y="-2490"/>
                </a:lnTo>
                <a:cubicBezTo>
                  <a:pt x="89981" y="-5211"/>
                  <a:pt x="94642" y="-5356"/>
                  <a:pt x="98087" y="-2866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16" name="Text 14"/>
          <p:cNvSpPr/>
          <p:nvPr/>
        </p:nvSpPr>
        <p:spPr>
          <a:xfrm>
            <a:off x="970913" y="2842332"/>
            <a:ext cx="1167319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Express Shipping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062476" y="2823803"/>
            <a:ext cx="694833" cy="259404"/>
          </a:xfrm>
          <a:custGeom>
            <a:avLst/>
            <a:gdLst/>
            <a:ahLst/>
            <a:cxnLst/>
            <a:rect l="l" t="t" r="r" b="b"/>
            <a:pathLst>
              <a:path w="694833" h="259404">
                <a:moveTo>
                  <a:pt x="37058" y="0"/>
                </a:moveTo>
                <a:lnTo>
                  <a:pt x="657774" y="0"/>
                </a:lnTo>
                <a:cubicBezTo>
                  <a:pt x="678241" y="0"/>
                  <a:pt x="694833" y="16592"/>
                  <a:pt x="694833" y="37058"/>
                </a:cubicBezTo>
                <a:lnTo>
                  <a:pt x="694833" y="222346"/>
                </a:lnTo>
                <a:cubicBezTo>
                  <a:pt x="694833" y="242813"/>
                  <a:pt x="678241" y="259404"/>
                  <a:pt x="657774" y="259404"/>
                </a:cubicBezTo>
                <a:lnTo>
                  <a:pt x="37058" y="259404"/>
                </a:lnTo>
                <a:cubicBezTo>
                  <a:pt x="16592" y="259404"/>
                  <a:pt x="0" y="242813"/>
                  <a:pt x="0" y="222346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F4E285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062476" y="2823803"/>
            <a:ext cx="759684" cy="259404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POPULAR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3278" y="3305554"/>
            <a:ext cx="3307404" cy="481751"/>
          </a:xfrm>
          <a:custGeom>
            <a:avLst/>
            <a:gdLst/>
            <a:ahLst/>
            <a:cxnLst/>
            <a:rect l="l" t="t" r="r" b="b"/>
            <a:pathLst>
              <a:path w="3307404" h="481751">
                <a:moveTo>
                  <a:pt x="74117" y="0"/>
                </a:moveTo>
                <a:lnTo>
                  <a:pt x="3233287" y="0"/>
                </a:lnTo>
                <a:cubicBezTo>
                  <a:pt x="3274221" y="0"/>
                  <a:pt x="3307404" y="33183"/>
                  <a:pt x="3307404" y="74117"/>
                </a:cubicBezTo>
                <a:lnTo>
                  <a:pt x="3307404" y="407633"/>
                </a:lnTo>
                <a:cubicBezTo>
                  <a:pt x="3307404" y="448567"/>
                  <a:pt x="3274221" y="481751"/>
                  <a:pt x="3233287" y="481751"/>
                </a:cubicBezTo>
                <a:lnTo>
                  <a:pt x="74117" y="481751"/>
                </a:lnTo>
                <a:cubicBezTo>
                  <a:pt x="33183" y="481751"/>
                  <a:pt x="0" y="448567"/>
                  <a:pt x="0" y="407633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1A1A2E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92980" y="3472314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74116" y="0"/>
                </a:moveTo>
                <a:cubicBezTo>
                  <a:pt x="115021" y="0"/>
                  <a:pt x="148231" y="33210"/>
                  <a:pt x="148231" y="74116"/>
                </a:cubicBezTo>
                <a:cubicBezTo>
                  <a:pt x="148231" y="115021"/>
                  <a:pt x="115021" y="148231"/>
                  <a:pt x="74116" y="148231"/>
                </a:cubicBezTo>
                <a:cubicBezTo>
                  <a:pt x="33210" y="148231"/>
                  <a:pt x="0" y="115021"/>
                  <a:pt x="0" y="74116"/>
                </a:cubicBezTo>
                <a:cubicBezTo>
                  <a:pt x="0" y="33210"/>
                  <a:pt x="33210" y="0"/>
                  <a:pt x="74116" y="0"/>
                </a:cubicBezTo>
                <a:close/>
                <a:moveTo>
                  <a:pt x="67167" y="34742"/>
                </a:moveTo>
                <a:lnTo>
                  <a:pt x="67167" y="74116"/>
                </a:lnTo>
                <a:cubicBezTo>
                  <a:pt x="67167" y="76432"/>
                  <a:pt x="68325" y="78603"/>
                  <a:pt x="70265" y="79906"/>
                </a:cubicBezTo>
                <a:lnTo>
                  <a:pt x="98058" y="98435"/>
                </a:lnTo>
                <a:cubicBezTo>
                  <a:pt x="101243" y="100577"/>
                  <a:pt x="105557" y="99709"/>
                  <a:pt x="107699" y="96495"/>
                </a:cubicBezTo>
                <a:cubicBezTo>
                  <a:pt x="109841" y="93281"/>
                  <a:pt x="108973" y="88997"/>
                  <a:pt x="105759" y="86854"/>
                </a:cubicBezTo>
                <a:lnTo>
                  <a:pt x="81064" y="70410"/>
                </a:lnTo>
                <a:lnTo>
                  <a:pt x="81064" y="34742"/>
                </a:lnTo>
                <a:cubicBezTo>
                  <a:pt x="81064" y="30891"/>
                  <a:pt x="77966" y="27793"/>
                  <a:pt x="74116" y="27793"/>
                </a:cubicBezTo>
                <a:cubicBezTo>
                  <a:pt x="70265" y="27793"/>
                  <a:pt x="67167" y="30891"/>
                  <a:pt x="67167" y="34742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21" name="Text 19"/>
          <p:cNvSpPr/>
          <p:nvPr/>
        </p:nvSpPr>
        <p:spPr>
          <a:xfrm>
            <a:off x="970913" y="3435256"/>
            <a:ext cx="1065410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2-Day Shipping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062476" y="3416727"/>
            <a:ext cx="694833" cy="259404"/>
          </a:xfrm>
          <a:custGeom>
            <a:avLst/>
            <a:gdLst/>
            <a:ahLst/>
            <a:cxnLst/>
            <a:rect l="l" t="t" r="r" b="b"/>
            <a:pathLst>
              <a:path w="694833" h="259404">
                <a:moveTo>
                  <a:pt x="37058" y="0"/>
                </a:moveTo>
                <a:lnTo>
                  <a:pt x="657774" y="0"/>
                </a:lnTo>
                <a:cubicBezTo>
                  <a:pt x="678241" y="0"/>
                  <a:pt x="694833" y="16592"/>
                  <a:pt x="694833" y="37058"/>
                </a:cubicBezTo>
                <a:lnTo>
                  <a:pt x="694833" y="222346"/>
                </a:lnTo>
                <a:cubicBezTo>
                  <a:pt x="694833" y="242813"/>
                  <a:pt x="678241" y="259404"/>
                  <a:pt x="657774" y="259404"/>
                </a:cubicBezTo>
                <a:lnTo>
                  <a:pt x="37058" y="259404"/>
                </a:lnTo>
                <a:cubicBezTo>
                  <a:pt x="16592" y="259404"/>
                  <a:pt x="0" y="242813"/>
                  <a:pt x="0" y="222346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F4E285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062476" y="3416727"/>
            <a:ext cx="759684" cy="259404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POPULAR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3278" y="3898478"/>
            <a:ext cx="3307404" cy="481751"/>
          </a:xfrm>
          <a:custGeom>
            <a:avLst/>
            <a:gdLst/>
            <a:ahLst/>
            <a:cxnLst/>
            <a:rect l="l" t="t" r="r" b="b"/>
            <a:pathLst>
              <a:path w="3307404" h="481751">
                <a:moveTo>
                  <a:pt x="74117" y="0"/>
                </a:moveTo>
                <a:lnTo>
                  <a:pt x="3233287" y="0"/>
                </a:lnTo>
                <a:cubicBezTo>
                  <a:pt x="3274221" y="0"/>
                  <a:pt x="3307404" y="33183"/>
                  <a:pt x="3307404" y="74117"/>
                </a:cubicBezTo>
                <a:lnTo>
                  <a:pt x="3307404" y="407633"/>
                </a:lnTo>
                <a:cubicBezTo>
                  <a:pt x="3307404" y="448567"/>
                  <a:pt x="3274221" y="481751"/>
                  <a:pt x="3233287" y="481751"/>
                </a:cubicBezTo>
                <a:lnTo>
                  <a:pt x="74117" y="481751"/>
                </a:lnTo>
                <a:cubicBezTo>
                  <a:pt x="33183" y="481751"/>
                  <a:pt x="0" y="448567"/>
                  <a:pt x="0" y="407633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1A1A2E">
              <a:alpha val="5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92980" y="4065238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93079" y="19919"/>
                </a:moveTo>
                <a:cubicBezTo>
                  <a:pt x="95279" y="16184"/>
                  <a:pt x="99274" y="13897"/>
                  <a:pt x="103588" y="13897"/>
                </a:cubicBezTo>
                <a:lnTo>
                  <a:pt x="104225" y="13897"/>
                </a:lnTo>
                <a:cubicBezTo>
                  <a:pt x="110623" y="13897"/>
                  <a:pt x="115805" y="19079"/>
                  <a:pt x="115805" y="25477"/>
                </a:cubicBezTo>
                <a:cubicBezTo>
                  <a:pt x="115805" y="31875"/>
                  <a:pt x="110623" y="37058"/>
                  <a:pt x="104225" y="37058"/>
                </a:cubicBezTo>
                <a:lnTo>
                  <a:pt x="83004" y="37058"/>
                </a:lnTo>
                <a:lnTo>
                  <a:pt x="93079" y="19919"/>
                </a:lnTo>
                <a:close/>
                <a:moveTo>
                  <a:pt x="55152" y="19919"/>
                </a:moveTo>
                <a:lnTo>
                  <a:pt x="65227" y="37058"/>
                </a:lnTo>
                <a:lnTo>
                  <a:pt x="44006" y="37058"/>
                </a:lnTo>
                <a:cubicBezTo>
                  <a:pt x="37608" y="37058"/>
                  <a:pt x="32426" y="31875"/>
                  <a:pt x="32426" y="25477"/>
                </a:cubicBezTo>
                <a:cubicBezTo>
                  <a:pt x="32426" y="19079"/>
                  <a:pt x="37608" y="13897"/>
                  <a:pt x="44006" y="13897"/>
                </a:cubicBezTo>
                <a:lnTo>
                  <a:pt x="44643" y="13897"/>
                </a:lnTo>
                <a:cubicBezTo>
                  <a:pt x="48957" y="13897"/>
                  <a:pt x="52981" y="16184"/>
                  <a:pt x="55152" y="19919"/>
                </a:cubicBezTo>
                <a:close/>
                <a:moveTo>
                  <a:pt x="81093" y="12883"/>
                </a:moveTo>
                <a:lnTo>
                  <a:pt x="74116" y="24753"/>
                </a:lnTo>
                <a:lnTo>
                  <a:pt x="67138" y="12883"/>
                </a:lnTo>
                <a:cubicBezTo>
                  <a:pt x="62448" y="4893"/>
                  <a:pt x="53878" y="0"/>
                  <a:pt x="44643" y="0"/>
                </a:cubicBezTo>
                <a:lnTo>
                  <a:pt x="44006" y="0"/>
                </a:lnTo>
                <a:cubicBezTo>
                  <a:pt x="29936" y="0"/>
                  <a:pt x="18529" y="11407"/>
                  <a:pt x="18529" y="25477"/>
                </a:cubicBezTo>
                <a:cubicBezTo>
                  <a:pt x="18529" y="29646"/>
                  <a:pt x="19542" y="33584"/>
                  <a:pt x="21308" y="37058"/>
                </a:cubicBezTo>
                <a:lnTo>
                  <a:pt x="9264" y="37058"/>
                </a:lnTo>
                <a:cubicBezTo>
                  <a:pt x="4140" y="37058"/>
                  <a:pt x="0" y="41198"/>
                  <a:pt x="0" y="46322"/>
                </a:cubicBezTo>
                <a:lnTo>
                  <a:pt x="0" y="55587"/>
                </a:lnTo>
                <a:cubicBezTo>
                  <a:pt x="0" y="60711"/>
                  <a:pt x="4140" y="64851"/>
                  <a:pt x="9264" y="64851"/>
                </a:cubicBezTo>
                <a:lnTo>
                  <a:pt x="138967" y="64851"/>
                </a:lnTo>
                <a:cubicBezTo>
                  <a:pt x="144091" y="64851"/>
                  <a:pt x="148231" y="60711"/>
                  <a:pt x="148231" y="55587"/>
                </a:cubicBezTo>
                <a:lnTo>
                  <a:pt x="148231" y="46322"/>
                </a:lnTo>
                <a:cubicBezTo>
                  <a:pt x="148231" y="41198"/>
                  <a:pt x="144091" y="37058"/>
                  <a:pt x="138967" y="37058"/>
                </a:cubicBezTo>
                <a:lnTo>
                  <a:pt x="126923" y="37058"/>
                </a:lnTo>
                <a:cubicBezTo>
                  <a:pt x="128689" y="33584"/>
                  <a:pt x="129702" y="29646"/>
                  <a:pt x="129702" y="25477"/>
                </a:cubicBezTo>
                <a:cubicBezTo>
                  <a:pt x="129702" y="11407"/>
                  <a:pt x="118295" y="0"/>
                  <a:pt x="104225" y="0"/>
                </a:cubicBezTo>
                <a:lnTo>
                  <a:pt x="103588" y="0"/>
                </a:lnTo>
                <a:cubicBezTo>
                  <a:pt x="94353" y="0"/>
                  <a:pt x="85783" y="4893"/>
                  <a:pt x="81093" y="12854"/>
                </a:cubicBezTo>
                <a:close/>
                <a:moveTo>
                  <a:pt x="138967" y="78748"/>
                </a:moveTo>
                <a:lnTo>
                  <a:pt x="81064" y="78748"/>
                </a:lnTo>
                <a:lnTo>
                  <a:pt x="81064" y="138967"/>
                </a:lnTo>
                <a:lnTo>
                  <a:pt x="120438" y="138967"/>
                </a:lnTo>
                <a:cubicBezTo>
                  <a:pt x="130658" y="138967"/>
                  <a:pt x="138967" y="130658"/>
                  <a:pt x="138967" y="120438"/>
                </a:cubicBezTo>
                <a:lnTo>
                  <a:pt x="138967" y="78748"/>
                </a:lnTo>
                <a:close/>
                <a:moveTo>
                  <a:pt x="67167" y="78748"/>
                </a:moveTo>
                <a:lnTo>
                  <a:pt x="9264" y="78748"/>
                </a:lnTo>
                <a:lnTo>
                  <a:pt x="9264" y="120438"/>
                </a:lnTo>
                <a:cubicBezTo>
                  <a:pt x="9264" y="130658"/>
                  <a:pt x="17573" y="138967"/>
                  <a:pt x="27793" y="138967"/>
                </a:cubicBezTo>
                <a:lnTo>
                  <a:pt x="67167" y="138967"/>
                </a:lnTo>
                <a:lnTo>
                  <a:pt x="67167" y="78748"/>
                </a:lnTo>
                <a:close/>
              </a:path>
            </a:pathLst>
          </a:custGeom>
          <a:solidFill>
            <a:srgbClr val="6B4C9A"/>
          </a:solidFill>
          <a:ln/>
        </p:spPr>
      </p:sp>
      <p:sp>
        <p:nvSpPr>
          <p:cNvPr id="26" name="Text 24"/>
          <p:cNvSpPr/>
          <p:nvPr/>
        </p:nvSpPr>
        <p:spPr>
          <a:xfrm>
            <a:off x="970913" y="4028180"/>
            <a:ext cx="944973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Free Shipping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116094" y="4009651"/>
            <a:ext cx="639246" cy="259404"/>
          </a:xfrm>
          <a:custGeom>
            <a:avLst/>
            <a:gdLst/>
            <a:ahLst/>
            <a:cxnLst/>
            <a:rect l="l" t="t" r="r" b="b"/>
            <a:pathLst>
              <a:path w="639246" h="259404">
                <a:moveTo>
                  <a:pt x="37058" y="0"/>
                </a:moveTo>
                <a:lnTo>
                  <a:pt x="602188" y="0"/>
                </a:lnTo>
                <a:cubicBezTo>
                  <a:pt x="622655" y="0"/>
                  <a:pt x="639246" y="16592"/>
                  <a:pt x="639246" y="37058"/>
                </a:cubicBezTo>
                <a:lnTo>
                  <a:pt x="639246" y="222346"/>
                </a:lnTo>
                <a:cubicBezTo>
                  <a:pt x="639246" y="242813"/>
                  <a:pt x="622655" y="259404"/>
                  <a:pt x="602188" y="259404"/>
                </a:cubicBezTo>
                <a:lnTo>
                  <a:pt x="37058" y="259404"/>
                </a:lnTo>
                <a:cubicBezTo>
                  <a:pt x="16592" y="259404"/>
                  <a:pt x="0" y="242813"/>
                  <a:pt x="0" y="222346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6B4C9A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116094" y="4009651"/>
            <a:ext cx="704097" cy="259404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6B4C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70689" y="4498814"/>
            <a:ext cx="3294434" cy="496574"/>
          </a:xfrm>
          <a:custGeom>
            <a:avLst/>
            <a:gdLst/>
            <a:ahLst/>
            <a:cxnLst/>
            <a:rect l="l" t="t" r="r" b="b"/>
            <a:pathLst>
              <a:path w="3294434" h="496574">
                <a:moveTo>
                  <a:pt x="74114" y="0"/>
                </a:moveTo>
                <a:lnTo>
                  <a:pt x="3220320" y="0"/>
                </a:lnTo>
                <a:cubicBezTo>
                  <a:pt x="3261252" y="0"/>
                  <a:pt x="3294434" y="33182"/>
                  <a:pt x="3294434" y="74114"/>
                </a:cubicBezTo>
                <a:lnTo>
                  <a:pt x="3294434" y="422460"/>
                </a:lnTo>
                <a:cubicBezTo>
                  <a:pt x="3294434" y="463392"/>
                  <a:pt x="3261252" y="496574"/>
                  <a:pt x="3220320" y="496574"/>
                </a:cubicBezTo>
                <a:lnTo>
                  <a:pt x="74114" y="496574"/>
                </a:lnTo>
                <a:cubicBezTo>
                  <a:pt x="33209" y="496574"/>
                  <a:pt x="0" y="463365"/>
                  <a:pt x="0" y="422460"/>
                </a:cubicBezTo>
                <a:lnTo>
                  <a:pt x="0" y="74114"/>
                </a:lnTo>
                <a:cubicBezTo>
                  <a:pt x="0" y="33182"/>
                  <a:pt x="33182" y="0"/>
                  <a:pt x="74114" y="0"/>
                </a:cubicBezTo>
                <a:close/>
              </a:path>
            </a:pathLst>
          </a:custGeom>
          <a:solidFill>
            <a:srgbClr val="1A1A2E">
              <a:alpha val="50196"/>
            </a:srgbClr>
          </a:solidFill>
          <a:ln w="20320">
            <a:solidFill>
              <a:srgbClr val="F4E285">
                <a:alpha val="5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7067" y="4672981"/>
            <a:ext cx="129702" cy="148231"/>
          </a:xfrm>
          <a:custGeom>
            <a:avLst/>
            <a:gdLst/>
            <a:ahLst/>
            <a:cxnLst/>
            <a:rect l="l" t="t" r="r" b="b"/>
            <a:pathLst>
              <a:path w="129702" h="148231">
                <a:moveTo>
                  <a:pt x="106946" y="37058"/>
                </a:moveTo>
                <a:lnTo>
                  <a:pt x="97016" y="23161"/>
                </a:lnTo>
                <a:lnTo>
                  <a:pt x="32715" y="23161"/>
                </a:lnTo>
                <a:lnTo>
                  <a:pt x="22785" y="37058"/>
                </a:lnTo>
                <a:lnTo>
                  <a:pt x="106946" y="37058"/>
                </a:lnTo>
                <a:close/>
                <a:moveTo>
                  <a:pt x="0" y="42993"/>
                </a:moveTo>
                <a:cubicBezTo>
                  <a:pt x="0" y="39142"/>
                  <a:pt x="1216" y="35379"/>
                  <a:pt x="3445" y="32223"/>
                </a:cubicBezTo>
                <a:lnTo>
                  <a:pt x="17631" y="12391"/>
                </a:lnTo>
                <a:cubicBezTo>
                  <a:pt x="21106" y="7527"/>
                  <a:pt x="26722" y="4632"/>
                  <a:pt x="32686" y="4632"/>
                </a:cubicBezTo>
                <a:lnTo>
                  <a:pt x="96987" y="4632"/>
                </a:lnTo>
                <a:cubicBezTo>
                  <a:pt x="102980" y="4632"/>
                  <a:pt x="108597" y="7527"/>
                  <a:pt x="112071" y="12391"/>
                </a:cubicBezTo>
                <a:lnTo>
                  <a:pt x="126228" y="32223"/>
                </a:lnTo>
                <a:cubicBezTo>
                  <a:pt x="128486" y="35379"/>
                  <a:pt x="129673" y="39142"/>
                  <a:pt x="129673" y="42993"/>
                </a:cubicBezTo>
                <a:lnTo>
                  <a:pt x="129702" y="120438"/>
                </a:lnTo>
                <a:cubicBezTo>
                  <a:pt x="129702" y="130658"/>
                  <a:pt x="121393" y="138967"/>
                  <a:pt x="111173" y="138967"/>
                </a:cubicBezTo>
                <a:lnTo>
                  <a:pt x="18529" y="138967"/>
                </a:lnTo>
                <a:cubicBezTo>
                  <a:pt x="8309" y="138967"/>
                  <a:pt x="0" y="130658"/>
                  <a:pt x="0" y="120438"/>
                </a:cubicBezTo>
                <a:lnTo>
                  <a:pt x="0" y="42993"/>
                </a:lnTo>
                <a:close/>
              </a:path>
            </a:pathLst>
          </a:custGeom>
          <a:solidFill>
            <a:srgbClr val="F5F5F7">
              <a:alpha val="6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85736" y="4635924"/>
            <a:ext cx="1250699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 Shipping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061086" y="4617395"/>
            <a:ext cx="685568" cy="259404"/>
          </a:xfrm>
          <a:custGeom>
            <a:avLst/>
            <a:gdLst/>
            <a:ahLst/>
            <a:cxnLst/>
            <a:rect l="l" t="t" r="r" b="b"/>
            <a:pathLst>
              <a:path w="685568" h="259404">
                <a:moveTo>
                  <a:pt x="37058" y="0"/>
                </a:moveTo>
                <a:lnTo>
                  <a:pt x="648510" y="0"/>
                </a:lnTo>
                <a:cubicBezTo>
                  <a:pt x="668977" y="0"/>
                  <a:pt x="685568" y="16592"/>
                  <a:pt x="685568" y="37058"/>
                </a:cubicBezTo>
                <a:lnTo>
                  <a:pt x="685568" y="222346"/>
                </a:lnTo>
                <a:cubicBezTo>
                  <a:pt x="685568" y="242813"/>
                  <a:pt x="668977" y="259404"/>
                  <a:pt x="648510" y="259404"/>
                </a:cubicBezTo>
                <a:lnTo>
                  <a:pt x="37058" y="259404"/>
                </a:lnTo>
                <a:cubicBezTo>
                  <a:pt x="16592" y="259404"/>
                  <a:pt x="0" y="242813"/>
                  <a:pt x="0" y="222346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F5F5F7">
              <a:alpha val="1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061086" y="4617395"/>
            <a:ext cx="750419" cy="259404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F5F5F7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LAGGING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66984" y="5154733"/>
            <a:ext cx="3296287" cy="600336"/>
          </a:xfrm>
          <a:custGeom>
            <a:avLst/>
            <a:gdLst/>
            <a:ahLst/>
            <a:cxnLst/>
            <a:rect l="l" t="t" r="r" b="b"/>
            <a:pathLst>
              <a:path w="3296287" h="600336">
                <a:moveTo>
                  <a:pt x="74117" y="0"/>
                </a:moveTo>
                <a:lnTo>
                  <a:pt x="3222170" y="0"/>
                </a:lnTo>
                <a:cubicBezTo>
                  <a:pt x="3263103" y="0"/>
                  <a:pt x="3296287" y="33184"/>
                  <a:pt x="3296287" y="74117"/>
                </a:cubicBezTo>
                <a:lnTo>
                  <a:pt x="3296287" y="526218"/>
                </a:lnTo>
                <a:cubicBezTo>
                  <a:pt x="3296287" y="567152"/>
                  <a:pt x="3263103" y="600336"/>
                  <a:pt x="3222170" y="600336"/>
                </a:cubicBezTo>
                <a:lnTo>
                  <a:pt x="74117" y="600336"/>
                </a:lnTo>
                <a:cubicBezTo>
                  <a:pt x="33184" y="600336"/>
                  <a:pt x="0" y="567152"/>
                  <a:pt x="0" y="526218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F4E285">
              <a:alpha val="10196"/>
            </a:srgbClr>
          </a:solidFill>
          <a:ln w="10160">
            <a:solidFill>
              <a:srgbClr val="F4E285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6604" y="5291849"/>
            <a:ext cx="97277" cy="129702"/>
          </a:xfrm>
          <a:custGeom>
            <a:avLst/>
            <a:gdLst/>
            <a:ahLst/>
            <a:cxnLst/>
            <a:rect l="l" t="t" r="r" b="b"/>
            <a:pathLst>
              <a:path w="97277" h="129702">
                <a:moveTo>
                  <a:pt x="74199" y="97277"/>
                </a:moveTo>
                <a:cubicBezTo>
                  <a:pt x="76048" y="91627"/>
                  <a:pt x="79747" y="86510"/>
                  <a:pt x="83926" y="82102"/>
                </a:cubicBezTo>
                <a:cubicBezTo>
                  <a:pt x="92210" y="73388"/>
                  <a:pt x="97277" y="61609"/>
                  <a:pt x="97277" y="48638"/>
                </a:cubicBezTo>
                <a:cubicBezTo>
                  <a:pt x="97277" y="21786"/>
                  <a:pt x="75491" y="0"/>
                  <a:pt x="48638" y="0"/>
                </a:cubicBezTo>
                <a:cubicBezTo>
                  <a:pt x="21786" y="0"/>
                  <a:pt x="0" y="21786"/>
                  <a:pt x="0" y="48638"/>
                </a:cubicBezTo>
                <a:cubicBezTo>
                  <a:pt x="0" y="61609"/>
                  <a:pt x="5066" y="73388"/>
                  <a:pt x="13350" y="82102"/>
                </a:cubicBezTo>
                <a:cubicBezTo>
                  <a:pt x="17530" y="86510"/>
                  <a:pt x="21254" y="91627"/>
                  <a:pt x="23078" y="97277"/>
                </a:cubicBezTo>
                <a:lnTo>
                  <a:pt x="74173" y="97277"/>
                </a:lnTo>
                <a:close/>
                <a:moveTo>
                  <a:pt x="72957" y="109436"/>
                </a:moveTo>
                <a:lnTo>
                  <a:pt x="24319" y="109436"/>
                </a:lnTo>
                <a:lnTo>
                  <a:pt x="24319" y="113489"/>
                </a:lnTo>
                <a:cubicBezTo>
                  <a:pt x="24319" y="124686"/>
                  <a:pt x="33388" y="133755"/>
                  <a:pt x="44585" y="133755"/>
                </a:cubicBezTo>
                <a:lnTo>
                  <a:pt x="52691" y="133755"/>
                </a:lnTo>
                <a:cubicBezTo>
                  <a:pt x="63888" y="133755"/>
                  <a:pt x="72957" y="124686"/>
                  <a:pt x="72957" y="113489"/>
                </a:cubicBezTo>
                <a:lnTo>
                  <a:pt x="72957" y="109436"/>
                </a:lnTo>
                <a:close/>
                <a:moveTo>
                  <a:pt x="46612" y="28372"/>
                </a:moveTo>
                <a:cubicBezTo>
                  <a:pt x="36529" y="28372"/>
                  <a:pt x="28372" y="36529"/>
                  <a:pt x="28372" y="46612"/>
                </a:cubicBezTo>
                <a:cubicBezTo>
                  <a:pt x="28372" y="49981"/>
                  <a:pt x="25662" y="52691"/>
                  <a:pt x="22293" y="52691"/>
                </a:cubicBezTo>
                <a:cubicBezTo>
                  <a:pt x="18923" y="52691"/>
                  <a:pt x="16213" y="49981"/>
                  <a:pt x="16213" y="46612"/>
                </a:cubicBezTo>
                <a:cubicBezTo>
                  <a:pt x="16213" y="29816"/>
                  <a:pt x="29816" y="16213"/>
                  <a:pt x="46612" y="16213"/>
                </a:cubicBezTo>
                <a:cubicBezTo>
                  <a:pt x="49981" y="16213"/>
                  <a:pt x="52691" y="18923"/>
                  <a:pt x="52691" y="22293"/>
                </a:cubicBezTo>
                <a:cubicBezTo>
                  <a:pt x="52691" y="25662"/>
                  <a:pt x="49981" y="28372"/>
                  <a:pt x="46612" y="28372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36" name="Text 34"/>
          <p:cNvSpPr/>
          <p:nvPr/>
        </p:nvSpPr>
        <p:spPr>
          <a:xfrm>
            <a:off x="902688" y="5269615"/>
            <a:ext cx="2910554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Opportunity:</a:t>
            </a:r>
            <a:pPr>
              <a:lnSpc>
                <a:spcPct val="120000"/>
              </a:lnSpc>
            </a:pPr>
            <a:r>
              <a:rPr lang="en-US" sz="1021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Upgrade Standard shipping or incentivize faster options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251566" y="1337785"/>
            <a:ext cx="3685393" cy="4611837"/>
          </a:xfrm>
          <a:custGeom>
            <a:avLst/>
            <a:gdLst/>
            <a:ahLst/>
            <a:cxnLst/>
            <a:rect l="l" t="t" r="r" b="b"/>
            <a:pathLst>
              <a:path w="3685393" h="4611837">
                <a:moveTo>
                  <a:pt x="111188" y="0"/>
                </a:moveTo>
                <a:lnTo>
                  <a:pt x="3574205" y="0"/>
                </a:lnTo>
                <a:cubicBezTo>
                  <a:pt x="3635613" y="0"/>
                  <a:pt x="3685393" y="49781"/>
                  <a:pt x="3685393" y="111188"/>
                </a:cubicBezTo>
                <a:lnTo>
                  <a:pt x="3685393" y="4500649"/>
                </a:lnTo>
                <a:cubicBezTo>
                  <a:pt x="3685393" y="4562056"/>
                  <a:pt x="3635613" y="4611837"/>
                  <a:pt x="3574205" y="4611837"/>
                </a:cubicBezTo>
                <a:lnTo>
                  <a:pt x="111188" y="4611837"/>
                </a:lnTo>
                <a:cubicBezTo>
                  <a:pt x="49781" y="4611837"/>
                  <a:pt x="0" y="4562056"/>
                  <a:pt x="0" y="4500649"/>
                </a:cubicBezTo>
                <a:lnTo>
                  <a:pt x="0" y="111188"/>
                </a:lnTo>
                <a:cubicBezTo>
                  <a:pt x="0" y="49822"/>
                  <a:pt x="49822" y="0"/>
                  <a:pt x="111188" y="0"/>
                </a:cubicBezTo>
                <a:close/>
              </a:path>
            </a:pathLst>
          </a:custGeom>
          <a:solidFill>
            <a:srgbClr val="4A3B69">
              <a:alpha val="30196"/>
            </a:srgbClr>
          </a:solidFill>
          <a:ln w="10160">
            <a:solidFill>
              <a:srgbClr val="6B4C9A">
                <a:alpha val="5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40561" y="1526782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222347" y="0"/>
                </a:moveTo>
                <a:lnTo>
                  <a:pt x="222347" y="0"/>
                </a:lnTo>
                <a:cubicBezTo>
                  <a:pt x="345145" y="0"/>
                  <a:pt x="444693" y="99548"/>
                  <a:pt x="444693" y="222347"/>
                </a:cubicBezTo>
                <a:lnTo>
                  <a:pt x="444693" y="222347"/>
                </a:lnTo>
                <a:cubicBezTo>
                  <a:pt x="444693" y="345145"/>
                  <a:pt x="345145" y="444693"/>
                  <a:pt x="222347" y="444693"/>
                </a:cubicBezTo>
                <a:lnTo>
                  <a:pt x="222347" y="444693"/>
                </a:lnTo>
                <a:cubicBezTo>
                  <a:pt x="99548" y="444693"/>
                  <a:pt x="0" y="345145"/>
                  <a:pt x="0" y="222347"/>
                </a:cubicBezTo>
                <a:lnTo>
                  <a:pt x="0" y="222347"/>
                </a:lnTo>
                <a:cubicBezTo>
                  <a:pt x="0" y="99548"/>
                  <a:pt x="99548" y="0"/>
                  <a:pt x="222347" y="0"/>
                </a:cubicBezTo>
                <a:close/>
              </a:path>
            </a:pathLst>
          </a:custGeom>
          <a:solidFill>
            <a:srgbClr val="6B4C9A"/>
          </a:solidFill>
          <a:ln/>
        </p:spPr>
      </p:sp>
      <p:sp>
        <p:nvSpPr>
          <p:cNvPr id="39" name="Shape 37"/>
          <p:cNvSpPr/>
          <p:nvPr/>
        </p:nvSpPr>
        <p:spPr>
          <a:xfrm>
            <a:off x="4570263" y="1656484"/>
            <a:ext cx="185289" cy="185289"/>
          </a:xfrm>
          <a:custGeom>
            <a:avLst/>
            <a:gdLst/>
            <a:ahLst/>
            <a:cxnLst/>
            <a:rect l="l" t="t" r="r" b="b"/>
            <a:pathLst>
              <a:path w="185289" h="185289">
                <a:moveTo>
                  <a:pt x="0" y="46322"/>
                </a:moveTo>
                <a:lnTo>
                  <a:pt x="0" y="57903"/>
                </a:lnTo>
                <a:lnTo>
                  <a:pt x="185289" y="57903"/>
                </a:lnTo>
                <a:lnTo>
                  <a:pt x="185289" y="46322"/>
                </a:lnTo>
                <a:cubicBezTo>
                  <a:pt x="185289" y="33547"/>
                  <a:pt x="174902" y="23161"/>
                  <a:pt x="162128" y="23161"/>
                </a:cubicBezTo>
                <a:lnTo>
                  <a:pt x="23161" y="23161"/>
                </a:lnTo>
                <a:cubicBezTo>
                  <a:pt x="10386" y="23161"/>
                  <a:pt x="0" y="33547"/>
                  <a:pt x="0" y="46322"/>
                </a:cubicBezTo>
                <a:close/>
                <a:moveTo>
                  <a:pt x="0" y="75274"/>
                </a:moveTo>
                <a:lnTo>
                  <a:pt x="0" y="138967"/>
                </a:lnTo>
                <a:cubicBezTo>
                  <a:pt x="0" y="151741"/>
                  <a:pt x="10386" y="162128"/>
                  <a:pt x="23161" y="162128"/>
                </a:cubicBezTo>
                <a:lnTo>
                  <a:pt x="162128" y="162128"/>
                </a:lnTo>
                <a:cubicBezTo>
                  <a:pt x="174902" y="162128"/>
                  <a:pt x="185289" y="151741"/>
                  <a:pt x="185289" y="138967"/>
                </a:cubicBezTo>
                <a:lnTo>
                  <a:pt x="185289" y="75274"/>
                </a:lnTo>
                <a:lnTo>
                  <a:pt x="0" y="75274"/>
                </a:lnTo>
                <a:close/>
                <a:moveTo>
                  <a:pt x="23161" y="130281"/>
                </a:moveTo>
                <a:cubicBezTo>
                  <a:pt x="23161" y="125468"/>
                  <a:pt x="27033" y="121596"/>
                  <a:pt x="31847" y="121596"/>
                </a:cubicBezTo>
                <a:lnTo>
                  <a:pt x="49217" y="121596"/>
                </a:lnTo>
                <a:cubicBezTo>
                  <a:pt x="54030" y="121596"/>
                  <a:pt x="57903" y="125468"/>
                  <a:pt x="57903" y="130281"/>
                </a:cubicBezTo>
                <a:cubicBezTo>
                  <a:pt x="57903" y="135094"/>
                  <a:pt x="54030" y="138967"/>
                  <a:pt x="49217" y="138967"/>
                </a:cubicBezTo>
                <a:lnTo>
                  <a:pt x="31847" y="138967"/>
                </a:lnTo>
                <a:cubicBezTo>
                  <a:pt x="27033" y="138967"/>
                  <a:pt x="23161" y="135094"/>
                  <a:pt x="23161" y="130281"/>
                </a:cubicBezTo>
                <a:close/>
                <a:moveTo>
                  <a:pt x="75274" y="130281"/>
                </a:moveTo>
                <a:cubicBezTo>
                  <a:pt x="75274" y="125468"/>
                  <a:pt x="79146" y="121596"/>
                  <a:pt x="83959" y="121596"/>
                </a:cubicBezTo>
                <a:lnTo>
                  <a:pt x="107120" y="121596"/>
                </a:lnTo>
                <a:cubicBezTo>
                  <a:pt x="111933" y="121596"/>
                  <a:pt x="115805" y="125468"/>
                  <a:pt x="115805" y="130281"/>
                </a:cubicBezTo>
                <a:cubicBezTo>
                  <a:pt x="115805" y="135094"/>
                  <a:pt x="111933" y="138967"/>
                  <a:pt x="107120" y="138967"/>
                </a:cubicBezTo>
                <a:lnTo>
                  <a:pt x="83959" y="138967"/>
                </a:lnTo>
                <a:cubicBezTo>
                  <a:pt x="79146" y="138967"/>
                  <a:pt x="75274" y="135094"/>
                  <a:pt x="75274" y="130281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40" name="Text 38"/>
          <p:cNvSpPr/>
          <p:nvPr/>
        </p:nvSpPr>
        <p:spPr>
          <a:xfrm>
            <a:off x="4996427" y="1619426"/>
            <a:ext cx="1584219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F4E2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Methods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459090" y="2253113"/>
            <a:ext cx="3288875" cy="815271"/>
          </a:xfrm>
          <a:custGeom>
            <a:avLst/>
            <a:gdLst/>
            <a:ahLst/>
            <a:cxnLst/>
            <a:rect l="l" t="t" r="r" b="b"/>
            <a:pathLst>
              <a:path w="3288875" h="815271">
                <a:moveTo>
                  <a:pt x="37058" y="0"/>
                </a:moveTo>
                <a:lnTo>
                  <a:pt x="3214759" y="0"/>
                </a:lnTo>
                <a:cubicBezTo>
                  <a:pt x="3255692" y="0"/>
                  <a:pt x="3288875" y="33183"/>
                  <a:pt x="3288875" y="74116"/>
                </a:cubicBezTo>
                <a:lnTo>
                  <a:pt x="3288875" y="741154"/>
                </a:lnTo>
                <a:cubicBezTo>
                  <a:pt x="3288875" y="782088"/>
                  <a:pt x="3255692" y="815271"/>
                  <a:pt x="3214759" y="815271"/>
                </a:cubicBezTo>
                <a:lnTo>
                  <a:pt x="37058" y="815271"/>
                </a:lnTo>
                <a:cubicBezTo>
                  <a:pt x="16591" y="815271"/>
                  <a:pt x="0" y="798679"/>
                  <a:pt x="0" y="778213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gradFill rotWithShape="1" flip="none">
            <a:gsLst>
              <a:gs pos="0">
                <a:srgbClr val="6B4C9A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2" name="Shape 40"/>
          <p:cNvSpPr/>
          <p:nvPr/>
        </p:nvSpPr>
        <p:spPr>
          <a:xfrm>
            <a:off x="4459090" y="2253113"/>
            <a:ext cx="37058" cy="815271"/>
          </a:xfrm>
          <a:custGeom>
            <a:avLst/>
            <a:gdLst/>
            <a:ahLst/>
            <a:cxnLst/>
            <a:rect l="l" t="t" r="r" b="b"/>
            <a:pathLst>
              <a:path w="37058" h="815271">
                <a:moveTo>
                  <a:pt x="37058" y="0"/>
                </a:moveTo>
                <a:lnTo>
                  <a:pt x="37058" y="0"/>
                </a:lnTo>
                <a:lnTo>
                  <a:pt x="37058" y="815271"/>
                </a:lnTo>
                <a:lnTo>
                  <a:pt x="37058" y="815271"/>
                </a:lnTo>
                <a:cubicBezTo>
                  <a:pt x="16591" y="815271"/>
                  <a:pt x="0" y="798679"/>
                  <a:pt x="0" y="778213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6B4C9A"/>
          </a:solidFill>
          <a:ln/>
        </p:spPr>
      </p:sp>
      <p:sp>
        <p:nvSpPr>
          <p:cNvPr id="43" name="Shape 41"/>
          <p:cNvSpPr/>
          <p:nvPr/>
        </p:nvSpPr>
        <p:spPr>
          <a:xfrm>
            <a:off x="4649011" y="2447666"/>
            <a:ext cx="166760" cy="166760"/>
          </a:xfrm>
          <a:custGeom>
            <a:avLst/>
            <a:gdLst/>
            <a:ahLst/>
            <a:cxnLst/>
            <a:rect l="l" t="t" r="r" b="b"/>
            <a:pathLst>
              <a:path w="166760" h="166760">
                <a:moveTo>
                  <a:pt x="0" y="41690"/>
                </a:moveTo>
                <a:lnTo>
                  <a:pt x="0" y="52112"/>
                </a:lnTo>
                <a:lnTo>
                  <a:pt x="166760" y="52112"/>
                </a:lnTo>
                <a:lnTo>
                  <a:pt x="166760" y="41690"/>
                </a:lnTo>
                <a:cubicBezTo>
                  <a:pt x="166760" y="30193"/>
                  <a:pt x="157412" y="20845"/>
                  <a:pt x="145915" y="20845"/>
                </a:cubicBezTo>
                <a:lnTo>
                  <a:pt x="20845" y="20845"/>
                </a:lnTo>
                <a:cubicBezTo>
                  <a:pt x="9348" y="20845"/>
                  <a:pt x="0" y="30193"/>
                  <a:pt x="0" y="41690"/>
                </a:cubicBezTo>
                <a:close/>
                <a:moveTo>
                  <a:pt x="0" y="67746"/>
                </a:moveTo>
                <a:lnTo>
                  <a:pt x="0" y="125070"/>
                </a:lnTo>
                <a:cubicBezTo>
                  <a:pt x="0" y="136567"/>
                  <a:pt x="9348" y="145915"/>
                  <a:pt x="20845" y="145915"/>
                </a:cubicBezTo>
                <a:lnTo>
                  <a:pt x="145915" y="145915"/>
                </a:lnTo>
                <a:cubicBezTo>
                  <a:pt x="157412" y="145915"/>
                  <a:pt x="166760" y="136567"/>
                  <a:pt x="166760" y="125070"/>
                </a:cubicBezTo>
                <a:lnTo>
                  <a:pt x="166760" y="67746"/>
                </a:lnTo>
                <a:lnTo>
                  <a:pt x="0" y="67746"/>
                </a:lnTo>
                <a:close/>
                <a:moveTo>
                  <a:pt x="20845" y="117253"/>
                </a:moveTo>
                <a:cubicBezTo>
                  <a:pt x="20845" y="112921"/>
                  <a:pt x="24330" y="109436"/>
                  <a:pt x="28662" y="109436"/>
                </a:cubicBezTo>
                <a:lnTo>
                  <a:pt x="44296" y="109436"/>
                </a:lnTo>
                <a:cubicBezTo>
                  <a:pt x="48627" y="109436"/>
                  <a:pt x="52112" y="112921"/>
                  <a:pt x="52112" y="117253"/>
                </a:cubicBezTo>
                <a:cubicBezTo>
                  <a:pt x="52112" y="121585"/>
                  <a:pt x="48627" y="125070"/>
                  <a:pt x="44296" y="125070"/>
                </a:cubicBezTo>
                <a:lnTo>
                  <a:pt x="28662" y="125070"/>
                </a:lnTo>
                <a:cubicBezTo>
                  <a:pt x="24330" y="125070"/>
                  <a:pt x="20845" y="121585"/>
                  <a:pt x="20845" y="117253"/>
                </a:cubicBezTo>
                <a:close/>
                <a:moveTo>
                  <a:pt x="67746" y="117253"/>
                </a:moveTo>
                <a:cubicBezTo>
                  <a:pt x="67746" y="112921"/>
                  <a:pt x="71231" y="109436"/>
                  <a:pt x="75563" y="109436"/>
                </a:cubicBezTo>
                <a:lnTo>
                  <a:pt x="96408" y="109436"/>
                </a:lnTo>
                <a:cubicBezTo>
                  <a:pt x="100740" y="109436"/>
                  <a:pt x="104225" y="112921"/>
                  <a:pt x="104225" y="117253"/>
                </a:cubicBezTo>
                <a:cubicBezTo>
                  <a:pt x="104225" y="121585"/>
                  <a:pt x="100740" y="125070"/>
                  <a:pt x="96408" y="125070"/>
                </a:cubicBezTo>
                <a:lnTo>
                  <a:pt x="75563" y="125070"/>
                </a:lnTo>
                <a:cubicBezTo>
                  <a:pt x="71231" y="125070"/>
                  <a:pt x="67746" y="121585"/>
                  <a:pt x="67746" y="117253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44" name="Text 42"/>
          <p:cNvSpPr/>
          <p:nvPr/>
        </p:nvSpPr>
        <p:spPr>
          <a:xfrm>
            <a:off x="4945473" y="2401344"/>
            <a:ext cx="907915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Credit Card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048848" y="2466195"/>
            <a:ext cx="145915" cy="129702"/>
          </a:xfrm>
          <a:custGeom>
            <a:avLst/>
            <a:gdLst/>
            <a:ahLst/>
            <a:cxnLst/>
            <a:rect l="l" t="t" r="r" b="b"/>
            <a:pathLst>
              <a:path w="145915" h="129702">
                <a:moveTo>
                  <a:pt x="78404" y="-4788"/>
                </a:moveTo>
                <a:cubicBezTo>
                  <a:pt x="77365" y="-6814"/>
                  <a:pt x="75263" y="-8106"/>
                  <a:pt x="72983" y="-8106"/>
                </a:cubicBezTo>
                <a:cubicBezTo>
                  <a:pt x="70703" y="-8106"/>
                  <a:pt x="68600" y="-6814"/>
                  <a:pt x="67562" y="-4788"/>
                </a:cubicBezTo>
                <a:lnTo>
                  <a:pt x="48917" y="31742"/>
                </a:lnTo>
                <a:lnTo>
                  <a:pt x="8410" y="38176"/>
                </a:lnTo>
                <a:cubicBezTo>
                  <a:pt x="6156" y="38531"/>
                  <a:pt x="4281" y="40127"/>
                  <a:pt x="3572" y="42305"/>
                </a:cubicBezTo>
                <a:cubicBezTo>
                  <a:pt x="2863" y="44484"/>
                  <a:pt x="3445" y="46865"/>
                  <a:pt x="5041" y="48486"/>
                </a:cubicBezTo>
                <a:lnTo>
                  <a:pt x="34021" y="77492"/>
                </a:lnTo>
                <a:lnTo>
                  <a:pt x="27638" y="117999"/>
                </a:lnTo>
                <a:cubicBezTo>
                  <a:pt x="27283" y="120253"/>
                  <a:pt x="28220" y="122533"/>
                  <a:pt x="30070" y="123876"/>
                </a:cubicBezTo>
                <a:cubicBezTo>
                  <a:pt x="31919" y="125218"/>
                  <a:pt x="34351" y="125421"/>
                  <a:pt x="36403" y="124382"/>
                </a:cubicBezTo>
                <a:lnTo>
                  <a:pt x="72983" y="105788"/>
                </a:lnTo>
                <a:lnTo>
                  <a:pt x="109538" y="124382"/>
                </a:lnTo>
                <a:cubicBezTo>
                  <a:pt x="111564" y="125421"/>
                  <a:pt x="114021" y="125218"/>
                  <a:pt x="115871" y="123876"/>
                </a:cubicBezTo>
                <a:cubicBezTo>
                  <a:pt x="117720" y="122533"/>
                  <a:pt x="118657" y="120278"/>
                  <a:pt x="118303" y="117999"/>
                </a:cubicBezTo>
                <a:lnTo>
                  <a:pt x="111893" y="77492"/>
                </a:lnTo>
                <a:lnTo>
                  <a:pt x="140874" y="48486"/>
                </a:lnTo>
                <a:cubicBezTo>
                  <a:pt x="142495" y="46865"/>
                  <a:pt x="143052" y="44484"/>
                  <a:pt x="142343" y="42305"/>
                </a:cubicBezTo>
                <a:cubicBezTo>
                  <a:pt x="141634" y="40127"/>
                  <a:pt x="139784" y="38531"/>
                  <a:pt x="137505" y="38176"/>
                </a:cubicBezTo>
                <a:lnTo>
                  <a:pt x="97023" y="31742"/>
                </a:lnTo>
                <a:lnTo>
                  <a:pt x="78404" y="-4788"/>
                </a:ln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46" name="Shape 44"/>
          <p:cNvSpPr/>
          <p:nvPr/>
        </p:nvSpPr>
        <p:spPr>
          <a:xfrm>
            <a:off x="7248033" y="2466195"/>
            <a:ext cx="145915" cy="129702"/>
          </a:xfrm>
          <a:custGeom>
            <a:avLst/>
            <a:gdLst/>
            <a:ahLst/>
            <a:cxnLst/>
            <a:rect l="l" t="t" r="r" b="b"/>
            <a:pathLst>
              <a:path w="145915" h="129702">
                <a:moveTo>
                  <a:pt x="78404" y="-4788"/>
                </a:moveTo>
                <a:cubicBezTo>
                  <a:pt x="77365" y="-6814"/>
                  <a:pt x="75263" y="-8106"/>
                  <a:pt x="72983" y="-8106"/>
                </a:cubicBezTo>
                <a:cubicBezTo>
                  <a:pt x="70703" y="-8106"/>
                  <a:pt x="68600" y="-6814"/>
                  <a:pt x="67562" y="-4788"/>
                </a:cubicBezTo>
                <a:lnTo>
                  <a:pt x="48917" y="31742"/>
                </a:lnTo>
                <a:lnTo>
                  <a:pt x="8410" y="38176"/>
                </a:lnTo>
                <a:cubicBezTo>
                  <a:pt x="6156" y="38531"/>
                  <a:pt x="4281" y="40127"/>
                  <a:pt x="3572" y="42305"/>
                </a:cubicBezTo>
                <a:cubicBezTo>
                  <a:pt x="2863" y="44484"/>
                  <a:pt x="3445" y="46865"/>
                  <a:pt x="5041" y="48486"/>
                </a:cubicBezTo>
                <a:lnTo>
                  <a:pt x="34021" y="77492"/>
                </a:lnTo>
                <a:lnTo>
                  <a:pt x="27638" y="117999"/>
                </a:lnTo>
                <a:cubicBezTo>
                  <a:pt x="27283" y="120253"/>
                  <a:pt x="28220" y="122533"/>
                  <a:pt x="30070" y="123876"/>
                </a:cubicBezTo>
                <a:cubicBezTo>
                  <a:pt x="31919" y="125218"/>
                  <a:pt x="34351" y="125421"/>
                  <a:pt x="36403" y="124382"/>
                </a:cubicBezTo>
                <a:lnTo>
                  <a:pt x="72983" y="105788"/>
                </a:lnTo>
                <a:lnTo>
                  <a:pt x="109538" y="124382"/>
                </a:lnTo>
                <a:cubicBezTo>
                  <a:pt x="111564" y="125421"/>
                  <a:pt x="114021" y="125218"/>
                  <a:pt x="115871" y="123876"/>
                </a:cubicBezTo>
                <a:cubicBezTo>
                  <a:pt x="117720" y="122533"/>
                  <a:pt x="118657" y="120278"/>
                  <a:pt x="118303" y="117999"/>
                </a:cubicBezTo>
                <a:lnTo>
                  <a:pt x="111893" y="77492"/>
                </a:lnTo>
                <a:lnTo>
                  <a:pt x="140874" y="48486"/>
                </a:lnTo>
                <a:cubicBezTo>
                  <a:pt x="142495" y="46865"/>
                  <a:pt x="143052" y="44484"/>
                  <a:pt x="142343" y="42305"/>
                </a:cubicBezTo>
                <a:cubicBezTo>
                  <a:pt x="141634" y="40127"/>
                  <a:pt x="139784" y="38531"/>
                  <a:pt x="137505" y="38176"/>
                </a:cubicBezTo>
                <a:lnTo>
                  <a:pt x="97023" y="31742"/>
                </a:lnTo>
                <a:lnTo>
                  <a:pt x="78404" y="-4788"/>
                </a:ln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47" name="Shape 45"/>
          <p:cNvSpPr/>
          <p:nvPr/>
        </p:nvSpPr>
        <p:spPr>
          <a:xfrm>
            <a:off x="7447219" y="2466195"/>
            <a:ext cx="145915" cy="129702"/>
          </a:xfrm>
          <a:custGeom>
            <a:avLst/>
            <a:gdLst/>
            <a:ahLst/>
            <a:cxnLst/>
            <a:rect l="l" t="t" r="r" b="b"/>
            <a:pathLst>
              <a:path w="145915" h="129702">
                <a:moveTo>
                  <a:pt x="78404" y="-4788"/>
                </a:moveTo>
                <a:cubicBezTo>
                  <a:pt x="77365" y="-6814"/>
                  <a:pt x="75263" y="-8106"/>
                  <a:pt x="72983" y="-8106"/>
                </a:cubicBezTo>
                <a:cubicBezTo>
                  <a:pt x="70703" y="-8106"/>
                  <a:pt x="68600" y="-6814"/>
                  <a:pt x="67562" y="-4788"/>
                </a:cubicBezTo>
                <a:lnTo>
                  <a:pt x="48917" y="31742"/>
                </a:lnTo>
                <a:lnTo>
                  <a:pt x="8410" y="38176"/>
                </a:lnTo>
                <a:cubicBezTo>
                  <a:pt x="6156" y="38531"/>
                  <a:pt x="4281" y="40127"/>
                  <a:pt x="3572" y="42305"/>
                </a:cubicBezTo>
                <a:cubicBezTo>
                  <a:pt x="2863" y="44484"/>
                  <a:pt x="3445" y="46865"/>
                  <a:pt x="5041" y="48486"/>
                </a:cubicBezTo>
                <a:lnTo>
                  <a:pt x="34021" y="77492"/>
                </a:lnTo>
                <a:lnTo>
                  <a:pt x="27638" y="117999"/>
                </a:lnTo>
                <a:cubicBezTo>
                  <a:pt x="27283" y="120253"/>
                  <a:pt x="28220" y="122533"/>
                  <a:pt x="30070" y="123876"/>
                </a:cubicBezTo>
                <a:cubicBezTo>
                  <a:pt x="31919" y="125218"/>
                  <a:pt x="34351" y="125421"/>
                  <a:pt x="36403" y="124382"/>
                </a:cubicBezTo>
                <a:lnTo>
                  <a:pt x="72983" y="105788"/>
                </a:lnTo>
                <a:lnTo>
                  <a:pt x="109538" y="124382"/>
                </a:lnTo>
                <a:cubicBezTo>
                  <a:pt x="111564" y="125421"/>
                  <a:pt x="114021" y="125218"/>
                  <a:pt x="115871" y="123876"/>
                </a:cubicBezTo>
                <a:cubicBezTo>
                  <a:pt x="117720" y="122533"/>
                  <a:pt x="118657" y="120278"/>
                  <a:pt x="118303" y="117999"/>
                </a:cubicBezTo>
                <a:lnTo>
                  <a:pt x="111893" y="77492"/>
                </a:lnTo>
                <a:lnTo>
                  <a:pt x="140874" y="48486"/>
                </a:lnTo>
                <a:cubicBezTo>
                  <a:pt x="142495" y="46865"/>
                  <a:pt x="143052" y="44484"/>
                  <a:pt x="142343" y="42305"/>
                </a:cubicBezTo>
                <a:cubicBezTo>
                  <a:pt x="141634" y="40127"/>
                  <a:pt x="139784" y="38531"/>
                  <a:pt x="137505" y="38176"/>
                </a:cubicBezTo>
                <a:lnTo>
                  <a:pt x="97023" y="31742"/>
                </a:lnTo>
                <a:lnTo>
                  <a:pt x="78404" y="-4788"/>
                </a:ln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48" name="Text 46"/>
          <p:cNvSpPr/>
          <p:nvPr/>
        </p:nvSpPr>
        <p:spPr>
          <a:xfrm>
            <a:off x="4625850" y="2734864"/>
            <a:ext cx="3038736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payment method—dominant usage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459090" y="3179557"/>
            <a:ext cx="3288875" cy="815271"/>
          </a:xfrm>
          <a:custGeom>
            <a:avLst/>
            <a:gdLst/>
            <a:ahLst/>
            <a:cxnLst/>
            <a:rect l="l" t="t" r="r" b="b"/>
            <a:pathLst>
              <a:path w="3288875" h="815271">
                <a:moveTo>
                  <a:pt x="37058" y="0"/>
                </a:moveTo>
                <a:lnTo>
                  <a:pt x="3214759" y="0"/>
                </a:lnTo>
                <a:cubicBezTo>
                  <a:pt x="3255692" y="0"/>
                  <a:pt x="3288875" y="33183"/>
                  <a:pt x="3288875" y="74116"/>
                </a:cubicBezTo>
                <a:lnTo>
                  <a:pt x="3288875" y="741154"/>
                </a:lnTo>
                <a:cubicBezTo>
                  <a:pt x="3288875" y="782088"/>
                  <a:pt x="3255692" y="815271"/>
                  <a:pt x="3214759" y="815271"/>
                </a:cubicBezTo>
                <a:lnTo>
                  <a:pt x="37058" y="815271"/>
                </a:lnTo>
                <a:cubicBezTo>
                  <a:pt x="16591" y="815271"/>
                  <a:pt x="0" y="798679"/>
                  <a:pt x="0" y="778213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gradFill rotWithShape="1" flip="none">
            <a:gsLst>
              <a:gs pos="0">
                <a:srgbClr val="6B4C9A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0" name="Shape 48"/>
          <p:cNvSpPr/>
          <p:nvPr/>
        </p:nvSpPr>
        <p:spPr>
          <a:xfrm>
            <a:off x="4459090" y="3179557"/>
            <a:ext cx="37058" cy="815271"/>
          </a:xfrm>
          <a:custGeom>
            <a:avLst/>
            <a:gdLst/>
            <a:ahLst/>
            <a:cxnLst/>
            <a:rect l="l" t="t" r="r" b="b"/>
            <a:pathLst>
              <a:path w="37058" h="815271">
                <a:moveTo>
                  <a:pt x="37058" y="0"/>
                </a:moveTo>
                <a:lnTo>
                  <a:pt x="37058" y="0"/>
                </a:lnTo>
                <a:lnTo>
                  <a:pt x="37058" y="815271"/>
                </a:lnTo>
                <a:lnTo>
                  <a:pt x="37058" y="815271"/>
                </a:lnTo>
                <a:cubicBezTo>
                  <a:pt x="16591" y="815271"/>
                  <a:pt x="0" y="798679"/>
                  <a:pt x="0" y="778213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6B4C9A"/>
          </a:solidFill>
          <a:ln/>
        </p:spPr>
      </p:sp>
      <p:sp>
        <p:nvSpPr>
          <p:cNvPr id="51" name="Shape 49"/>
          <p:cNvSpPr/>
          <p:nvPr/>
        </p:nvSpPr>
        <p:spPr>
          <a:xfrm>
            <a:off x="4669856" y="3374110"/>
            <a:ext cx="125070" cy="166760"/>
          </a:xfrm>
          <a:custGeom>
            <a:avLst/>
            <a:gdLst/>
            <a:ahLst/>
            <a:cxnLst/>
            <a:rect l="l" t="t" r="r" b="b"/>
            <a:pathLst>
              <a:path w="125070" h="166760">
                <a:moveTo>
                  <a:pt x="36446" y="96375"/>
                </a:moveTo>
                <a:cubicBezTo>
                  <a:pt x="35306" y="102629"/>
                  <a:pt x="30779" y="131779"/>
                  <a:pt x="29444" y="140020"/>
                </a:cubicBezTo>
                <a:cubicBezTo>
                  <a:pt x="29346" y="140606"/>
                  <a:pt x="29118" y="140834"/>
                  <a:pt x="28466" y="140834"/>
                </a:cubicBezTo>
                <a:lnTo>
                  <a:pt x="4169" y="140834"/>
                </a:lnTo>
                <a:cubicBezTo>
                  <a:pt x="1694" y="140834"/>
                  <a:pt x="-98" y="138684"/>
                  <a:pt x="228" y="136307"/>
                </a:cubicBezTo>
                <a:lnTo>
                  <a:pt x="19314" y="15178"/>
                </a:lnTo>
                <a:cubicBezTo>
                  <a:pt x="19803" y="12051"/>
                  <a:pt x="22604" y="9673"/>
                  <a:pt x="25828" y="9673"/>
                </a:cubicBezTo>
                <a:cubicBezTo>
                  <a:pt x="75433" y="9673"/>
                  <a:pt x="79602" y="8468"/>
                  <a:pt x="92272" y="13386"/>
                </a:cubicBezTo>
                <a:cubicBezTo>
                  <a:pt x="111846" y="20975"/>
                  <a:pt x="113638" y="39280"/>
                  <a:pt x="106603" y="59083"/>
                </a:cubicBezTo>
                <a:cubicBezTo>
                  <a:pt x="99600" y="79472"/>
                  <a:pt x="82989" y="88233"/>
                  <a:pt x="60972" y="88493"/>
                </a:cubicBezTo>
                <a:cubicBezTo>
                  <a:pt x="46836" y="88721"/>
                  <a:pt x="38335" y="86214"/>
                  <a:pt x="36446" y="96375"/>
                </a:cubicBezTo>
                <a:close/>
                <a:moveTo>
                  <a:pt x="116471" y="49507"/>
                </a:moveTo>
                <a:cubicBezTo>
                  <a:pt x="115885" y="49083"/>
                  <a:pt x="115657" y="48921"/>
                  <a:pt x="115494" y="49930"/>
                </a:cubicBezTo>
                <a:cubicBezTo>
                  <a:pt x="114843" y="53643"/>
                  <a:pt x="113833" y="57259"/>
                  <a:pt x="112628" y="60874"/>
                </a:cubicBezTo>
                <a:cubicBezTo>
                  <a:pt x="99633" y="97939"/>
                  <a:pt x="63610" y="94714"/>
                  <a:pt x="46022" y="94714"/>
                </a:cubicBezTo>
                <a:cubicBezTo>
                  <a:pt x="44035" y="94714"/>
                  <a:pt x="42732" y="95789"/>
                  <a:pt x="42472" y="97776"/>
                </a:cubicBezTo>
                <a:cubicBezTo>
                  <a:pt x="35111" y="143505"/>
                  <a:pt x="33645" y="153048"/>
                  <a:pt x="33645" y="153048"/>
                </a:cubicBezTo>
                <a:cubicBezTo>
                  <a:pt x="33319" y="155360"/>
                  <a:pt x="34785" y="157249"/>
                  <a:pt x="37098" y="157249"/>
                </a:cubicBezTo>
                <a:lnTo>
                  <a:pt x="57780" y="157249"/>
                </a:lnTo>
                <a:cubicBezTo>
                  <a:pt x="60581" y="157249"/>
                  <a:pt x="62893" y="155197"/>
                  <a:pt x="63447" y="152396"/>
                </a:cubicBezTo>
                <a:cubicBezTo>
                  <a:pt x="63675" y="150638"/>
                  <a:pt x="63089" y="154383"/>
                  <a:pt x="68137" y="122660"/>
                </a:cubicBezTo>
                <a:cubicBezTo>
                  <a:pt x="69635" y="115494"/>
                  <a:pt x="72795" y="116243"/>
                  <a:pt x="77680" y="116243"/>
                </a:cubicBezTo>
                <a:cubicBezTo>
                  <a:pt x="100805" y="116243"/>
                  <a:pt x="118849" y="106863"/>
                  <a:pt x="124223" y="79667"/>
                </a:cubicBezTo>
                <a:cubicBezTo>
                  <a:pt x="126340" y="68332"/>
                  <a:pt x="125721" y="56412"/>
                  <a:pt x="116471" y="49507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52" name="Text 50"/>
          <p:cNvSpPr/>
          <p:nvPr/>
        </p:nvSpPr>
        <p:spPr>
          <a:xfrm>
            <a:off x="4945473" y="3327788"/>
            <a:ext cx="555866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PayPal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048848" y="3392639"/>
            <a:ext cx="145915" cy="129702"/>
          </a:xfrm>
          <a:custGeom>
            <a:avLst/>
            <a:gdLst/>
            <a:ahLst/>
            <a:cxnLst/>
            <a:rect l="l" t="t" r="r" b="b"/>
            <a:pathLst>
              <a:path w="145915" h="129702">
                <a:moveTo>
                  <a:pt x="78404" y="-4788"/>
                </a:moveTo>
                <a:cubicBezTo>
                  <a:pt x="77365" y="-6814"/>
                  <a:pt x="75263" y="-8106"/>
                  <a:pt x="72983" y="-8106"/>
                </a:cubicBezTo>
                <a:cubicBezTo>
                  <a:pt x="70703" y="-8106"/>
                  <a:pt x="68600" y="-6814"/>
                  <a:pt x="67562" y="-4788"/>
                </a:cubicBezTo>
                <a:lnTo>
                  <a:pt x="48917" y="31742"/>
                </a:lnTo>
                <a:lnTo>
                  <a:pt x="8410" y="38176"/>
                </a:lnTo>
                <a:cubicBezTo>
                  <a:pt x="6156" y="38531"/>
                  <a:pt x="4281" y="40127"/>
                  <a:pt x="3572" y="42305"/>
                </a:cubicBezTo>
                <a:cubicBezTo>
                  <a:pt x="2863" y="44484"/>
                  <a:pt x="3445" y="46865"/>
                  <a:pt x="5041" y="48486"/>
                </a:cubicBezTo>
                <a:lnTo>
                  <a:pt x="34021" y="77492"/>
                </a:lnTo>
                <a:lnTo>
                  <a:pt x="27638" y="117999"/>
                </a:lnTo>
                <a:cubicBezTo>
                  <a:pt x="27283" y="120253"/>
                  <a:pt x="28220" y="122533"/>
                  <a:pt x="30070" y="123876"/>
                </a:cubicBezTo>
                <a:cubicBezTo>
                  <a:pt x="31919" y="125218"/>
                  <a:pt x="34351" y="125421"/>
                  <a:pt x="36403" y="124382"/>
                </a:cubicBezTo>
                <a:lnTo>
                  <a:pt x="72983" y="105788"/>
                </a:lnTo>
                <a:lnTo>
                  <a:pt x="109538" y="124382"/>
                </a:lnTo>
                <a:cubicBezTo>
                  <a:pt x="111564" y="125421"/>
                  <a:pt x="114021" y="125218"/>
                  <a:pt x="115871" y="123876"/>
                </a:cubicBezTo>
                <a:cubicBezTo>
                  <a:pt x="117720" y="122533"/>
                  <a:pt x="118657" y="120278"/>
                  <a:pt x="118303" y="117999"/>
                </a:cubicBezTo>
                <a:lnTo>
                  <a:pt x="111893" y="77492"/>
                </a:lnTo>
                <a:lnTo>
                  <a:pt x="140874" y="48486"/>
                </a:lnTo>
                <a:cubicBezTo>
                  <a:pt x="142495" y="46865"/>
                  <a:pt x="143052" y="44484"/>
                  <a:pt x="142343" y="42305"/>
                </a:cubicBezTo>
                <a:cubicBezTo>
                  <a:pt x="141634" y="40127"/>
                  <a:pt x="139784" y="38531"/>
                  <a:pt x="137505" y="38176"/>
                </a:cubicBezTo>
                <a:lnTo>
                  <a:pt x="97023" y="31742"/>
                </a:lnTo>
                <a:lnTo>
                  <a:pt x="78404" y="-4788"/>
                </a:ln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54" name="Shape 52"/>
          <p:cNvSpPr/>
          <p:nvPr/>
        </p:nvSpPr>
        <p:spPr>
          <a:xfrm>
            <a:off x="7248033" y="3392639"/>
            <a:ext cx="145915" cy="129702"/>
          </a:xfrm>
          <a:custGeom>
            <a:avLst/>
            <a:gdLst/>
            <a:ahLst/>
            <a:cxnLst/>
            <a:rect l="l" t="t" r="r" b="b"/>
            <a:pathLst>
              <a:path w="145915" h="129702">
                <a:moveTo>
                  <a:pt x="78404" y="-4788"/>
                </a:moveTo>
                <a:cubicBezTo>
                  <a:pt x="77365" y="-6814"/>
                  <a:pt x="75263" y="-8106"/>
                  <a:pt x="72983" y="-8106"/>
                </a:cubicBezTo>
                <a:cubicBezTo>
                  <a:pt x="70703" y="-8106"/>
                  <a:pt x="68600" y="-6814"/>
                  <a:pt x="67562" y="-4788"/>
                </a:cubicBezTo>
                <a:lnTo>
                  <a:pt x="48917" y="31742"/>
                </a:lnTo>
                <a:lnTo>
                  <a:pt x="8410" y="38176"/>
                </a:lnTo>
                <a:cubicBezTo>
                  <a:pt x="6156" y="38531"/>
                  <a:pt x="4281" y="40127"/>
                  <a:pt x="3572" y="42305"/>
                </a:cubicBezTo>
                <a:cubicBezTo>
                  <a:pt x="2863" y="44484"/>
                  <a:pt x="3445" y="46865"/>
                  <a:pt x="5041" y="48486"/>
                </a:cubicBezTo>
                <a:lnTo>
                  <a:pt x="34021" y="77492"/>
                </a:lnTo>
                <a:lnTo>
                  <a:pt x="27638" y="117999"/>
                </a:lnTo>
                <a:cubicBezTo>
                  <a:pt x="27283" y="120253"/>
                  <a:pt x="28220" y="122533"/>
                  <a:pt x="30070" y="123876"/>
                </a:cubicBezTo>
                <a:cubicBezTo>
                  <a:pt x="31919" y="125218"/>
                  <a:pt x="34351" y="125421"/>
                  <a:pt x="36403" y="124382"/>
                </a:cubicBezTo>
                <a:lnTo>
                  <a:pt x="72983" y="105788"/>
                </a:lnTo>
                <a:lnTo>
                  <a:pt x="109538" y="124382"/>
                </a:lnTo>
                <a:cubicBezTo>
                  <a:pt x="111564" y="125421"/>
                  <a:pt x="114021" y="125218"/>
                  <a:pt x="115871" y="123876"/>
                </a:cubicBezTo>
                <a:cubicBezTo>
                  <a:pt x="117720" y="122533"/>
                  <a:pt x="118657" y="120278"/>
                  <a:pt x="118303" y="117999"/>
                </a:cubicBezTo>
                <a:lnTo>
                  <a:pt x="111893" y="77492"/>
                </a:lnTo>
                <a:lnTo>
                  <a:pt x="140874" y="48486"/>
                </a:lnTo>
                <a:cubicBezTo>
                  <a:pt x="142495" y="46865"/>
                  <a:pt x="143052" y="44484"/>
                  <a:pt x="142343" y="42305"/>
                </a:cubicBezTo>
                <a:cubicBezTo>
                  <a:pt x="141634" y="40127"/>
                  <a:pt x="139784" y="38531"/>
                  <a:pt x="137505" y="38176"/>
                </a:cubicBezTo>
                <a:lnTo>
                  <a:pt x="97023" y="31742"/>
                </a:lnTo>
                <a:lnTo>
                  <a:pt x="78404" y="-4788"/>
                </a:ln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55" name="Shape 53"/>
          <p:cNvSpPr/>
          <p:nvPr/>
        </p:nvSpPr>
        <p:spPr>
          <a:xfrm>
            <a:off x="7447219" y="3392639"/>
            <a:ext cx="145915" cy="129702"/>
          </a:xfrm>
          <a:custGeom>
            <a:avLst/>
            <a:gdLst/>
            <a:ahLst/>
            <a:cxnLst/>
            <a:rect l="l" t="t" r="r" b="b"/>
            <a:pathLst>
              <a:path w="145915" h="129702">
                <a:moveTo>
                  <a:pt x="78404" y="-4788"/>
                </a:moveTo>
                <a:cubicBezTo>
                  <a:pt x="77365" y="-6814"/>
                  <a:pt x="75263" y="-8106"/>
                  <a:pt x="72983" y="-8106"/>
                </a:cubicBezTo>
                <a:cubicBezTo>
                  <a:pt x="70703" y="-8106"/>
                  <a:pt x="68600" y="-6814"/>
                  <a:pt x="67562" y="-4788"/>
                </a:cubicBezTo>
                <a:lnTo>
                  <a:pt x="48917" y="31742"/>
                </a:lnTo>
                <a:lnTo>
                  <a:pt x="8410" y="38176"/>
                </a:lnTo>
                <a:cubicBezTo>
                  <a:pt x="6156" y="38531"/>
                  <a:pt x="4281" y="40127"/>
                  <a:pt x="3572" y="42305"/>
                </a:cubicBezTo>
                <a:cubicBezTo>
                  <a:pt x="2863" y="44484"/>
                  <a:pt x="3445" y="46865"/>
                  <a:pt x="5041" y="48486"/>
                </a:cubicBezTo>
                <a:lnTo>
                  <a:pt x="34021" y="77492"/>
                </a:lnTo>
                <a:lnTo>
                  <a:pt x="27638" y="117999"/>
                </a:lnTo>
                <a:cubicBezTo>
                  <a:pt x="27283" y="120253"/>
                  <a:pt x="28220" y="122533"/>
                  <a:pt x="30070" y="123876"/>
                </a:cubicBezTo>
                <a:cubicBezTo>
                  <a:pt x="31919" y="125218"/>
                  <a:pt x="34351" y="125421"/>
                  <a:pt x="36403" y="124382"/>
                </a:cubicBezTo>
                <a:lnTo>
                  <a:pt x="72983" y="105788"/>
                </a:lnTo>
                <a:lnTo>
                  <a:pt x="109538" y="124382"/>
                </a:lnTo>
                <a:cubicBezTo>
                  <a:pt x="111564" y="125421"/>
                  <a:pt x="114021" y="125218"/>
                  <a:pt x="115871" y="123876"/>
                </a:cubicBezTo>
                <a:cubicBezTo>
                  <a:pt x="117720" y="122533"/>
                  <a:pt x="118657" y="120278"/>
                  <a:pt x="118303" y="117999"/>
                </a:cubicBezTo>
                <a:lnTo>
                  <a:pt x="111893" y="77492"/>
                </a:lnTo>
                <a:lnTo>
                  <a:pt x="140874" y="48486"/>
                </a:lnTo>
                <a:cubicBezTo>
                  <a:pt x="142495" y="46865"/>
                  <a:pt x="143052" y="44484"/>
                  <a:pt x="142343" y="42305"/>
                </a:cubicBezTo>
                <a:cubicBezTo>
                  <a:pt x="141634" y="40127"/>
                  <a:pt x="139784" y="38531"/>
                  <a:pt x="137505" y="38176"/>
                </a:cubicBezTo>
                <a:lnTo>
                  <a:pt x="97023" y="31742"/>
                </a:lnTo>
                <a:lnTo>
                  <a:pt x="78404" y="-4788"/>
                </a:ln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56" name="Text 54"/>
          <p:cNvSpPr/>
          <p:nvPr/>
        </p:nvSpPr>
        <p:spPr>
          <a:xfrm>
            <a:off x="4625850" y="3661308"/>
            <a:ext cx="3038736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preference—trusted digital wallet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459090" y="4106001"/>
            <a:ext cx="3288875" cy="815271"/>
          </a:xfrm>
          <a:custGeom>
            <a:avLst/>
            <a:gdLst/>
            <a:ahLst/>
            <a:cxnLst/>
            <a:rect l="l" t="t" r="r" b="b"/>
            <a:pathLst>
              <a:path w="3288875" h="815271">
                <a:moveTo>
                  <a:pt x="37058" y="0"/>
                </a:moveTo>
                <a:lnTo>
                  <a:pt x="3214759" y="0"/>
                </a:lnTo>
                <a:cubicBezTo>
                  <a:pt x="3255692" y="0"/>
                  <a:pt x="3288875" y="33183"/>
                  <a:pt x="3288875" y="74116"/>
                </a:cubicBezTo>
                <a:lnTo>
                  <a:pt x="3288875" y="741154"/>
                </a:lnTo>
                <a:cubicBezTo>
                  <a:pt x="3288875" y="782088"/>
                  <a:pt x="3255692" y="815271"/>
                  <a:pt x="3214759" y="815271"/>
                </a:cubicBezTo>
                <a:lnTo>
                  <a:pt x="37058" y="815271"/>
                </a:lnTo>
                <a:cubicBezTo>
                  <a:pt x="16591" y="815271"/>
                  <a:pt x="0" y="798679"/>
                  <a:pt x="0" y="778213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gradFill rotWithShape="1" flip="none">
            <a:gsLst>
              <a:gs pos="0">
                <a:srgbClr val="6B4C9A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8" name="Shape 56"/>
          <p:cNvSpPr/>
          <p:nvPr/>
        </p:nvSpPr>
        <p:spPr>
          <a:xfrm>
            <a:off x="4459090" y="4106001"/>
            <a:ext cx="37058" cy="815271"/>
          </a:xfrm>
          <a:custGeom>
            <a:avLst/>
            <a:gdLst/>
            <a:ahLst/>
            <a:cxnLst/>
            <a:rect l="l" t="t" r="r" b="b"/>
            <a:pathLst>
              <a:path w="37058" h="815271">
                <a:moveTo>
                  <a:pt x="37058" y="0"/>
                </a:moveTo>
                <a:lnTo>
                  <a:pt x="37058" y="0"/>
                </a:lnTo>
                <a:lnTo>
                  <a:pt x="37058" y="815271"/>
                </a:lnTo>
                <a:lnTo>
                  <a:pt x="37058" y="815271"/>
                </a:lnTo>
                <a:cubicBezTo>
                  <a:pt x="16591" y="815271"/>
                  <a:pt x="0" y="798679"/>
                  <a:pt x="0" y="778213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6B4C9A"/>
          </a:solidFill>
          <a:ln/>
        </p:spPr>
      </p:sp>
      <p:sp>
        <p:nvSpPr>
          <p:cNvPr id="59" name="Shape 57"/>
          <p:cNvSpPr/>
          <p:nvPr/>
        </p:nvSpPr>
        <p:spPr>
          <a:xfrm>
            <a:off x="4649011" y="4300554"/>
            <a:ext cx="166760" cy="166760"/>
          </a:xfrm>
          <a:custGeom>
            <a:avLst/>
            <a:gdLst/>
            <a:ahLst/>
            <a:cxnLst/>
            <a:rect l="l" t="t" r="r" b="b"/>
            <a:pathLst>
              <a:path w="166760" h="166760">
                <a:moveTo>
                  <a:pt x="88559" y="6579"/>
                </a:moveTo>
                <a:cubicBezTo>
                  <a:pt x="85367" y="4755"/>
                  <a:pt x="81426" y="4755"/>
                  <a:pt x="78201" y="6579"/>
                </a:cubicBezTo>
                <a:lnTo>
                  <a:pt x="5244" y="48269"/>
                </a:lnTo>
                <a:cubicBezTo>
                  <a:pt x="1140" y="50614"/>
                  <a:pt x="-879" y="55435"/>
                  <a:pt x="326" y="59994"/>
                </a:cubicBezTo>
                <a:cubicBezTo>
                  <a:pt x="1531" y="64554"/>
                  <a:pt x="5700" y="67746"/>
                  <a:pt x="10422" y="67746"/>
                </a:cubicBezTo>
                <a:lnTo>
                  <a:pt x="20845" y="67746"/>
                </a:lnTo>
                <a:lnTo>
                  <a:pt x="20845" y="135492"/>
                </a:lnTo>
                <a:lnTo>
                  <a:pt x="20845" y="135492"/>
                </a:lnTo>
                <a:lnTo>
                  <a:pt x="4169" y="147999"/>
                </a:lnTo>
                <a:cubicBezTo>
                  <a:pt x="1531" y="149954"/>
                  <a:pt x="0" y="153048"/>
                  <a:pt x="0" y="156337"/>
                </a:cubicBezTo>
                <a:cubicBezTo>
                  <a:pt x="0" y="162102"/>
                  <a:pt x="4658" y="166760"/>
                  <a:pt x="10422" y="166760"/>
                </a:cubicBezTo>
                <a:lnTo>
                  <a:pt x="156337" y="166760"/>
                </a:lnTo>
                <a:cubicBezTo>
                  <a:pt x="162102" y="166760"/>
                  <a:pt x="166760" y="162102"/>
                  <a:pt x="166760" y="156337"/>
                </a:cubicBezTo>
                <a:cubicBezTo>
                  <a:pt x="166760" y="153048"/>
                  <a:pt x="165229" y="149954"/>
                  <a:pt x="162591" y="147999"/>
                </a:cubicBezTo>
                <a:lnTo>
                  <a:pt x="145915" y="135492"/>
                </a:lnTo>
                <a:lnTo>
                  <a:pt x="145915" y="67746"/>
                </a:lnTo>
                <a:lnTo>
                  <a:pt x="156337" y="67746"/>
                </a:lnTo>
                <a:cubicBezTo>
                  <a:pt x="161060" y="67746"/>
                  <a:pt x="165197" y="64554"/>
                  <a:pt x="166402" y="59994"/>
                </a:cubicBezTo>
                <a:cubicBezTo>
                  <a:pt x="167607" y="55435"/>
                  <a:pt x="165587" y="50614"/>
                  <a:pt x="161483" y="48269"/>
                </a:cubicBezTo>
                <a:lnTo>
                  <a:pt x="88526" y="6579"/>
                </a:lnTo>
                <a:close/>
                <a:moveTo>
                  <a:pt x="130281" y="67746"/>
                </a:moveTo>
                <a:lnTo>
                  <a:pt x="130281" y="135492"/>
                </a:lnTo>
                <a:lnTo>
                  <a:pt x="109436" y="135492"/>
                </a:lnTo>
                <a:lnTo>
                  <a:pt x="109436" y="67746"/>
                </a:lnTo>
                <a:lnTo>
                  <a:pt x="130281" y="67746"/>
                </a:lnTo>
                <a:close/>
                <a:moveTo>
                  <a:pt x="93802" y="67746"/>
                </a:moveTo>
                <a:lnTo>
                  <a:pt x="93802" y="135492"/>
                </a:lnTo>
                <a:lnTo>
                  <a:pt x="72957" y="135492"/>
                </a:lnTo>
                <a:lnTo>
                  <a:pt x="72957" y="67746"/>
                </a:lnTo>
                <a:lnTo>
                  <a:pt x="93802" y="67746"/>
                </a:lnTo>
                <a:close/>
                <a:moveTo>
                  <a:pt x="57324" y="67746"/>
                </a:moveTo>
                <a:lnTo>
                  <a:pt x="57324" y="135492"/>
                </a:lnTo>
                <a:lnTo>
                  <a:pt x="36479" y="135492"/>
                </a:lnTo>
                <a:lnTo>
                  <a:pt x="36479" y="67746"/>
                </a:lnTo>
                <a:lnTo>
                  <a:pt x="57324" y="67746"/>
                </a:lnTo>
                <a:close/>
                <a:moveTo>
                  <a:pt x="83380" y="31267"/>
                </a:moveTo>
                <a:cubicBezTo>
                  <a:pt x="89132" y="31267"/>
                  <a:pt x="93802" y="35938"/>
                  <a:pt x="93802" y="41690"/>
                </a:cubicBezTo>
                <a:cubicBezTo>
                  <a:pt x="93802" y="47442"/>
                  <a:pt x="89132" y="52112"/>
                  <a:pt x="83380" y="52112"/>
                </a:cubicBezTo>
                <a:cubicBezTo>
                  <a:pt x="77628" y="52112"/>
                  <a:pt x="72957" y="47442"/>
                  <a:pt x="72957" y="41690"/>
                </a:cubicBezTo>
                <a:cubicBezTo>
                  <a:pt x="72957" y="35938"/>
                  <a:pt x="77628" y="31267"/>
                  <a:pt x="83380" y="31267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60" name="Text 58"/>
          <p:cNvSpPr/>
          <p:nvPr/>
        </p:nvSpPr>
        <p:spPr>
          <a:xfrm>
            <a:off x="4945473" y="4254232"/>
            <a:ext cx="861593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Debit Card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048848" y="4319083"/>
            <a:ext cx="145915" cy="129702"/>
          </a:xfrm>
          <a:custGeom>
            <a:avLst/>
            <a:gdLst/>
            <a:ahLst/>
            <a:cxnLst/>
            <a:rect l="l" t="t" r="r" b="b"/>
            <a:pathLst>
              <a:path w="145915" h="129702">
                <a:moveTo>
                  <a:pt x="78404" y="-4788"/>
                </a:moveTo>
                <a:cubicBezTo>
                  <a:pt x="77365" y="-6814"/>
                  <a:pt x="75263" y="-8106"/>
                  <a:pt x="72983" y="-8106"/>
                </a:cubicBezTo>
                <a:cubicBezTo>
                  <a:pt x="70703" y="-8106"/>
                  <a:pt x="68600" y="-6814"/>
                  <a:pt x="67562" y="-4788"/>
                </a:cubicBezTo>
                <a:lnTo>
                  <a:pt x="48917" y="31742"/>
                </a:lnTo>
                <a:lnTo>
                  <a:pt x="8410" y="38176"/>
                </a:lnTo>
                <a:cubicBezTo>
                  <a:pt x="6156" y="38531"/>
                  <a:pt x="4281" y="40127"/>
                  <a:pt x="3572" y="42305"/>
                </a:cubicBezTo>
                <a:cubicBezTo>
                  <a:pt x="2863" y="44484"/>
                  <a:pt x="3445" y="46865"/>
                  <a:pt x="5041" y="48486"/>
                </a:cubicBezTo>
                <a:lnTo>
                  <a:pt x="34021" y="77492"/>
                </a:lnTo>
                <a:lnTo>
                  <a:pt x="27638" y="117999"/>
                </a:lnTo>
                <a:cubicBezTo>
                  <a:pt x="27283" y="120253"/>
                  <a:pt x="28220" y="122533"/>
                  <a:pt x="30070" y="123876"/>
                </a:cubicBezTo>
                <a:cubicBezTo>
                  <a:pt x="31919" y="125218"/>
                  <a:pt x="34351" y="125421"/>
                  <a:pt x="36403" y="124382"/>
                </a:cubicBezTo>
                <a:lnTo>
                  <a:pt x="72983" y="105788"/>
                </a:lnTo>
                <a:lnTo>
                  <a:pt x="109538" y="124382"/>
                </a:lnTo>
                <a:cubicBezTo>
                  <a:pt x="111564" y="125421"/>
                  <a:pt x="114021" y="125218"/>
                  <a:pt x="115871" y="123876"/>
                </a:cubicBezTo>
                <a:cubicBezTo>
                  <a:pt x="117720" y="122533"/>
                  <a:pt x="118657" y="120278"/>
                  <a:pt x="118303" y="117999"/>
                </a:cubicBezTo>
                <a:lnTo>
                  <a:pt x="111893" y="77492"/>
                </a:lnTo>
                <a:lnTo>
                  <a:pt x="140874" y="48486"/>
                </a:lnTo>
                <a:cubicBezTo>
                  <a:pt x="142495" y="46865"/>
                  <a:pt x="143052" y="44484"/>
                  <a:pt x="142343" y="42305"/>
                </a:cubicBezTo>
                <a:cubicBezTo>
                  <a:pt x="141634" y="40127"/>
                  <a:pt x="139784" y="38531"/>
                  <a:pt x="137505" y="38176"/>
                </a:cubicBezTo>
                <a:lnTo>
                  <a:pt x="97023" y="31742"/>
                </a:lnTo>
                <a:lnTo>
                  <a:pt x="78404" y="-4788"/>
                </a:ln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62" name="Shape 60"/>
          <p:cNvSpPr/>
          <p:nvPr/>
        </p:nvSpPr>
        <p:spPr>
          <a:xfrm>
            <a:off x="7248033" y="4319083"/>
            <a:ext cx="145915" cy="129702"/>
          </a:xfrm>
          <a:custGeom>
            <a:avLst/>
            <a:gdLst/>
            <a:ahLst/>
            <a:cxnLst/>
            <a:rect l="l" t="t" r="r" b="b"/>
            <a:pathLst>
              <a:path w="145915" h="129702">
                <a:moveTo>
                  <a:pt x="78404" y="-4788"/>
                </a:moveTo>
                <a:cubicBezTo>
                  <a:pt x="77365" y="-6814"/>
                  <a:pt x="75263" y="-8106"/>
                  <a:pt x="72983" y="-8106"/>
                </a:cubicBezTo>
                <a:cubicBezTo>
                  <a:pt x="70703" y="-8106"/>
                  <a:pt x="68600" y="-6814"/>
                  <a:pt x="67562" y="-4788"/>
                </a:cubicBezTo>
                <a:lnTo>
                  <a:pt x="48917" y="31742"/>
                </a:lnTo>
                <a:lnTo>
                  <a:pt x="8410" y="38176"/>
                </a:lnTo>
                <a:cubicBezTo>
                  <a:pt x="6156" y="38531"/>
                  <a:pt x="4281" y="40127"/>
                  <a:pt x="3572" y="42305"/>
                </a:cubicBezTo>
                <a:cubicBezTo>
                  <a:pt x="2863" y="44484"/>
                  <a:pt x="3445" y="46865"/>
                  <a:pt x="5041" y="48486"/>
                </a:cubicBezTo>
                <a:lnTo>
                  <a:pt x="34021" y="77492"/>
                </a:lnTo>
                <a:lnTo>
                  <a:pt x="27638" y="117999"/>
                </a:lnTo>
                <a:cubicBezTo>
                  <a:pt x="27283" y="120253"/>
                  <a:pt x="28220" y="122533"/>
                  <a:pt x="30070" y="123876"/>
                </a:cubicBezTo>
                <a:cubicBezTo>
                  <a:pt x="31919" y="125218"/>
                  <a:pt x="34351" y="125421"/>
                  <a:pt x="36403" y="124382"/>
                </a:cubicBezTo>
                <a:lnTo>
                  <a:pt x="72983" y="105788"/>
                </a:lnTo>
                <a:lnTo>
                  <a:pt x="109538" y="124382"/>
                </a:lnTo>
                <a:cubicBezTo>
                  <a:pt x="111564" y="125421"/>
                  <a:pt x="114021" y="125218"/>
                  <a:pt x="115871" y="123876"/>
                </a:cubicBezTo>
                <a:cubicBezTo>
                  <a:pt x="117720" y="122533"/>
                  <a:pt x="118657" y="120278"/>
                  <a:pt x="118303" y="117999"/>
                </a:cubicBezTo>
                <a:lnTo>
                  <a:pt x="111893" y="77492"/>
                </a:lnTo>
                <a:lnTo>
                  <a:pt x="140874" y="48486"/>
                </a:lnTo>
                <a:cubicBezTo>
                  <a:pt x="142495" y="46865"/>
                  <a:pt x="143052" y="44484"/>
                  <a:pt x="142343" y="42305"/>
                </a:cubicBezTo>
                <a:cubicBezTo>
                  <a:pt x="141634" y="40127"/>
                  <a:pt x="139784" y="38531"/>
                  <a:pt x="137505" y="38176"/>
                </a:cubicBezTo>
                <a:lnTo>
                  <a:pt x="97023" y="31742"/>
                </a:lnTo>
                <a:lnTo>
                  <a:pt x="78404" y="-4788"/>
                </a:ln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63" name="Shape 61"/>
          <p:cNvSpPr/>
          <p:nvPr/>
        </p:nvSpPr>
        <p:spPr>
          <a:xfrm>
            <a:off x="7447219" y="4319083"/>
            <a:ext cx="145915" cy="129702"/>
          </a:xfrm>
          <a:custGeom>
            <a:avLst/>
            <a:gdLst/>
            <a:ahLst/>
            <a:cxnLst/>
            <a:rect l="l" t="t" r="r" b="b"/>
            <a:pathLst>
              <a:path w="145915" h="129702">
                <a:moveTo>
                  <a:pt x="78404" y="-4788"/>
                </a:moveTo>
                <a:cubicBezTo>
                  <a:pt x="77365" y="-6814"/>
                  <a:pt x="75263" y="-8106"/>
                  <a:pt x="72983" y="-8106"/>
                </a:cubicBezTo>
                <a:cubicBezTo>
                  <a:pt x="70703" y="-8106"/>
                  <a:pt x="68600" y="-6814"/>
                  <a:pt x="67562" y="-4788"/>
                </a:cubicBezTo>
                <a:lnTo>
                  <a:pt x="48917" y="31742"/>
                </a:lnTo>
                <a:lnTo>
                  <a:pt x="8410" y="38176"/>
                </a:lnTo>
                <a:cubicBezTo>
                  <a:pt x="6156" y="38531"/>
                  <a:pt x="4281" y="40127"/>
                  <a:pt x="3572" y="42305"/>
                </a:cubicBezTo>
                <a:cubicBezTo>
                  <a:pt x="2863" y="44484"/>
                  <a:pt x="3445" y="46865"/>
                  <a:pt x="5041" y="48486"/>
                </a:cubicBezTo>
                <a:lnTo>
                  <a:pt x="34021" y="77492"/>
                </a:lnTo>
                <a:lnTo>
                  <a:pt x="27638" y="117999"/>
                </a:lnTo>
                <a:cubicBezTo>
                  <a:pt x="27283" y="120253"/>
                  <a:pt x="28220" y="122533"/>
                  <a:pt x="30070" y="123876"/>
                </a:cubicBezTo>
                <a:cubicBezTo>
                  <a:pt x="31919" y="125218"/>
                  <a:pt x="34351" y="125421"/>
                  <a:pt x="36403" y="124382"/>
                </a:cubicBezTo>
                <a:lnTo>
                  <a:pt x="72983" y="105788"/>
                </a:lnTo>
                <a:lnTo>
                  <a:pt x="109538" y="124382"/>
                </a:lnTo>
                <a:cubicBezTo>
                  <a:pt x="111564" y="125421"/>
                  <a:pt x="114021" y="125218"/>
                  <a:pt x="115871" y="123876"/>
                </a:cubicBezTo>
                <a:cubicBezTo>
                  <a:pt x="117720" y="122533"/>
                  <a:pt x="118657" y="120278"/>
                  <a:pt x="118303" y="117999"/>
                </a:cubicBezTo>
                <a:lnTo>
                  <a:pt x="111893" y="77492"/>
                </a:lnTo>
                <a:lnTo>
                  <a:pt x="140874" y="48486"/>
                </a:lnTo>
                <a:cubicBezTo>
                  <a:pt x="142495" y="46865"/>
                  <a:pt x="143052" y="44484"/>
                  <a:pt x="142343" y="42305"/>
                </a:cubicBezTo>
                <a:cubicBezTo>
                  <a:pt x="141634" y="40127"/>
                  <a:pt x="139784" y="38531"/>
                  <a:pt x="137505" y="38176"/>
                </a:cubicBezTo>
                <a:lnTo>
                  <a:pt x="97023" y="31742"/>
                </a:lnTo>
                <a:lnTo>
                  <a:pt x="78404" y="-4788"/>
                </a:ln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64" name="Text 62"/>
          <p:cNvSpPr/>
          <p:nvPr/>
        </p:nvSpPr>
        <p:spPr>
          <a:xfrm>
            <a:off x="4625850" y="4587751"/>
            <a:ext cx="3038736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Widely used—direct bank access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440561" y="5032444"/>
            <a:ext cx="1593483" cy="592924"/>
          </a:xfrm>
          <a:custGeom>
            <a:avLst/>
            <a:gdLst/>
            <a:ahLst/>
            <a:cxnLst/>
            <a:rect l="l" t="t" r="r" b="b"/>
            <a:pathLst>
              <a:path w="1593483" h="592924">
                <a:moveTo>
                  <a:pt x="74116" y="0"/>
                </a:moveTo>
                <a:lnTo>
                  <a:pt x="1519368" y="0"/>
                </a:lnTo>
                <a:cubicBezTo>
                  <a:pt x="1560301" y="0"/>
                  <a:pt x="1593483" y="33183"/>
                  <a:pt x="1593483" y="74116"/>
                </a:cubicBezTo>
                <a:lnTo>
                  <a:pt x="1593483" y="518809"/>
                </a:lnTo>
                <a:cubicBezTo>
                  <a:pt x="1593483" y="559741"/>
                  <a:pt x="1560301" y="592924"/>
                  <a:pt x="1519368" y="592924"/>
                </a:cubicBezTo>
                <a:lnTo>
                  <a:pt x="74116" y="592924"/>
                </a:lnTo>
                <a:cubicBezTo>
                  <a:pt x="33183" y="592924"/>
                  <a:pt x="0" y="559741"/>
                  <a:pt x="0" y="518809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1A1A2E">
              <a:alpha val="50196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4588792" y="5162146"/>
            <a:ext cx="111173" cy="148231"/>
          </a:xfrm>
          <a:custGeom>
            <a:avLst/>
            <a:gdLst/>
            <a:ahLst/>
            <a:cxnLst/>
            <a:rect l="l" t="t" r="r" b="b"/>
            <a:pathLst>
              <a:path w="111173" h="148231">
                <a:moveTo>
                  <a:pt x="4632" y="18529"/>
                </a:moveTo>
                <a:cubicBezTo>
                  <a:pt x="4632" y="8309"/>
                  <a:pt x="12941" y="0"/>
                  <a:pt x="23161" y="0"/>
                </a:cubicBezTo>
                <a:lnTo>
                  <a:pt x="88012" y="0"/>
                </a:lnTo>
                <a:cubicBezTo>
                  <a:pt x="98232" y="0"/>
                  <a:pt x="106541" y="8309"/>
                  <a:pt x="106541" y="18529"/>
                </a:cubicBezTo>
                <a:lnTo>
                  <a:pt x="106541" y="129702"/>
                </a:lnTo>
                <a:cubicBezTo>
                  <a:pt x="106541" y="139922"/>
                  <a:pt x="98232" y="148231"/>
                  <a:pt x="88012" y="148231"/>
                </a:cubicBezTo>
                <a:lnTo>
                  <a:pt x="23161" y="148231"/>
                </a:lnTo>
                <a:cubicBezTo>
                  <a:pt x="12941" y="148231"/>
                  <a:pt x="4632" y="139922"/>
                  <a:pt x="4632" y="129702"/>
                </a:cubicBezTo>
                <a:lnTo>
                  <a:pt x="4632" y="18529"/>
                </a:lnTo>
                <a:close/>
                <a:moveTo>
                  <a:pt x="23161" y="18529"/>
                </a:moveTo>
                <a:lnTo>
                  <a:pt x="23161" y="106541"/>
                </a:lnTo>
                <a:lnTo>
                  <a:pt x="88012" y="106541"/>
                </a:lnTo>
                <a:lnTo>
                  <a:pt x="88012" y="18529"/>
                </a:lnTo>
                <a:lnTo>
                  <a:pt x="23161" y="18529"/>
                </a:lnTo>
                <a:close/>
                <a:moveTo>
                  <a:pt x="55587" y="136650"/>
                </a:moveTo>
                <a:cubicBezTo>
                  <a:pt x="60711" y="136650"/>
                  <a:pt x="64851" y="132510"/>
                  <a:pt x="64851" y="127386"/>
                </a:cubicBezTo>
                <a:cubicBezTo>
                  <a:pt x="64851" y="122262"/>
                  <a:pt x="60711" y="118122"/>
                  <a:pt x="55587" y="118122"/>
                </a:cubicBezTo>
                <a:cubicBezTo>
                  <a:pt x="50462" y="118122"/>
                  <a:pt x="46322" y="122262"/>
                  <a:pt x="46322" y="127386"/>
                </a:cubicBezTo>
                <a:cubicBezTo>
                  <a:pt x="46322" y="132510"/>
                  <a:pt x="50462" y="136650"/>
                  <a:pt x="55587" y="136650"/>
                </a:cubicBezTo>
                <a:close/>
              </a:path>
            </a:pathLst>
          </a:custGeom>
          <a:solidFill>
            <a:srgbClr val="6B4C9A"/>
          </a:solidFill>
          <a:ln/>
        </p:spPr>
      </p:sp>
      <p:sp>
        <p:nvSpPr>
          <p:cNvPr id="67" name="Text 65"/>
          <p:cNvSpPr/>
          <p:nvPr/>
        </p:nvSpPr>
        <p:spPr>
          <a:xfrm>
            <a:off x="4811138" y="5143618"/>
            <a:ext cx="472486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Venmo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4551734" y="5365964"/>
            <a:ext cx="1426723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F5F5F7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Emerging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149386" y="5032444"/>
            <a:ext cx="1593483" cy="592924"/>
          </a:xfrm>
          <a:custGeom>
            <a:avLst/>
            <a:gdLst/>
            <a:ahLst/>
            <a:cxnLst/>
            <a:rect l="l" t="t" r="r" b="b"/>
            <a:pathLst>
              <a:path w="1593483" h="592924">
                <a:moveTo>
                  <a:pt x="74116" y="0"/>
                </a:moveTo>
                <a:lnTo>
                  <a:pt x="1519368" y="0"/>
                </a:lnTo>
                <a:cubicBezTo>
                  <a:pt x="1560301" y="0"/>
                  <a:pt x="1593483" y="33183"/>
                  <a:pt x="1593483" y="74116"/>
                </a:cubicBezTo>
                <a:lnTo>
                  <a:pt x="1593483" y="518809"/>
                </a:lnTo>
                <a:cubicBezTo>
                  <a:pt x="1593483" y="559741"/>
                  <a:pt x="1560301" y="592924"/>
                  <a:pt x="1519368" y="592924"/>
                </a:cubicBezTo>
                <a:lnTo>
                  <a:pt x="74116" y="592924"/>
                </a:lnTo>
                <a:cubicBezTo>
                  <a:pt x="33183" y="592924"/>
                  <a:pt x="0" y="559741"/>
                  <a:pt x="0" y="518809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1A1A2E">
              <a:alpha val="50196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6279089" y="5162146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0" y="121480"/>
                </a:moveTo>
                <a:lnTo>
                  <a:pt x="0" y="31702"/>
                </a:lnTo>
                <a:cubicBezTo>
                  <a:pt x="0" y="24985"/>
                  <a:pt x="6977" y="20527"/>
                  <a:pt x="13404" y="22437"/>
                </a:cubicBezTo>
                <a:cubicBezTo>
                  <a:pt x="38795" y="30023"/>
                  <a:pt x="56745" y="24030"/>
                  <a:pt x="74810" y="18008"/>
                </a:cubicBezTo>
                <a:cubicBezTo>
                  <a:pt x="93484" y="11783"/>
                  <a:pt x="112273" y="5530"/>
                  <a:pt x="139459" y="14215"/>
                </a:cubicBezTo>
                <a:cubicBezTo>
                  <a:pt x="144815" y="15923"/>
                  <a:pt x="148231" y="21106"/>
                  <a:pt x="148231" y="26751"/>
                </a:cubicBezTo>
                <a:lnTo>
                  <a:pt x="148231" y="116529"/>
                </a:lnTo>
                <a:cubicBezTo>
                  <a:pt x="148231" y="123246"/>
                  <a:pt x="141254" y="127704"/>
                  <a:pt x="134855" y="125794"/>
                </a:cubicBezTo>
                <a:cubicBezTo>
                  <a:pt x="109465" y="118208"/>
                  <a:pt x="91486" y="124201"/>
                  <a:pt x="73450" y="130223"/>
                </a:cubicBezTo>
                <a:cubicBezTo>
                  <a:pt x="54776" y="136448"/>
                  <a:pt x="35987" y="142701"/>
                  <a:pt x="8801" y="134016"/>
                </a:cubicBezTo>
                <a:cubicBezTo>
                  <a:pt x="3445" y="132308"/>
                  <a:pt x="29" y="127125"/>
                  <a:pt x="29" y="121480"/>
                </a:cubicBezTo>
                <a:close/>
                <a:moveTo>
                  <a:pt x="97277" y="74116"/>
                </a:moveTo>
                <a:cubicBezTo>
                  <a:pt x="97277" y="58771"/>
                  <a:pt x="86912" y="46322"/>
                  <a:pt x="74116" y="46322"/>
                </a:cubicBezTo>
                <a:cubicBezTo>
                  <a:pt x="61319" y="46322"/>
                  <a:pt x="50954" y="58771"/>
                  <a:pt x="50954" y="74116"/>
                </a:cubicBezTo>
                <a:cubicBezTo>
                  <a:pt x="50954" y="89460"/>
                  <a:pt x="61319" y="101909"/>
                  <a:pt x="74116" y="101909"/>
                </a:cubicBezTo>
                <a:cubicBezTo>
                  <a:pt x="86912" y="101909"/>
                  <a:pt x="97277" y="89460"/>
                  <a:pt x="97277" y="74116"/>
                </a:cubicBezTo>
                <a:close/>
                <a:moveTo>
                  <a:pt x="34742" y="119743"/>
                </a:moveTo>
                <a:cubicBezTo>
                  <a:pt x="36016" y="119743"/>
                  <a:pt x="37029" y="118643"/>
                  <a:pt x="36826" y="117398"/>
                </a:cubicBezTo>
                <a:cubicBezTo>
                  <a:pt x="35494" y="109349"/>
                  <a:pt x="29009" y="103067"/>
                  <a:pt x="20845" y="102054"/>
                </a:cubicBezTo>
                <a:cubicBezTo>
                  <a:pt x="19571" y="101909"/>
                  <a:pt x="18529" y="102951"/>
                  <a:pt x="18529" y="104225"/>
                </a:cubicBezTo>
                <a:lnTo>
                  <a:pt x="18529" y="115777"/>
                </a:lnTo>
                <a:cubicBezTo>
                  <a:pt x="18529" y="116819"/>
                  <a:pt x="19224" y="117745"/>
                  <a:pt x="20266" y="118006"/>
                </a:cubicBezTo>
                <a:cubicBezTo>
                  <a:pt x="25448" y="119222"/>
                  <a:pt x="30196" y="119772"/>
                  <a:pt x="34742" y="119772"/>
                </a:cubicBezTo>
                <a:close/>
                <a:moveTo>
                  <a:pt x="126952" y="104949"/>
                </a:moveTo>
                <a:cubicBezTo>
                  <a:pt x="128399" y="105180"/>
                  <a:pt x="129702" y="104080"/>
                  <a:pt x="129702" y="102633"/>
                </a:cubicBezTo>
                <a:lnTo>
                  <a:pt x="129702" y="90299"/>
                </a:lnTo>
                <a:cubicBezTo>
                  <a:pt x="129702" y="89025"/>
                  <a:pt x="128660" y="87954"/>
                  <a:pt x="127386" y="88128"/>
                </a:cubicBezTo>
                <a:cubicBezTo>
                  <a:pt x="120090" y="89025"/>
                  <a:pt x="114097" y="94179"/>
                  <a:pt x="111984" y="101040"/>
                </a:cubicBezTo>
                <a:cubicBezTo>
                  <a:pt x="111579" y="102401"/>
                  <a:pt x="112650" y="103675"/>
                  <a:pt x="114068" y="103704"/>
                </a:cubicBezTo>
                <a:cubicBezTo>
                  <a:pt x="118179" y="103820"/>
                  <a:pt x="122464" y="104196"/>
                  <a:pt x="126923" y="104949"/>
                </a:cubicBezTo>
                <a:close/>
                <a:moveTo>
                  <a:pt x="129702" y="44006"/>
                </a:moveTo>
                <a:lnTo>
                  <a:pt x="129702" y="32454"/>
                </a:lnTo>
                <a:cubicBezTo>
                  <a:pt x="129702" y="31412"/>
                  <a:pt x="128978" y="30486"/>
                  <a:pt x="127965" y="30225"/>
                </a:cubicBezTo>
                <a:cubicBezTo>
                  <a:pt x="122783" y="29009"/>
                  <a:pt x="118035" y="28459"/>
                  <a:pt x="113489" y="28459"/>
                </a:cubicBezTo>
                <a:cubicBezTo>
                  <a:pt x="112216" y="28459"/>
                  <a:pt x="111202" y="29559"/>
                  <a:pt x="111405" y="30804"/>
                </a:cubicBezTo>
                <a:cubicBezTo>
                  <a:pt x="112737" y="38853"/>
                  <a:pt x="119222" y="45135"/>
                  <a:pt x="127386" y="46148"/>
                </a:cubicBezTo>
                <a:cubicBezTo>
                  <a:pt x="128660" y="46293"/>
                  <a:pt x="129702" y="45251"/>
                  <a:pt x="129702" y="43977"/>
                </a:cubicBezTo>
                <a:close/>
                <a:moveTo>
                  <a:pt x="36247" y="47162"/>
                </a:moveTo>
                <a:cubicBezTo>
                  <a:pt x="36652" y="45801"/>
                  <a:pt x="35581" y="44527"/>
                  <a:pt x="34163" y="44498"/>
                </a:cubicBezTo>
                <a:cubicBezTo>
                  <a:pt x="30052" y="44382"/>
                  <a:pt x="25767" y="44006"/>
                  <a:pt x="21308" y="43253"/>
                </a:cubicBezTo>
                <a:cubicBezTo>
                  <a:pt x="19861" y="43022"/>
                  <a:pt x="18558" y="44122"/>
                  <a:pt x="18558" y="45569"/>
                </a:cubicBezTo>
                <a:lnTo>
                  <a:pt x="18529" y="57903"/>
                </a:lnTo>
                <a:cubicBezTo>
                  <a:pt x="18529" y="59177"/>
                  <a:pt x="19571" y="60248"/>
                  <a:pt x="20845" y="60074"/>
                </a:cubicBezTo>
                <a:cubicBezTo>
                  <a:pt x="28141" y="59177"/>
                  <a:pt x="34134" y="54023"/>
                  <a:pt x="36247" y="47162"/>
                </a:cubicBezTo>
                <a:close/>
              </a:path>
            </a:pathLst>
          </a:custGeom>
          <a:solidFill>
            <a:srgbClr val="6B4C9A"/>
          </a:solidFill>
          <a:ln/>
        </p:spPr>
      </p:sp>
      <p:sp>
        <p:nvSpPr>
          <p:cNvPr id="71" name="Text 69"/>
          <p:cNvSpPr/>
          <p:nvPr/>
        </p:nvSpPr>
        <p:spPr>
          <a:xfrm>
            <a:off x="6519964" y="5143618"/>
            <a:ext cx="342784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Cash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260560" y="5365964"/>
            <a:ext cx="1426723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F5F5F7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Growing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128849" y="1337785"/>
            <a:ext cx="3685393" cy="4611837"/>
          </a:xfrm>
          <a:custGeom>
            <a:avLst/>
            <a:gdLst/>
            <a:ahLst/>
            <a:cxnLst/>
            <a:rect l="l" t="t" r="r" b="b"/>
            <a:pathLst>
              <a:path w="3685393" h="4611837">
                <a:moveTo>
                  <a:pt x="111188" y="0"/>
                </a:moveTo>
                <a:lnTo>
                  <a:pt x="3574205" y="0"/>
                </a:lnTo>
                <a:cubicBezTo>
                  <a:pt x="3635613" y="0"/>
                  <a:pt x="3685393" y="49781"/>
                  <a:pt x="3685393" y="111188"/>
                </a:cubicBezTo>
                <a:lnTo>
                  <a:pt x="3685393" y="4500649"/>
                </a:lnTo>
                <a:cubicBezTo>
                  <a:pt x="3685393" y="4562056"/>
                  <a:pt x="3635613" y="4611837"/>
                  <a:pt x="3574205" y="4611837"/>
                </a:cubicBezTo>
                <a:lnTo>
                  <a:pt x="111188" y="4611837"/>
                </a:lnTo>
                <a:cubicBezTo>
                  <a:pt x="49781" y="4611837"/>
                  <a:pt x="0" y="4562056"/>
                  <a:pt x="0" y="4500649"/>
                </a:cubicBezTo>
                <a:lnTo>
                  <a:pt x="0" y="111188"/>
                </a:lnTo>
                <a:cubicBezTo>
                  <a:pt x="0" y="49822"/>
                  <a:pt x="49822" y="0"/>
                  <a:pt x="111188" y="0"/>
                </a:cubicBezTo>
                <a:close/>
              </a:path>
            </a:pathLst>
          </a:custGeom>
          <a:solidFill>
            <a:srgbClr val="4A3B69">
              <a:alpha val="30196"/>
            </a:srgbClr>
          </a:solidFill>
          <a:ln w="10160">
            <a:solidFill>
              <a:srgbClr val="6B4C9A">
                <a:alpha val="50196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317844" y="1526782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222347" y="0"/>
                </a:moveTo>
                <a:lnTo>
                  <a:pt x="222347" y="0"/>
                </a:lnTo>
                <a:cubicBezTo>
                  <a:pt x="345145" y="0"/>
                  <a:pt x="444693" y="99548"/>
                  <a:pt x="444693" y="222347"/>
                </a:cubicBezTo>
                <a:lnTo>
                  <a:pt x="444693" y="222347"/>
                </a:lnTo>
                <a:cubicBezTo>
                  <a:pt x="444693" y="345145"/>
                  <a:pt x="345145" y="444693"/>
                  <a:pt x="222347" y="444693"/>
                </a:cubicBezTo>
                <a:lnTo>
                  <a:pt x="222347" y="444693"/>
                </a:lnTo>
                <a:cubicBezTo>
                  <a:pt x="99548" y="444693"/>
                  <a:pt x="0" y="345145"/>
                  <a:pt x="0" y="222347"/>
                </a:cubicBezTo>
                <a:lnTo>
                  <a:pt x="0" y="222347"/>
                </a:lnTo>
                <a:cubicBezTo>
                  <a:pt x="0" y="99548"/>
                  <a:pt x="99548" y="0"/>
                  <a:pt x="222347" y="0"/>
                </a:cubicBezTo>
                <a:close/>
              </a:path>
            </a:pathLst>
          </a:custGeom>
          <a:solidFill>
            <a:srgbClr val="6B4C9A"/>
          </a:solidFill>
          <a:ln/>
        </p:spPr>
      </p:sp>
      <p:sp>
        <p:nvSpPr>
          <p:cNvPr id="75" name="Shape 73"/>
          <p:cNvSpPr/>
          <p:nvPr/>
        </p:nvSpPr>
        <p:spPr>
          <a:xfrm>
            <a:off x="8459127" y="1656484"/>
            <a:ext cx="162128" cy="185289"/>
          </a:xfrm>
          <a:custGeom>
            <a:avLst/>
            <a:gdLst/>
            <a:ahLst/>
            <a:cxnLst/>
            <a:rect l="l" t="t" r="r" b="b"/>
            <a:pathLst>
              <a:path w="162128" h="185289">
                <a:moveTo>
                  <a:pt x="46322" y="0"/>
                </a:moveTo>
                <a:cubicBezTo>
                  <a:pt x="52728" y="0"/>
                  <a:pt x="57903" y="5175"/>
                  <a:pt x="57903" y="11581"/>
                </a:cubicBezTo>
                <a:lnTo>
                  <a:pt x="57903" y="23161"/>
                </a:lnTo>
                <a:lnTo>
                  <a:pt x="104225" y="23161"/>
                </a:lnTo>
                <a:lnTo>
                  <a:pt x="104225" y="11581"/>
                </a:lnTo>
                <a:cubicBezTo>
                  <a:pt x="104225" y="5175"/>
                  <a:pt x="109400" y="0"/>
                  <a:pt x="115805" y="0"/>
                </a:cubicBezTo>
                <a:cubicBezTo>
                  <a:pt x="122211" y="0"/>
                  <a:pt x="127386" y="5175"/>
                  <a:pt x="127386" y="11581"/>
                </a:cubicBezTo>
                <a:lnTo>
                  <a:pt x="127386" y="23161"/>
                </a:lnTo>
                <a:lnTo>
                  <a:pt x="138967" y="23161"/>
                </a:lnTo>
                <a:cubicBezTo>
                  <a:pt x="151741" y="23161"/>
                  <a:pt x="162128" y="33547"/>
                  <a:pt x="162128" y="46322"/>
                </a:cubicBezTo>
                <a:lnTo>
                  <a:pt x="162128" y="150547"/>
                </a:lnTo>
                <a:cubicBezTo>
                  <a:pt x="162128" y="163322"/>
                  <a:pt x="151741" y="173708"/>
                  <a:pt x="138967" y="173708"/>
                </a:cubicBezTo>
                <a:lnTo>
                  <a:pt x="23161" y="173708"/>
                </a:lnTo>
                <a:cubicBezTo>
                  <a:pt x="10386" y="173708"/>
                  <a:pt x="0" y="163322"/>
                  <a:pt x="0" y="150547"/>
                </a:cubicBezTo>
                <a:lnTo>
                  <a:pt x="0" y="46322"/>
                </a:lnTo>
                <a:cubicBezTo>
                  <a:pt x="0" y="33547"/>
                  <a:pt x="10386" y="23161"/>
                  <a:pt x="23161" y="23161"/>
                </a:cubicBezTo>
                <a:lnTo>
                  <a:pt x="34742" y="23161"/>
                </a:lnTo>
                <a:lnTo>
                  <a:pt x="34742" y="11581"/>
                </a:lnTo>
                <a:cubicBezTo>
                  <a:pt x="34742" y="5175"/>
                  <a:pt x="39917" y="0"/>
                  <a:pt x="46322" y="0"/>
                </a:cubicBezTo>
                <a:close/>
                <a:moveTo>
                  <a:pt x="111608" y="82765"/>
                </a:moveTo>
                <a:cubicBezTo>
                  <a:pt x="114141" y="78712"/>
                  <a:pt x="112910" y="73356"/>
                  <a:pt x="108857" y="70786"/>
                </a:cubicBezTo>
                <a:cubicBezTo>
                  <a:pt x="104804" y="68217"/>
                  <a:pt x="99448" y="69483"/>
                  <a:pt x="96879" y="73536"/>
                </a:cubicBezTo>
                <a:lnTo>
                  <a:pt x="74658" y="109110"/>
                </a:lnTo>
                <a:lnTo>
                  <a:pt x="64887" y="96082"/>
                </a:lnTo>
                <a:cubicBezTo>
                  <a:pt x="61992" y="92246"/>
                  <a:pt x="56564" y="91450"/>
                  <a:pt x="52728" y="94345"/>
                </a:cubicBezTo>
                <a:cubicBezTo>
                  <a:pt x="48892" y="97240"/>
                  <a:pt x="48095" y="102669"/>
                  <a:pt x="50991" y="106505"/>
                </a:cubicBezTo>
                <a:lnTo>
                  <a:pt x="68361" y="129666"/>
                </a:lnTo>
                <a:cubicBezTo>
                  <a:pt x="70062" y="131946"/>
                  <a:pt x="72813" y="133249"/>
                  <a:pt x="75672" y="133140"/>
                </a:cubicBezTo>
                <a:cubicBezTo>
                  <a:pt x="78531" y="133032"/>
                  <a:pt x="81136" y="131512"/>
                  <a:pt x="82656" y="129051"/>
                </a:cubicBezTo>
                <a:lnTo>
                  <a:pt x="111608" y="82729"/>
                </a:ln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76" name="Text 74"/>
          <p:cNvSpPr/>
          <p:nvPr/>
        </p:nvSpPr>
        <p:spPr>
          <a:xfrm>
            <a:off x="8873710" y="1619426"/>
            <a:ext cx="1760243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F4E2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Purchase Frequency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8325255" y="2334640"/>
            <a:ext cx="3294434" cy="755978"/>
          </a:xfrm>
          <a:custGeom>
            <a:avLst/>
            <a:gdLst/>
            <a:ahLst/>
            <a:cxnLst/>
            <a:rect l="l" t="t" r="r" b="b"/>
            <a:pathLst>
              <a:path w="3294434" h="755978">
                <a:moveTo>
                  <a:pt x="74116" y="0"/>
                </a:moveTo>
                <a:lnTo>
                  <a:pt x="3220318" y="0"/>
                </a:lnTo>
                <a:cubicBezTo>
                  <a:pt x="3261251" y="0"/>
                  <a:pt x="3294434" y="33183"/>
                  <a:pt x="3294434" y="74116"/>
                </a:cubicBezTo>
                <a:lnTo>
                  <a:pt x="3294434" y="681862"/>
                </a:lnTo>
                <a:cubicBezTo>
                  <a:pt x="3294434" y="722795"/>
                  <a:pt x="3261251" y="755978"/>
                  <a:pt x="3220318" y="755978"/>
                </a:cubicBezTo>
                <a:lnTo>
                  <a:pt x="74116" y="755978"/>
                </a:lnTo>
                <a:cubicBezTo>
                  <a:pt x="33210" y="755978"/>
                  <a:pt x="0" y="722768"/>
                  <a:pt x="0" y="681862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gradFill rotWithShape="1" flip="none">
            <a:gsLst>
              <a:gs pos="0">
                <a:srgbClr val="F4E285">
                  <a:alpha val="40000"/>
                </a:srgbClr>
              </a:gs>
              <a:gs pos="100000">
                <a:srgbClr val="F4E285">
                  <a:alpha val="10000"/>
                </a:srgbClr>
              </a:gs>
            </a:gsLst>
            <a:lin ang="0" scaled="1"/>
          </a:gradFill>
          <a:ln w="20320">
            <a:solidFill>
              <a:srgbClr val="F4E28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480898" y="2490284"/>
            <a:ext cx="639246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Weekly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10269976" y="2490284"/>
            <a:ext cx="1195112" cy="259404"/>
          </a:xfrm>
          <a:custGeom>
            <a:avLst/>
            <a:gdLst/>
            <a:ahLst/>
            <a:cxnLst/>
            <a:rect l="l" t="t" r="r" b="b"/>
            <a:pathLst>
              <a:path w="1195112" h="259404">
                <a:moveTo>
                  <a:pt x="129702" y="0"/>
                </a:moveTo>
                <a:lnTo>
                  <a:pt x="1065410" y="0"/>
                </a:lnTo>
                <a:cubicBezTo>
                  <a:pt x="1137043" y="0"/>
                  <a:pt x="1195112" y="58070"/>
                  <a:pt x="1195112" y="129702"/>
                </a:cubicBezTo>
                <a:lnTo>
                  <a:pt x="1195112" y="129702"/>
                </a:lnTo>
                <a:cubicBezTo>
                  <a:pt x="1195112" y="201335"/>
                  <a:pt x="1137043" y="259404"/>
                  <a:pt x="1065410" y="259404"/>
                </a:cubicBezTo>
                <a:lnTo>
                  <a:pt x="129702" y="259404"/>
                </a:lnTo>
                <a:cubicBezTo>
                  <a:pt x="58070" y="259404"/>
                  <a:pt x="0" y="201335"/>
                  <a:pt x="0" y="129702"/>
                </a:cubicBezTo>
                <a:lnTo>
                  <a:pt x="0" y="129702"/>
                </a:lnTo>
                <a:cubicBezTo>
                  <a:pt x="0" y="58070"/>
                  <a:pt x="58070" y="0"/>
                  <a:pt x="129702" y="0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80" name="Text 78"/>
          <p:cNvSpPr/>
          <p:nvPr/>
        </p:nvSpPr>
        <p:spPr>
          <a:xfrm>
            <a:off x="10269976" y="2490284"/>
            <a:ext cx="1259964" cy="259404"/>
          </a:xfrm>
          <a:prstGeom prst="rect">
            <a:avLst/>
          </a:prstGeom>
          <a:noFill/>
          <a:ln/>
        </p:spPr>
        <p:txBody>
          <a:bodyPr wrap="square" lIns="111173" tIns="37058" rIns="111173" bIns="37058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COMMON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8480898" y="2823803"/>
            <a:ext cx="2983149" cy="111173"/>
          </a:xfrm>
          <a:custGeom>
            <a:avLst/>
            <a:gdLst/>
            <a:ahLst/>
            <a:cxnLst/>
            <a:rect l="l" t="t" r="r" b="b"/>
            <a:pathLst>
              <a:path w="2983149" h="111173">
                <a:moveTo>
                  <a:pt x="55587" y="0"/>
                </a:moveTo>
                <a:lnTo>
                  <a:pt x="2927562" y="0"/>
                </a:lnTo>
                <a:cubicBezTo>
                  <a:pt x="2958262" y="0"/>
                  <a:pt x="2983149" y="24887"/>
                  <a:pt x="2983149" y="55587"/>
                </a:cubicBezTo>
                <a:lnTo>
                  <a:pt x="2983149" y="55587"/>
                </a:lnTo>
                <a:cubicBezTo>
                  <a:pt x="2983149" y="86286"/>
                  <a:pt x="2958262" y="111173"/>
                  <a:pt x="2927562" y="111173"/>
                </a:cubicBezTo>
                <a:lnTo>
                  <a:pt x="55587" y="111173"/>
                </a:lnTo>
                <a:cubicBezTo>
                  <a:pt x="24887" y="111173"/>
                  <a:pt x="0" y="86286"/>
                  <a:pt x="0" y="55587"/>
                </a:cubicBezTo>
                <a:lnTo>
                  <a:pt x="0" y="55587"/>
                </a:lnTo>
                <a:cubicBezTo>
                  <a:pt x="0" y="24887"/>
                  <a:pt x="24887" y="0"/>
                  <a:pt x="55587" y="0"/>
                </a:cubicBezTo>
                <a:close/>
              </a:path>
            </a:pathLst>
          </a:custGeom>
          <a:solidFill>
            <a:srgbClr val="1A1A2E">
              <a:alpha val="50196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8480898" y="2823803"/>
            <a:ext cx="2529191" cy="111173"/>
          </a:xfrm>
          <a:custGeom>
            <a:avLst/>
            <a:gdLst/>
            <a:ahLst/>
            <a:cxnLst/>
            <a:rect l="l" t="t" r="r" b="b"/>
            <a:pathLst>
              <a:path w="2529191" h="111173">
                <a:moveTo>
                  <a:pt x="55587" y="0"/>
                </a:moveTo>
                <a:lnTo>
                  <a:pt x="2473605" y="0"/>
                </a:lnTo>
                <a:cubicBezTo>
                  <a:pt x="2504305" y="0"/>
                  <a:pt x="2529191" y="24887"/>
                  <a:pt x="2529191" y="55587"/>
                </a:cubicBezTo>
                <a:lnTo>
                  <a:pt x="2529191" y="55587"/>
                </a:lnTo>
                <a:cubicBezTo>
                  <a:pt x="2529191" y="86286"/>
                  <a:pt x="2504305" y="111173"/>
                  <a:pt x="2473605" y="111173"/>
                </a:cubicBezTo>
                <a:lnTo>
                  <a:pt x="55587" y="111173"/>
                </a:lnTo>
                <a:cubicBezTo>
                  <a:pt x="24887" y="111173"/>
                  <a:pt x="0" y="86286"/>
                  <a:pt x="0" y="55587"/>
                </a:cubicBezTo>
                <a:lnTo>
                  <a:pt x="0" y="55587"/>
                </a:lnTo>
                <a:cubicBezTo>
                  <a:pt x="0" y="24887"/>
                  <a:pt x="24887" y="0"/>
                  <a:pt x="55587" y="0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83" name="Shape 81"/>
          <p:cNvSpPr/>
          <p:nvPr/>
        </p:nvSpPr>
        <p:spPr>
          <a:xfrm>
            <a:off x="8321550" y="3212906"/>
            <a:ext cx="3296287" cy="748567"/>
          </a:xfrm>
          <a:custGeom>
            <a:avLst/>
            <a:gdLst/>
            <a:ahLst/>
            <a:cxnLst/>
            <a:rect l="l" t="t" r="r" b="b"/>
            <a:pathLst>
              <a:path w="3296287" h="748567">
                <a:moveTo>
                  <a:pt x="74116" y="0"/>
                </a:moveTo>
                <a:lnTo>
                  <a:pt x="3222171" y="0"/>
                </a:lnTo>
                <a:cubicBezTo>
                  <a:pt x="3263104" y="0"/>
                  <a:pt x="3296287" y="33183"/>
                  <a:pt x="3296287" y="74116"/>
                </a:cubicBezTo>
                <a:lnTo>
                  <a:pt x="3296287" y="674451"/>
                </a:lnTo>
                <a:cubicBezTo>
                  <a:pt x="3296287" y="715384"/>
                  <a:pt x="3263104" y="748567"/>
                  <a:pt x="3222171" y="748567"/>
                </a:cubicBezTo>
                <a:lnTo>
                  <a:pt x="74116" y="748567"/>
                </a:lnTo>
                <a:cubicBezTo>
                  <a:pt x="33183" y="748567"/>
                  <a:pt x="0" y="715384"/>
                  <a:pt x="0" y="674451"/>
                </a:cubicBezTo>
                <a:lnTo>
                  <a:pt x="0" y="74116"/>
                </a:lnTo>
                <a:cubicBezTo>
                  <a:pt x="0" y="33210"/>
                  <a:pt x="33210" y="0"/>
                  <a:pt x="74116" y="0"/>
                </a:cubicBezTo>
                <a:close/>
              </a:path>
            </a:pathLst>
          </a:custGeom>
          <a:gradFill rotWithShape="1" flip="none">
            <a:gsLst>
              <a:gs pos="0">
                <a:srgbClr val="6B4C9A">
                  <a:alpha val="50000"/>
                </a:srgbClr>
              </a:gs>
              <a:gs pos="100000">
                <a:srgbClr val="6B4C9A">
                  <a:alpha val="10000"/>
                </a:srgbClr>
              </a:gs>
            </a:gsLst>
            <a:lin ang="0" scaled="1"/>
          </a:gradFill>
          <a:ln w="10160">
            <a:solidFill>
              <a:srgbClr val="6B4C9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473486" y="3364846"/>
            <a:ext cx="852328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Bi-Weekly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10657115" y="3364846"/>
            <a:ext cx="815271" cy="259404"/>
          </a:xfrm>
          <a:custGeom>
            <a:avLst/>
            <a:gdLst/>
            <a:ahLst/>
            <a:cxnLst/>
            <a:rect l="l" t="t" r="r" b="b"/>
            <a:pathLst>
              <a:path w="815271" h="259404">
                <a:moveTo>
                  <a:pt x="129702" y="0"/>
                </a:moveTo>
                <a:lnTo>
                  <a:pt x="685568" y="0"/>
                </a:lnTo>
                <a:cubicBezTo>
                  <a:pt x="757201" y="0"/>
                  <a:pt x="815271" y="58070"/>
                  <a:pt x="815271" y="129702"/>
                </a:cubicBezTo>
                <a:lnTo>
                  <a:pt x="815271" y="129702"/>
                </a:lnTo>
                <a:cubicBezTo>
                  <a:pt x="815271" y="201335"/>
                  <a:pt x="757201" y="259404"/>
                  <a:pt x="685568" y="259404"/>
                </a:cubicBezTo>
                <a:lnTo>
                  <a:pt x="129702" y="259404"/>
                </a:lnTo>
                <a:cubicBezTo>
                  <a:pt x="58070" y="259404"/>
                  <a:pt x="0" y="201335"/>
                  <a:pt x="0" y="129702"/>
                </a:cubicBezTo>
                <a:lnTo>
                  <a:pt x="0" y="129702"/>
                </a:lnTo>
                <a:cubicBezTo>
                  <a:pt x="0" y="58070"/>
                  <a:pt x="58070" y="0"/>
                  <a:pt x="129702" y="0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86" name="Text 84"/>
          <p:cNvSpPr/>
          <p:nvPr/>
        </p:nvSpPr>
        <p:spPr>
          <a:xfrm>
            <a:off x="10657115" y="3364846"/>
            <a:ext cx="880122" cy="259404"/>
          </a:xfrm>
          <a:prstGeom prst="rect">
            <a:avLst/>
          </a:prstGeom>
          <a:noFill/>
          <a:ln/>
        </p:spPr>
        <p:txBody>
          <a:bodyPr wrap="square" lIns="111173" tIns="37058" rIns="111173" bIns="37058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6B4C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8473486" y="3698365"/>
            <a:ext cx="2992413" cy="111173"/>
          </a:xfrm>
          <a:custGeom>
            <a:avLst/>
            <a:gdLst/>
            <a:ahLst/>
            <a:cxnLst/>
            <a:rect l="l" t="t" r="r" b="b"/>
            <a:pathLst>
              <a:path w="2992413" h="111173">
                <a:moveTo>
                  <a:pt x="55587" y="0"/>
                </a:moveTo>
                <a:lnTo>
                  <a:pt x="2936827" y="0"/>
                </a:lnTo>
                <a:cubicBezTo>
                  <a:pt x="2967526" y="0"/>
                  <a:pt x="2992413" y="24887"/>
                  <a:pt x="2992413" y="55587"/>
                </a:cubicBezTo>
                <a:lnTo>
                  <a:pt x="2992413" y="55587"/>
                </a:lnTo>
                <a:cubicBezTo>
                  <a:pt x="2992413" y="86286"/>
                  <a:pt x="2967526" y="111173"/>
                  <a:pt x="2936827" y="111173"/>
                </a:cubicBezTo>
                <a:lnTo>
                  <a:pt x="55587" y="111173"/>
                </a:lnTo>
                <a:cubicBezTo>
                  <a:pt x="24887" y="111173"/>
                  <a:pt x="0" y="86286"/>
                  <a:pt x="0" y="55587"/>
                </a:cubicBezTo>
                <a:lnTo>
                  <a:pt x="0" y="55587"/>
                </a:lnTo>
                <a:cubicBezTo>
                  <a:pt x="0" y="24887"/>
                  <a:pt x="24887" y="0"/>
                  <a:pt x="55587" y="0"/>
                </a:cubicBezTo>
                <a:close/>
              </a:path>
            </a:pathLst>
          </a:custGeom>
          <a:solidFill>
            <a:srgbClr val="1A1A2E">
              <a:alpha val="50196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8473486" y="3698365"/>
            <a:ext cx="2093763" cy="111173"/>
          </a:xfrm>
          <a:custGeom>
            <a:avLst/>
            <a:gdLst/>
            <a:ahLst/>
            <a:cxnLst/>
            <a:rect l="l" t="t" r="r" b="b"/>
            <a:pathLst>
              <a:path w="2093763" h="111173">
                <a:moveTo>
                  <a:pt x="55587" y="0"/>
                </a:moveTo>
                <a:lnTo>
                  <a:pt x="2038176" y="0"/>
                </a:lnTo>
                <a:cubicBezTo>
                  <a:pt x="2068876" y="0"/>
                  <a:pt x="2093763" y="24887"/>
                  <a:pt x="2093763" y="55587"/>
                </a:cubicBezTo>
                <a:lnTo>
                  <a:pt x="2093763" y="55587"/>
                </a:lnTo>
                <a:cubicBezTo>
                  <a:pt x="2093763" y="86286"/>
                  <a:pt x="2068876" y="111173"/>
                  <a:pt x="2038176" y="111173"/>
                </a:cubicBezTo>
                <a:lnTo>
                  <a:pt x="55587" y="111173"/>
                </a:lnTo>
                <a:cubicBezTo>
                  <a:pt x="24887" y="111173"/>
                  <a:pt x="0" y="86286"/>
                  <a:pt x="0" y="55587"/>
                </a:cubicBezTo>
                <a:lnTo>
                  <a:pt x="0" y="55587"/>
                </a:lnTo>
                <a:cubicBezTo>
                  <a:pt x="0" y="24887"/>
                  <a:pt x="24887" y="0"/>
                  <a:pt x="55587" y="0"/>
                </a:cubicBezTo>
                <a:close/>
              </a:path>
            </a:pathLst>
          </a:custGeom>
          <a:solidFill>
            <a:srgbClr val="6B4C9A"/>
          </a:solidFill>
          <a:ln/>
        </p:spPr>
      </p:sp>
      <p:sp>
        <p:nvSpPr>
          <p:cNvPr id="89" name="Shape 87"/>
          <p:cNvSpPr/>
          <p:nvPr/>
        </p:nvSpPr>
        <p:spPr>
          <a:xfrm>
            <a:off x="8321550" y="4080058"/>
            <a:ext cx="3296287" cy="748567"/>
          </a:xfrm>
          <a:custGeom>
            <a:avLst/>
            <a:gdLst/>
            <a:ahLst/>
            <a:cxnLst/>
            <a:rect l="l" t="t" r="r" b="b"/>
            <a:pathLst>
              <a:path w="3296287" h="748567">
                <a:moveTo>
                  <a:pt x="74116" y="0"/>
                </a:moveTo>
                <a:lnTo>
                  <a:pt x="3222171" y="0"/>
                </a:lnTo>
                <a:cubicBezTo>
                  <a:pt x="3263104" y="0"/>
                  <a:pt x="3296287" y="33183"/>
                  <a:pt x="3296287" y="74116"/>
                </a:cubicBezTo>
                <a:lnTo>
                  <a:pt x="3296287" y="674451"/>
                </a:lnTo>
                <a:cubicBezTo>
                  <a:pt x="3296287" y="715384"/>
                  <a:pt x="3263104" y="748567"/>
                  <a:pt x="3222171" y="748567"/>
                </a:cubicBezTo>
                <a:lnTo>
                  <a:pt x="74116" y="748567"/>
                </a:lnTo>
                <a:cubicBezTo>
                  <a:pt x="33183" y="748567"/>
                  <a:pt x="0" y="715384"/>
                  <a:pt x="0" y="674451"/>
                </a:cubicBezTo>
                <a:lnTo>
                  <a:pt x="0" y="74116"/>
                </a:lnTo>
                <a:cubicBezTo>
                  <a:pt x="0" y="33210"/>
                  <a:pt x="33210" y="0"/>
                  <a:pt x="74116" y="0"/>
                </a:cubicBezTo>
                <a:close/>
              </a:path>
            </a:pathLst>
          </a:custGeom>
          <a:gradFill rotWithShape="1" flip="none">
            <a:gsLst>
              <a:gs pos="0">
                <a:srgbClr val="6B4C9A">
                  <a:alpha val="50000"/>
                </a:srgbClr>
              </a:gs>
              <a:gs pos="100000">
                <a:srgbClr val="6B4C9A">
                  <a:alpha val="10000"/>
                </a:srgbClr>
              </a:gs>
            </a:gsLst>
            <a:lin ang="0" scaled="1"/>
          </a:gradFill>
          <a:ln w="10160">
            <a:solidFill>
              <a:srgbClr val="6B4C9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473486" y="4231998"/>
            <a:ext cx="676304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10657115" y="4231998"/>
            <a:ext cx="815271" cy="259404"/>
          </a:xfrm>
          <a:custGeom>
            <a:avLst/>
            <a:gdLst/>
            <a:ahLst/>
            <a:cxnLst/>
            <a:rect l="l" t="t" r="r" b="b"/>
            <a:pathLst>
              <a:path w="815271" h="259404">
                <a:moveTo>
                  <a:pt x="129702" y="0"/>
                </a:moveTo>
                <a:lnTo>
                  <a:pt x="685568" y="0"/>
                </a:lnTo>
                <a:cubicBezTo>
                  <a:pt x="757201" y="0"/>
                  <a:pt x="815271" y="58070"/>
                  <a:pt x="815271" y="129702"/>
                </a:cubicBezTo>
                <a:lnTo>
                  <a:pt x="815271" y="129702"/>
                </a:lnTo>
                <a:cubicBezTo>
                  <a:pt x="815271" y="201335"/>
                  <a:pt x="757201" y="259404"/>
                  <a:pt x="685568" y="259404"/>
                </a:cubicBezTo>
                <a:lnTo>
                  <a:pt x="129702" y="259404"/>
                </a:lnTo>
                <a:cubicBezTo>
                  <a:pt x="58070" y="259404"/>
                  <a:pt x="0" y="201335"/>
                  <a:pt x="0" y="129702"/>
                </a:cubicBezTo>
                <a:lnTo>
                  <a:pt x="0" y="129702"/>
                </a:lnTo>
                <a:cubicBezTo>
                  <a:pt x="0" y="58070"/>
                  <a:pt x="58070" y="0"/>
                  <a:pt x="129702" y="0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92" name="Text 90"/>
          <p:cNvSpPr/>
          <p:nvPr/>
        </p:nvSpPr>
        <p:spPr>
          <a:xfrm>
            <a:off x="10657115" y="4231998"/>
            <a:ext cx="880122" cy="259404"/>
          </a:xfrm>
          <a:prstGeom prst="rect">
            <a:avLst/>
          </a:prstGeom>
          <a:noFill/>
          <a:ln/>
        </p:spPr>
        <p:txBody>
          <a:bodyPr wrap="square" lIns="111173" tIns="37058" rIns="111173" bIns="37058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6B4C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8473486" y="4565518"/>
            <a:ext cx="2992413" cy="111173"/>
          </a:xfrm>
          <a:custGeom>
            <a:avLst/>
            <a:gdLst/>
            <a:ahLst/>
            <a:cxnLst/>
            <a:rect l="l" t="t" r="r" b="b"/>
            <a:pathLst>
              <a:path w="2992413" h="111173">
                <a:moveTo>
                  <a:pt x="55587" y="0"/>
                </a:moveTo>
                <a:lnTo>
                  <a:pt x="2936827" y="0"/>
                </a:lnTo>
                <a:cubicBezTo>
                  <a:pt x="2967526" y="0"/>
                  <a:pt x="2992413" y="24887"/>
                  <a:pt x="2992413" y="55587"/>
                </a:cubicBezTo>
                <a:lnTo>
                  <a:pt x="2992413" y="55587"/>
                </a:lnTo>
                <a:cubicBezTo>
                  <a:pt x="2992413" y="86286"/>
                  <a:pt x="2967526" y="111173"/>
                  <a:pt x="2936827" y="111173"/>
                </a:cubicBezTo>
                <a:lnTo>
                  <a:pt x="55587" y="111173"/>
                </a:lnTo>
                <a:cubicBezTo>
                  <a:pt x="24887" y="111173"/>
                  <a:pt x="0" y="86286"/>
                  <a:pt x="0" y="55587"/>
                </a:cubicBezTo>
                <a:lnTo>
                  <a:pt x="0" y="55587"/>
                </a:lnTo>
                <a:cubicBezTo>
                  <a:pt x="0" y="24887"/>
                  <a:pt x="24887" y="0"/>
                  <a:pt x="55587" y="0"/>
                </a:cubicBezTo>
                <a:close/>
              </a:path>
            </a:pathLst>
          </a:custGeom>
          <a:solidFill>
            <a:srgbClr val="1A1A2E">
              <a:alpha val="50196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8473486" y="4565518"/>
            <a:ext cx="1945532" cy="111173"/>
          </a:xfrm>
          <a:custGeom>
            <a:avLst/>
            <a:gdLst/>
            <a:ahLst/>
            <a:cxnLst/>
            <a:rect l="l" t="t" r="r" b="b"/>
            <a:pathLst>
              <a:path w="1945532" h="111173">
                <a:moveTo>
                  <a:pt x="55587" y="0"/>
                </a:moveTo>
                <a:lnTo>
                  <a:pt x="1889945" y="0"/>
                </a:lnTo>
                <a:cubicBezTo>
                  <a:pt x="1920645" y="0"/>
                  <a:pt x="1945532" y="24887"/>
                  <a:pt x="1945532" y="55587"/>
                </a:cubicBezTo>
                <a:lnTo>
                  <a:pt x="1945532" y="55587"/>
                </a:lnTo>
                <a:cubicBezTo>
                  <a:pt x="1945532" y="86286"/>
                  <a:pt x="1920645" y="111173"/>
                  <a:pt x="1889945" y="111173"/>
                </a:cubicBezTo>
                <a:lnTo>
                  <a:pt x="55587" y="111173"/>
                </a:lnTo>
                <a:cubicBezTo>
                  <a:pt x="24887" y="111173"/>
                  <a:pt x="0" y="86286"/>
                  <a:pt x="0" y="55587"/>
                </a:cubicBezTo>
                <a:lnTo>
                  <a:pt x="0" y="55587"/>
                </a:lnTo>
                <a:cubicBezTo>
                  <a:pt x="0" y="24887"/>
                  <a:pt x="24887" y="0"/>
                  <a:pt x="55587" y="0"/>
                </a:cubicBezTo>
                <a:close/>
              </a:path>
            </a:pathLst>
          </a:custGeom>
          <a:solidFill>
            <a:srgbClr val="6B4C9A"/>
          </a:solidFill>
          <a:ln/>
        </p:spPr>
      </p:sp>
      <p:sp>
        <p:nvSpPr>
          <p:cNvPr id="95" name="Shape 93"/>
          <p:cNvSpPr/>
          <p:nvPr/>
        </p:nvSpPr>
        <p:spPr>
          <a:xfrm>
            <a:off x="8321550" y="4947211"/>
            <a:ext cx="1591630" cy="600336"/>
          </a:xfrm>
          <a:custGeom>
            <a:avLst/>
            <a:gdLst/>
            <a:ahLst/>
            <a:cxnLst/>
            <a:rect l="l" t="t" r="r" b="b"/>
            <a:pathLst>
              <a:path w="1591630" h="600336">
                <a:moveTo>
                  <a:pt x="74117" y="0"/>
                </a:moveTo>
                <a:lnTo>
                  <a:pt x="1517513" y="0"/>
                </a:lnTo>
                <a:cubicBezTo>
                  <a:pt x="1558447" y="0"/>
                  <a:pt x="1591630" y="33184"/>
                  <a:pt x="1591630" y="74117"/>
                </a:cubicBezTo>
                <a:lnTo>
                  <a:pt x="1591630" y="526218"/>
                </a:lnTo>
                <a:cubicBezTo>
                  <a:pt x="1591630" y="567152"/>
                  <a:pt x="1558447" y="600336"/>
                  <a:pt x="1517513" y="600336"/>
                </a:cubicBezTo>
                <a:lnTo>
                  <a:pt x="74117" y="600336"/>
                </a:lnTo>
                <a:cubicBezTo>
                  <a:pt x="33184" y="600336"/>
                  <a:pt x="0" y="567152"/>
                  <a:pt x="0" y="526218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1A1A2E">
              <a:alpha val="50196"/>
            </a:srgbClr>
          </a:solidFill>
          <a:ln w="10160">
            <a:solidFill>
              <a:srgbClr val="F5F5F7">
                <a:alpha val="20000"/>
              </a:srgbClr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436429" y="5062088"/>
            <a:ext cx="1426723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3 Months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8436429" y="5284434"/>
            <a:ext cx="1417459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F5F5F7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Seasonal buyers</a:t>
            </a:r>
            <a:endParaRPr lang="en-US" sz="1600" dirty="0"/>
          </a:p>
        </p:txBody>
      </p:sp>
      <p:sp>
        <p:nvSpPr>
          <p:cNvPr id="98" name="Shape 96"/>
          <p:cNvSpPr/>
          <p:nvPr/>
        </p:nvSpPr>
        <p:spPr>
          <a:xfrm>
            <a:off x="10030491" y="4947211"/>
            <a:ext cx="1591630" cy="600336"/>
          </a:xfrm>
          <a:custGeom>
            <a:avLst/>
            <a:gdLst/>
            <a:ahLst/>
            <a:cxnLst/>
            <a:rect l="l" t="t" r="r" b="b"/>
            <a:pathLst>
              <a:path w="1591630" h="600336">
                <a:moveTo>
                  <a:pt x="74117" y="0"/>
                </a:moveTo>
                <a:lnTo>
                  <a:pt x="1517513" y="0"/>
                </a:lnTo>
                <a:cubicBezTo>
                  <a:pt x="1558447" y="0"/>
                  <a:pt x="1591630" y="33184"/>
                  <a:pt x="1591630" y="74117"/>
                </a:cubicBezTo>
                <a:lnTo>
                  <a:pt x="1591630" y="526218"/>
                </a:lnTo>
                <a:cubicBezTo>
                  <a:pt x="1591630" y="567152"/>
                  <a:pt x="1558447" y="600336"/>
                  <a:pt x="1517513" y="600336"/>
                </a:cubicBezTo>
                <a:lnTo>
                  <a:pt x="74117" y="600336"/>
                </a:lnTo>
                <a:cubicBezTo>
                  <a:pt x="33184" y="600336"/>
                  <a:pt x="0" y="567152"/>
                  <a:pt x="0" y="526218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1A1A2E">
              <a:alpha val="50196"/>
            </a:srgbClr>
          </a:solidFill>
          <a:ln w="10160">
            <a:solidFill>
              <a:srgbClr val="F5F5F7">
                <a:alpha val="2000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0145370" y="5062088"/>
            <a:ext cx="1426723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Annually</a:t>
            </a:r>
            <a:endParaRPr lang="en-US" sz="1600" dirty="0"/>
          </a:p>
        </p:txBody>
      </p:sp>
      <p:sp>
        <p:nvSpPr>
          <p:cNvPr id="100" name="Text 98"/>
          <p:cNvSpPr/>
          <p:nvPr/>
        </p:nvSpPr>
        <p:spPr>
          <a:xfrm>
            <a:off x="10145370" y="5284434"/>
            <a:ext cx="1417459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F5F5F7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Holiday shoppers</a:t>
            </a:r>
            <a:endParaRPr lang="en-US" sz="1600" dirty="0"/>
          </a:p>
        </p:txBody>
      </p:sp>
      <p:sp>
        <p:nvSpPr>
          <p:cNvPr id="101" name="Shape 99"/>
          <p:cNvSpPr/>
          <p:nvPr/>
        </p:nvSpPr>
        <p:spPr>
          <a:xfrm>
            <a:off x="374283" y="6103411"/>
            <a:ext cx="11439728" cy="748567"/>
          </a:xfrm>
          <a:custGeom>
            <a:avLst/>
            <a:gdLst/>
            <a:ahLst/>
            <a:cxnLst/>
            <a:rect l="l" t="t" r="r" b="b"/>
            <a:pathLst>
              <a:path w="11439728" h="748567">
                <a:moveTo>
                  <a:pt x="111170" y="0"/>
                </a:moveTo>
                <a:lnTo>
                  <a:pt x="11328558" y="0"/>
                </a:lnTo>
                <a:cubicBezTo>
                  <a:pt x="11389955" y="0"/>
                  <a:pt x="11439728" y="49772"/>
                  <a:pt x="11439728" y="111170"/>
                </a:cubicBezTo>
                <a:lnTo>
                  <a:pt x="11439728" y="637397"/>
                </a:lnTo>
                <a:cubicBezTo>
                  <a:pt x="11439728" y="698794"/>
                  <a:pt x="11389955" y="748567"/>
                  <a:pt x="11328558" y="748567"/>
                </a:cubicBezTo>
                <a:lnTo>
                  <a:pt x="111170" y="748567"/>
                </a:lnTo>
                <a:cubicBezTo>
                  <a:pt x="49813" y="748567"/>
                  <a:pt x="0" y="698753"/>
                  <a:pt x="0" y="637397"/>
                </a:cubicBezTo>
                <a:lnTo>
                  <a:pt x="0" y="111170"/>
                </a:lnTo>
                <a:cubicBezTo>
                  <a:pt x="0" y="49813"/>
                  <a:pt x="49813" y="0"/>
                  <a:pt x="111170" y="0"/>
                </a:cubicBezTo>
                <a:close/>
              </a:path>
            </a:pathLst>
          </a:custGeom>
          <a:gradFill rotWithShape="1" flip="none">
            <a:gsLst>
              <a:gs pos="0">
                <a:srgbClr val="6B4C9A">
                  <a:alpha val="30000"/>
                </a:srgbClr>
              </a:gs>
              <a:gs pos="100000">
                <a:srgbClr val="F4E285">
                  <a:alpha val="20000"/>
                </a:srgbClr>
              </a:gs>
            </a:gsLst>
            <a:lin ang="0" scaled="1"/>
          </a:gradFill>
          <a:ln w="10160">
            <a:solidFill>
              <a:srgbClr val="6B4C9A">
                <a:alpha val="50196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81807" y="6366523"/>
            <a:ext cx="166760" cy="222347"/>
          </a:xfrm>
          <a:custGeom>
            <a:avLst/>
            <a:gdLst/>
            <a:ahLst/>
            <a:cxnLst/>
            <a:rect l="l" t="t" r="r" b="b"/>
            <a:pathLst>
              <a:path w="166760" h="222347">
                <a:moveTo>
                  <a:pt x="127198" y="166760"/>
                </a:moveTo>
                <a:cubicBezTo>
                  <a:pt x="130368" y="157076"/>
                  <a:pt x="136708" y="148303"/>
                  <a:pt x="143874" y="140747"/>
                </a:cubicBezTo>
                <a:cubicBezTo>
                  <a:pt x="158074" y="125808"/>
                  <a:pt x="166760" y="105615"/>
                  <a:pt x="166760" y="83380"/>
                </a:cubicBezTo>
                <a:cubicBezTo>
                  <a:pt x="166760" y="37347"/>
                  <a:pt x="129413" y="0"/>
                  <a:pt x="83380" y="0"/>
                </a:cubicBezTo>
                <a:cubicBezTo>
                  <a:pt x="37347" y="0"/>
                  <a:pt x="0" y="37347"/>
                  <a:pt x="0" y="83380"/>
                </a:cubicBezTo>
                <a:cubicBezTo>
                  <a:pt x="0" y="105615"/>
                  <a:pt x="8685" y="125808"/>
                  <a:pt x="22886" y="140747"/>
                </a:cubicBezTo>
                <a:cubicBezTo>
                  <a:pt x="30052" y="148303"/>
                  <a:pt x="36435" y="157076"/>
                  <a:pt x="39562" y="166760"/>
                </a:cubicBezTo>
                <a:lnTo>
                  <a:pt x="127154" y="166760"/>
                </a:lnTo>
                <a:close/>
                <a:moveTo>
                  <a:pt x="125070" y="187605"/>
                </a:moveTo>
                <a:lnTo>
                  <a:pt x="41690" y="187605"/>
                </a:lnTo>
                <a:lnTo>
                  <a:pt x="41690" y="194553"/>
                </a:lnTo>
                <a:cubicBezTo>
                  <a:pt x="41690" y="213748"/>
                  <a:pt x="57237" y="229295"/>
                  <a:pt x="76432" y="229295"/>
                </a:cubicBezTo>
                <a:lnTo>
                  <a:pt x="90328" y="229295"/>
                </a:lnTo>
                <a:cubicBezTo>
                  <a:pt x="109523" y="229295"/>
                  <a:pt x="125070" y="213748"/>
                  <a:pt x="125070" y="194553"/>
                </a:cubicBezTo>
                <a:lnTo>
                  <a:pt x="125070" y="187605"/>
                </a:lnTo>
                <a:close/>
                <a:moveTo>
                  <a:pt x="79906" y="48638"/>
                </a:moveTo>
                <a:cubicBezTo>
                  <a:pt x="62622" y="48638"/>
                  <a:pt x="48638" y="62622"/>
                  <a:pt x="48638" y="79906"/>
                </a:cubicBezTo>
                <a:cubicBezTo>
                  <a:pt x="48638" y="85682"/>
                  <a:pt x="43992" y="90328"/>
                  <a:pt x="38216" y="90328"/>
                </a:cubicBezTo>
                <a:cubicBezTo>
                  <a:pt x="32440" y="90328"/>
                  <a:pt x="27793" y="85682"/>
                  <a:pt x="27793" y="79906"/>
                </a:cubicBezTo>
                <a:cubicBezTo>
                  <a:pt x="27793" y="51114"/>
                  <a:pt x="51114" y="27793"/>
                  <a:pt x="79906" y="27793"/>
                </a:cubicBezTo>
                <a:cubicBezTo>
                  <a:pt x="85682" y="27793"/>
                  <a:pt x="90328" y="32440"/>
                  <a:pt x="90328" y="38216"/>
                </a:cubicBezTo>
                <a:cubicBezTo>
                  <a:pt x="90328" y="43992"/>
                  <a:pt x="85682" y="48638"/>
                  <a:pt x="79906" y="48638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103" name="Text 101"/>
          <p:cNvSpPr/>
          <p:nvPr/>
        </p:nvSpPr>
        <p:spPr>
          <a:xfrm>
            <a:off x="915326" y="6347995"/>
            <a:ext cx="1704657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Behavioral Insight:</a:t>
            </a:r>
            <a:endParaRPr lang="en-US" sz="1600" dirty="0"/>
          </a:p>
        </p:txBody>
      </p:sp>
      <p:sp>
        <p:nvSpPr>
          <p:cNvPr id="104" name="Text 102"/>
          <p:cNvSpPr/>
          <p:nvPr/>
        </p:nvSpPr>
        <p:spPr>
          <a:xfrm>
            <a:off x="2761497" y="6255350"/>
            <a:ext cx="8977240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Customers prefer </a:t>
            </a:r>
            <a:pPr>
              <a:lnSpc>
                <a:spcPct val="130000"/>
              </a:lnSpc>
            </a:pPr>
            <a:r>
              <a:rPr lang="en-US" sz="1167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fast, flexible shipping</a:t>
            </a:r>
            <a:pPr>
              <a:lnSpc>
                <a:spcPct val="130000"/>
              </a:lnSpc>
            </a:pPr>
            <a:r>
              <a:rPr lang="en-US" sz="1167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(Express, 2-Day, Store Pickup), </a:t>
            </a:r>
            <a:pPr>
              <a:lnSpc>
                <a:spcPct val="130000"/>
              </a:lnSpc>
            </a:pPr>
            <a:r>
              <a:rPr lang="en-US" sz="1167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trusted payment methods</a:t>
            </a:r>
            <a:pPr>
              <a:lnSpc>
                <a:spcPct val="130000"/>
              </a:lnSpc>
            </a:pPr>
            <a:r>
              <a:rPr lang="en-US" sz="1167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(Credit Card, PayPal), and </a:t>
            </a:r>
            <a:pPr>
              <a:lnSpc>
                <a:spcPct val="130000"/>
              </a:lnSpc>
            </a:pPr>
            <a:r>
              <a:rPr lang="en-US" sz="1167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frequent purchasing</a:t>
            </a:r>
            <a:pPr>
              <a:lnSpc>
                <a:spcPct val="130000"/>
              </a:lnSpc>
            </a:pPr>
            <a:r>
              <a:rPr lang="en-US" sz="1167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(Weekly/Bi-Weekly). Tailor experiences to these preferences for higher satisfaction and conversion.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3398" y="399738"/>
            <a:ext cx="72680" cy="363398"/>
          </a:xfrm>
          <a:custGeom>
            <a:avLst/>
            <a:gdLst/>
            <a:ahLst/>
            <a:cxnLst/>
            <a:rect l="l" t="t" r="r" b="b"/>
            <a:pathLst>
              <a:path w="72680" h="363398">
                <a:moveTo>
                  <a:pt x="36340" y="0"/>
                </a:moveTo>
                <a:lnTo>
                  <a:pt x="36340" y="0"/>
                </a:lnTo>
                <a:cubicBezTo>
                  <a:pt x="56396" y="0"/>
                  <a:pt x="72680" y="16283"/>
                  <a:pt x="72680" y="36340"/>
                </a:cubicBezTo>
                <a:lnTo>
                  <a:pt x="72680" y="327058"/>
                </a:lnTo>
                <a:cubicBezTo>
                  <a:pt x="72680" y="347128"/>
                  <a:pt x="56410" y="363398"/>
                  <a:pt x="36340" y="363398"/>
                </a:cubicBezTo>
                <a:lnTo>
                  <a:pt x="36340" y="363398"/>
                </a:lnTo>
                <a:cubicBezTo>
                  <a:pt x="16270" y="363398"/>
                  <a:pt x="0" y="347128"/>
                  <a:pt x="0" y="327058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3" name="Text 1"/>
          <p:cNvSpPr/>
          <p:nvPr/>
        </p:nvSpPr>
        <p:spPr>
          <a:xfrm>
            <a:off x="545097" y="363398"/>
            <a:ext cx="5868876" cy="436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34" b="1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Discount &amp; Promotion Impact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5097" y="872155"/>
            <a:ext cx="11374355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Analyzing discount effectiveness and optimization opportunities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0666" y="1315500"/>
            <a:ext cx="4466160" cy="4011913"/>
          </a:xfrm>
          <a:custGeom>
            <a:avLst/>
            <a:gdLst/>
            <a:ahLst/>
            <a:cxnLst/>
            <a:rect l="l" t="t" r="r" b="b"/>
            <a:pathLst>
              <a:path w="4466160" h="4011913">
                <a:moveTo>
                  <a:pt x="109004" y="0"/>
                </a:moveTo>
                <a:lnTo>
                  <a:pt x="4357157" y="0"/>
                </a:lnTo>
                <a:cubicBezTo>
                  <a:pt x="4417358" y="0"/>
                  <a:pt x="4466160" y="48803"/>
                  <a:pt x="4466160" y="109004"/>
                </a:cubicBezTo>
                <a:lnTo>
                  <a:pt x="4466160" y="3902909"/>
                </a:lnTo>
                <a:cubicBezTo>
                  <a:pt x="4466160" y="3963110"/>
                  <a:pt x="4417358" y="4011913"/>
                  <a:pt x="4357157" y="4011913"/>
                </a:cubicBezTo>
                <a:lnTo>
                  <a:pt x="109004" y="4011913"/>
                </a:lnTo>
                <a:cubicBezTo>
                  <a:pt x="48803" y="4011913"/>
                  <a:pt x="0" y="3963110"/>
                  <a:pt x="0" y="3902909"/>
                </a:cubicBezTo>
                <a:lnTo>
                  <a:pt x="0" y="109004"/>
                </a:lnTo>
                <a:cubicBezTo>
                  <a:pt x="0" y="48843"/>
                  <a:pt x="48843" y="0"/>
                  <a:pt x="109004" y="0"/>
                </a:cubicBezTo>
                <a:close/>
              </a:path>
            </a:pathLst>
          </a:custGeom>
          <a:gradFill rotWithShape="1" flip="none">
            <a:gsLst>
              <a:gs pos="0">
                <a:srgbClr val="6B4C9A">
                  <a:alpha val="40000"/>
                </a:srgbClr>
              </a:gs>
              <a:gs pos="100000">
                <a:srgbClr val="4A3B69">
                  <a:alpha val="40000"/>
                </a:srgbClr>
              </a:gs>
            </a:gsLst>
            <a:lin ang="2700000" scaled="1"/>
          </a:gradFill>
          <a:ln w="20320">
            <a:solidFill>
              <a:srgbClr val="F4E285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6855" y="1577032"/>
            <a:ext cx="190784" cy="218039"/>
          </a:xfrm>
          <a:custGeom>
            <a:avLst/>
            <a:gdLst/>
            <a:ahLst/>
            <a:cxnLst/>
            <a:rect l="l" t="t" r="r" b="b"/>
            <a:pathLst>
              <a:path w="190784" h="218039">
                <a:moveTo>
                  <a:pt x="81765" y="54510"/>
                </a:moveTo>
                <a:cubicBezTo>
                  <a:pt x="81765" y="31946"/>
                  <a:pt x="63446" y="13627"/>
                  <a:pt x="40882" y="13627"/>
                </a:cubicBezTo>
                <a:cubicBezTo>
                  <a:pt x="18319" y="13627"/>
                  <a:pt x="0" y="31946"/>
                  <a:pt x="0" y="54510"/>
                </a:cubicBezTo>
                <a:cubicBezTo>
                  <a:pt x="0" y="77073"/>
                  <a:pt x="18319" y="95392"/>
                  <a:pt x="40882" y="95392"/>
                </a:cubicBezTo>
                <a:cubicBezTo>
                  <a:pt x="63446" y="95392"/>
                  <a:pt x="81765" y="77073"/>
                  <a:pt x="81765" y="54510"/>
                </a:cubicBezTo>
                <a:close/>
                <a:moveTo>
                  <a:pt x="190784" y="163529"/>
                </a:moveTo>
                <a:cubicBezTo>
                  <a:pt x="190784" y="140966"/>
                  <a:pt x="172465" y="122647"/>
                  <a:pt x="149902" y="122647"/>
                </a:cubicBezTo>
                <a:cubicBezTo>
                  <a:pt x="127338" y="122647"/>
                  <a:pt x="109019" y="140966"/>
                  <a:pt x="109019" y="163529"/>
                </a:cubicBezTo>
                <a:cubicBezTo>
                  <a:pt x="109019" y="186093"/>
                  <a:pt x="127338" y="204411"/>
                  <a:pt x="149902" y="204411"/>
                </a:cubicBezTo>
                <a:cubicBezTo>
                  <a:pt x="172465" y="204411"/>
                  <a:pt x="190784" y="186093"/>
                  <a:pt x="190784" y="163529"/>
                </a:cubicBezTo>
                <a:close/>
                <a:moveTo>
                  <a:pt x="186781" y="36879"/>
                </a:moveTo>
                <a:cubicBezTo>
                  <a:pt x="192104" y="31556"/>
                  <a:pt x="192104" y="22911"/>
                  <a:pt x="186781" y="17588"/>
                </a:cubicBezTo>
                <a:cubicBezTo>
                  <a:pt x="181458" y="12265"/>
                  <a:pt x="172813" y="12265"/>
                  <a:pt x="167490" y="17588"/>
                </a:cubicBezTo>
                <a:lnTo>
                  <a:pt x="3960" y="181117"/>
                </a:lnTo>
                <a:cubicBezTo>
                  <a:pt x="-1363" y="186440"/>
                  <a:pt x="-1363" y="195085"/>
                  <a:pt x="3960" y="200408"/>
                </a:cubicBezTo>
                <a:cubicBezTo>
                  <a:pt x="9284" y="205731"/>
                  <a:pt x="17929" y="205731"/>
                  <a:pt x="23252" y="200408"/>
                </a:cubicBezTo>
                <a:lnTo>
                  <a:pt x="186781" y="36879"/>
                </a:ln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7" name="Text 5"/>
          <p:cNvSpPr/>
          <p:nvPr/>
        </p:nvSpPr>
        <p:spPr>
          <a:xfrm>
            <a:off x="868521" y="1540808"/>
            <a:ext cx="3852018" cy="29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7" b="1" dirty="0">
                <a:solidFill>
                  <a:srgbClr val="F4E2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Discount Analysis Metrics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4142" y="2013110"/>
            <a:ext cx="3997377" cy="944835"/>
          </a:xfrm>
          <a:custGeom>
            <a:avLst/>
            <a:gdLst/>
            <a:ahLst/>
            <a:cxnLst/>
            <a:rect l="l" t="t" r="r" b="b"/>
            <a:pathLst>
              <a:path w="3997377" h="944835">
                <a:moveTo>
                  <a:pt x="36340" y="0"/>
                </a:moveTo>
                <a:lnTo>
                  <a:pt x="3888362" y="0"/>
                </a:lnTo>
                <a:cubicBezTo>
                  <a:pt x="3948569" y="0"/>
                  <a:pt x="3997377" y="48808"/>
                  <a:pt x="3997377" y="109015"/>
                </a:cubicBezTo>
                <a:lnTo>
                  <a:pt x="3997377" y="835820"/>
                </a:lnTo>
                <a:cubicBezTo>
                  <a:pt x="3997377" y="896027"/>
                  <a:pt x="3948569" y="944835"/>
                  <a:pt x="3888362" y="944835"/>
                </a:cubicBezTo>
                <a:lnTo>
                  <a:pt x="36340" y="944835"/>
                </a:lnTo>
                <a:cubicBezTo>
                  <a:pt x="16270" y="944835"/>
                  <a:pt x="0" y="928565"/>
                  <a:pt x="0" y="908495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1A1A2E">
              <a:alpha val="7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14142" y="2013110"/>
            <a:ext cx="36340" cy="944835"/>
          </a:xfrm>
          <a:custGeom>
            <a:avLst/>
            <a:gdLst/>
            <a:ahLst/>
            <a:cxnLst/>
            <a:rect l="l" t="t" r="r" b="b"/>
            <a:pathLst>
              <a:path w="36340" h="944835">
                <a:moveTo>
                  <a:pt x="36340" y="0"/>
                </a:moveTo>
                <a:lnTo>
                  <a:pt x="36340" y="0"/>
                </a:lnTo>
                <a:lnTo>
                  <a:pt x="36340" y="944835"/>
                </a:lnTo>
                <a:lnTo>
                  <a:pt x="36340" y="944835"/>
                </a:lnTo>
                <a:cubicBezTo>
                  <a:pt x="16270" y="944835"/>
                  <a:pt x="0" y="928565"/>
                  <a:pt x="0" y="908495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10" name="Text 8"/>
          <p:cNvSpPr/>
          <p:nvPr/>
        </p:nvSpPr>
        <p:spPr>
          <a:xfrm>
            <a:off x="814011" y="2249319"/>
            <a:ext cx="1689800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Discount Application Rate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63667" y="2194809"/>
            <a:ext cx="799475" cy="327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46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4011" y="2594547"/>
            <a:ext cx="3679404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F5F5F7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analyzed transactions include discounts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4142" y="3103304"/>
            <a:ext cx="3997377" cy="944835"/>
          </a:xfrm>
          <a:custGeom>
            <a:avLst/>
            <a:gdLst/>
            <a:ahLst/>
            <a:cxnLst/>
            <a:rect l="l" t="t" r="r" b="b"/>
            <a:pathLst>
              <a:path w="3997377" h="944835">
                <a:moveTo>
                  <a:pt x="36340" y="0"/>
                </a:moveTo>
                <a:lnTo>
                  <a:pt x="3888362" y="0"/>
                </a:lnTo>
                <a:cubicBezTo>
                  <a:pt x="3948569" y="0"/>
                  <a:pt x="3997377" y="48808"/>
                  <a:pt x="3997377" y="109015"/>
                </a:cubicBezTo>
                <a:lnTo>
                  <a:pt x="3997377" y="835820"/>
                </a:lnTo>
                <a:cubicBezTo>
                  <a:pt x="3997377" y="896027"/>
                  <a:pt x="3948569" y="944835"/>
                  <a:pt x="3888362" y="944835"/>
                </a:cubicBezTo>
                <a:lnTo>
                  <a:pt x="36340" y="944835"/>
                </a:lnTo>
                <a:cubicBezTo>
                  <a:pt x="16270" y="944835"/>
                  <a:pt x="0" y="928565"/>
                  <a:pt x="0" y="908495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1A1A2E">
              <a:alpha val="7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14142" y="3103304"/>
            <a:ext cx="36340" cy="944835"/>
          </a:xfrm>
          <a:custGeom>
            <a:avLst/>
            <a:gdLst/>
            <a:ahLst/>
            <a:cxnLst/>
            <a:rect l="l" t="t" r="r" b="b"/>
            <a:pathLst>
              <a:path w="36340" h="944835">
                <a:moveTo>
                  <a:pt x="36340" y="0"/>
                </a:moveTo>
                <a:lnTo>
                  <a:pt x="36340" y="0"/>
                </a:lnTo>
                <a:lnTo>
                  <a:pt x="36340" y="944835"/>
                </a:lnTo>
                <a:lnTo>
                  <a:pt x="36340" y="944835"/>
                </a:lnTo>
                <a:cubicBezTo>
                  <a:pt x="16270" y="944835"/>
                  <a:pt x="0" y="928565"/>
                  <a:pt x="0" y="908495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15" name="Text 13"/>
          <p:cNvSpPr/>
          <p:nvPr/>
        </p:nvSpPr>
        <p:spPr>
          <a:xfrm>
            <a:off x="814011" y="3339512"/>
            <a:ext cx="1589866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Promo Code Correlation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63667" y="3285003"/>
            <a:ext cx="799475" cy="327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46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4011" y="3684740"/>
            <a:ext cx="3679404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F5F5F7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Perfect alignment with discount usage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4142" y="4193497"/>
            <a:ext cx="3997377" cy="908495"/>
          </a:xfrm>
          <a:custGeom>
            <a:avLst/>
            <a:gdLst/>
            <a:ahLst/>
            <a:cxnLst/>
            <a:rect l="l" t="t" r="r" b="b"/>
            <a:pathLst>
              <a:path w="3997377" h="908495">
                <a:moveTo>
                  <a:pt x="36340" y="0"/>
                </a:moveTo>
                <a:lnTo>
                  <a:pt x="3888358" y="0"/>
                </a:lnTo>
                <a:cubicBezTo>
                  <a:pt x="3948567" y="0"/>
                  <a:pt x="3997377" y="48810"/>
                  <a:pt x="3997377" y="109019"/>
                </a:cubicBezTo>
                <a:lnTo>
                  <a:pt x="3997377" y="799475"/>
                </a:lnTo>
                <a:cubicBezTo>
                  <a:pt x="3997377" y="859685"/>
                  <a:pt x="3948567" y="908495"/>
                  <a:pt x="3888358" y="908495"/>
                </a:cubicBezTo>
                <a:lnTo>
                  <a:pt x="36340" y="908495"/>
                </a:lnTo>
                <a:cubicBezTo>
                  <a:pt x="16270" y="908495"/>
                  <a:pt x="0" y="892225"/>
                  <a:pt x="0" y="872155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1A1A2E">
              <a:alpha val="7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14142" y="4193497"/>
            <a:ext cx="36340" cy="908495"/>
          </a:xfrm>
          <a:custGeom>
            <a:avLst/>
            <a:gdLst/>
            <a:ahLst/>
            <a:cxnLst/>
            <a:rect l="l" t="t" r="r" b="b"/>
            <a:pathLst>
              <a:path w="36340" h="908495">
                <a:moveTo>
                  <a:pt x="36340" y="0"/>
                </a:moveTo>
                <a:lnTo>
                  <a:pt x="36340" y="0"/>
                </a:lnTo>
                <a:lnTo>
                  <a:pt x="36340" y="908495"/>
                </a:lnTo>
                <a:lnTo>
                  <a:pt x="36340" y="908495"/>
                </a:lnTo>
                <a:cubicBezTo>
                  <a:pt x="16270" y="908495"/>
                  <a:pt x="0" y="892225"/>
                  <a:pt x="0" y="872155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6B4C9A"/>
          </a:solidFill>
          <a:ln/>
        </p:spPr>
      </p:sp>
      <p:sp>
        <p:nvSpPr>
          <p:cNvPr id="20" name="Text 18"/>
          <p:cNvSpPr/>
          <p:nvPr/>
        </p:nvSpPr>
        <p:spPr>
          <a:xfrm>
            <a:off x="814011" y="4411425"/>
            <a:ext cx="1771565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High-Value Discount Users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94394" y="4375196"/>
            <a:ext cx="844900" cy="29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7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$59.76+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4011" y="4738483"/>
            <a:ext cx="3679404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F5F5F7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Still spend above average with discounts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26475" y="1311866"/>
            <a:ext cx="6802809" cy="4022815"/>
          </a:xfrm>
          <a:custGeom>
            <a:avLst/>
            <a:gdLst/>
            <a:ahLst/>
            <a:cxnLst/>
            <a:rect l="l" t="t" r="r" b="b"/>
            <a:pathLst>
              <a:path w="6802809" h="4022815">
                <a:moveTo>
                  <a:pt x="109018" y="0"/>
                </a:moveTo>
                <a:lnTo>
                  <a:pt x="6693791" y="0"/>
                </a:lnTo>
                <a:cubicBezTo>
                  <a:pt x="6754000" y="0"/>
                  <a:pt x="6802809" y="48809"/>
                  <a:pt x="6802809" y="109018"/>
                </a:cubicBezTo>
                <a:lnTo>
                  <a:pt x="6802809" y="3913797"/>
                </a:lnTo>
                <a:cubicBezTo>
                  <a:pt x="6802809" y="3974006"/>
                  <a:pt x="6754000" y="4022815"/>
                  <a:pt x="6693791" y="4022815"/>
                </a:cubicBezTo>
                <a:lnTo>
                  <a:pt x="109018" y="4022815"/>
                </a:lnTo>
                <a:cubicBezTo>
                  <a:pt x="48809" y="4022815"/>
                  <a:pt x="0" y="3974006"/>
                  <a:pt x="0" y="3913797"/>
                </a:cubicBezTo>
                <a:lnTo>
                  <a:pt x="0" y="109018"/>
                </a:lnTo>
                <a:cubicBezTo>
                  <a:pt x="0" y="48849"/>
                  <a:pt x="48849" y="0"/>
                  <a:pt x="109018" y="0"/>
                </a:cubicBezTo>
                <a:close/>
              </a:path>
            </a:pathLst>
          </a:custGeom>
          <a:solidFill>
            <a:srgbClr val="4A3B69">
              <a:alpha val="30196"/>
            </a:srgbClr>
          </a:solidFill>
          <a:ln w="10160">
            <a:solidFill>
              <a:srgbClr val="6B4C9A">
                <a:alpha val="5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75402" y="1569766"/>
            <a:ext cx="218039" cy="218039"/>
          </a:xfrm>
          <a:custGeom>
            <a:avLst/>
            <a:gdLst/>
            <a:ahLst/>
            <a:cxnLst/>
            <a:rect l="l" t="t" r="r" b="b"/>
            <a:pathLst>
              <a:path w="218039" h="218039">
                <a:moveTo>
                  <a:pt x="27255" y="27255"/>
                </a:moveTo>
                <a:cubicBezTo>
                  <a:pt x="27255" y="19717"/>
                  <a:pt x="21165" y="13627"/>
                  <a:pt x="13627" y="13627"/>
                </a:cubicBezTo>
                <a:cubicBezTo>
                  <a:pt x="6090" y="13627"/>
                  <a:pt x="0" y="19717"/>
                  <a:pt x="0" y="27255"/>
                </a:cubicBezTo>
                <a:lnTo>
                  <a:pt x="0" y="170343"/>
                </a:lnTo>
                <a:cubicBezTo>
                  <a:pt x="0" y="189166"/>
                  <a:pt x="15246" y="204411"/>
                  <a:pt x="34069" y="204411"/>
                </a:cubicBezTo>
                <a:lnTo>
                  <a:pt x="204411" y="204411"/>
                </a:lnTo>
                <a:cubicBezTo>
                  <a:pt x="211949" y="204411"/>
                  <a:pt x="218039" y="198322"/>
                  <a:pt x="218039" y="190784"/>
                </a:cubicBezTo>
                <a:cubicBezTo>
                  <a:pt x="218039" y="183246"/>
                  <a:pt x="211949" y="177156"/>
                  <a:pt x="204411" y="177156"/>
                </a:cubicBezTo>
                <a:lnTo>
                  <a:pt x="34069" y="177156"/>
                </a:lnTo>
                <a:cubicBezTo>
                  <a:pt x="30321" y="177156"/>
                  <a:pt x="27255" y="174090"/>
                  <a:pt x="27255" y="170343"/>
                </a:cubicBezTo>
                <a:lnTo>
                  <a:pt x="27255" y="27255"/>
                </a:lnTo>
                <a:close/>
                <a:moveTo>
                  <a:pt x="200408" y="64134"/>
                </a:moveTo>
                <a:cubicBezTo>
                  <a:pt x="205731" y="58811"/>
                  <a:pt x="205731" y="50166"/>
                  <a:pt x="200408" y="44843"/>
                </a:cubicBezTo>
                <a:cubicBezTo>
                  <a:pt x="195085" y="39520"/>
                  <a:pt x="186440" y="39520"/>
                  <a:pt x="181117" y="44843"/>
                </a:cubicBezTo>
                <a:lnTo>
                  <a:pt x="136274" y="89728"/>
                </a:lnTo>
                <a:lnTo>
                  <a:pt x="111830" y="65326"/>
                </a:lnTo>
                <a:cubicBezTo>
                  <a:pt x="106507" y="60003"/>
                  <a:pt x="97862" y="60003"/>
                  <a:pt x="92539" y="65326"/>
                </a:cubicBezTo>
                <a:lnTo>
                  <a:pt x="51656" y="106209"/>
                </a:lnTo>
                <a:cubicBezTo>
                  <a:pt x="46333" y="111532"/>
                  <a:pt x="46333" y="120177"/>
                  <a:pt x="51656" y="125500"/>
                </a:cubicBezTo>
                <a:cubicBezTo>
                  <a:pt x="56980" y="130823"/>
                  <a:pt x="65625" y="130823"/>
                  <a:pt x="70948" y="125500"/>
                </a:cubicBezTo>
                <a:lnTo>
                  <a:pt x="102206" y="94242"/>
                </a:lnTo>
                <a:lnTo>
                  <a:pt x="126650" y="118686"/>
                </a:lnTo>
                <a:cubicBezTo>
                  <a:pt x="131973" y="124010"/>
                  <a:pt x="140618" y="124010"/>
                  <a:pt x="145941" y="118686"/>
                </a:cubicBezTo>
                <a:lnTo>
                  <a:pt x="200451" y="64177"/>
                </a:ln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25" name="Text 23"/>
          <p:cNvSpPr/>
          <p:nvPr/>
        </p:nvSpPr>
        <p:spPr>
          <a:xfrm>
            <a:off x="5520696" y="1533542"/>
            <a:ext cx="6195934" cy="29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7" b="1" dirty="0">
                <a:solidFill>
                  <a:srgbClr val="F4E2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Products by Discount Rate</a:t>
            </a:r>
            <a:endParaRPr lang="en-US" sz="1600" dirty="0"/>
          </a:p>
        </p:txBody>
      </p:sp>
      <p:pic>
        <p:nvPicPr>
          <p:cNvPr id="26" name="Image 0" descr="https://kimi-img.moonshot.cn/pub/slides/26-04-03-03:21:52-d77c3k4chmtggaon5if0.png">    </p:cNvPr>
          <p:cNvPicPr>
            <a:picLocks noChangeAspect="1"/>
          </p:cNvPicPr>
          <p:nvPr/>
        </p:nvPicPr>
        <p:blipFill>
          <a:blip r:embed="rId1"/>
          <a:srcRect l="28" r="28" t="0" b="0"/>
          <a:stretch/>
        </p:blipFill>
        <p:spPr>
          <a:xfrm>
            <a:off x="5248147" y="1969504"/>
            <a:ext cx="6014235" cy="3143392"/>
          </a:xfrm>
          <a:prstGeom prst="roundRect">
            <a:avLst>
              <a:gd name="adj" fmla="val 0"/>
            </a:avLst>
          </a:prstGeom>
        </p:spPr>
      </p:pic>
      <p:sp>
        <p:nvSpPr>
          <p:cNvPr id="27" name="Shape 24"/>
          <p:cNvSpPr/>
          <p:nvPr/>
        </p:nvSpPr>
        <p:spPr>
          <a:xfrm>
            <a:off x="370666" y="5490828"/>
            <a:ext cx="5629034" cy="1359108"/>
          </a:xfrm>
          <a:custGeom>
            <a:avLst/>
            <a:gdLst/>
            <a:ahLst/>
            <a:cxnLst/>
            <a:rect l="l" t="t" r="r" b="b"/>
            <a:pathLst>
              <a:path w="5629034" h="1359108">
                <a:moveTo>
                  <a:pt x="109014" y="0"/>
                </a:moveTo>
                <a:lnTo>
                  <a:pt x="5520020" y="0"/>
                </a:lnTo>
                <a:cubicBezTo>
                  <a:pt x="5580226" y="0"/>
                  <a:pt x="5629034" y="48807"/>
                  <a:pt x="5629034" y="109014"/>
                </a:cubicBezTo>
                <a:lnTo>
                  <a:pt x="5629034" y="1250094"/>
                </a:lnTo>
                <a:cubicBezTo>
                  <a:pt x="5629034" y="1310301"/>
                  <a:pt x="5580226" y="1359108"/>
                  <a:pt x="5520020" y="1359108"/>
                </a:cubicBezTo>
                <a:lnTo>
                  <a:pt x="109014" y="1359108"/>
                </a:lnTo>
                <a:cubicBezTo>
                  <a:pt x="48807" y="1359108"/>
                  <a:pt x="0" y="1310301"/>
                  <a:pt x="0" y="1250094"/>
                </a:cubicBezTo>
                <a:lnTo>
                  <a:pt x="0" y="109014"/>
                </a:lnTo>
                <a:cubicBezTo>
                  <a:pt x="0" y="48848"/>
                  <a:pt x="48848" y="0"/>
                  <a:pt x="109014" y="0"/>
                </a:cubicBezTo>
                <a:close/>
              </a:path>
            </a:pathLst>
          </a:custGeom>
          <a:gradFill rotWithShape="1" flip="none">
            <a:gsLst>
              <a:gs pos="0">
                <a:srgbClr val="F4E285">
                  <a:alpha val="20000"/>
                </a:srgbClr>
              </a:gs>
              <a:gs pos="100000">
                <a:srgbClr val="6B4C9A">
                  <a:alpha val="20000"/>
                </a:srgbClr>
              </a:gs>
            </a:gsLst>
            <a:lin ang="0" scaled="1"/>
          </a:gradFill>
          <a:ln w="20320">
            <a:solidFill>
              <a:srgbClr val="F4E285">
                <a:alpha val="4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9633" y="5679796"/>
            <a:ext cx="436077" cy="436077"/>
          </a:xfrm>
          <a:custGeom>
            <a:avLst/>
            <a:gdLst/>
            <a:ahLst/>
            <a:cxnLst/>
            <a:rect l="l" t="t" r="r" b="b"/>
            <a:pathLst>
              <a:path w="436077" h="436077">
                <a:moveTo>
                  <a:pt x="218039" y="0"/>
                </a:moveTo>
                <a:lnTo>
                  <a:pt x="218039" y="0"/>
                </a:lnTo>
                <a:cubicBezTo>
                  <a:pt x="338458" y="0"/>
                  <a:pt x="436077" y="97619"/>
                  <a:pt x="436077" y="218039"/>
                </a:cubicBezTo>
                <a:lnTo>
                  <a:pt x="436077" y="218039"/>
                </a:lnTo>
                <a:cubicBezTo>
                  <a:pt x="436077" y="338458"/>
                  <a:pt x="338458" y="436077"/>
                  <a:pt x="218039" y="436077"/>
                </a:cubicBezTo>
                <a:lnTo>
                  <a:pt x="218039" y="436077"/>
                </a:lnTo>
                <a:cubicBezTo>
                  <a:pt x="97619" y="436077"/>
                  <a:pt x="0" y="338458"/>
                  <a:pt x="0" y="218039"/>
                </a:cubicBezTo>
                <a:lnTo>
                  <a:pt x="0" y="218039"/>
                </a:lnTo>
                <a:cubicBezTo>
                  <a:pt x="0" y="97619"/>
                  <a:pt x="97619" y="0"/>
                  <a:pt x="218039" y="0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29" name="Shape 26"/>
          <p:cNvSpPr/>
          <p:nvPr/>
        </p:nvSpPr>
        <p:spPr>
          <a:xfrm>
            <a:off x="686822" y="5806985"/>
            <a:ext cx="181699" cy="181699"/>
          </a:xfrm>
          <a:custGeom>
            <a:avLst/>
            <a:gdLst/>
            <a:ahLst/>
            <a:cxnLst/>
            <a:rect l="l" t="t" r="r" b="b"/>
            <a:pathLst>
              <a:path w="181699" h="181699">
                <a:moveTo>
                  <a:pt x="90849" y="0"/>
                </a:moveTo>
                <a:cubicBezTo>
                  <a:pt x="96066" y="0"/>
                  <a:pt x="100857" y="2875"/>
                  <a:pt x="103341" y="7452"/>
                </a:cubicBezTo>
                <a:lnTo>
                  <a:pt x="179996" y="149405"/>
                </a:lnTo>
                <a:cubicBezTo>
                  <a:pt x="182373" y="153805"/>
                  <a:pt x="182267" y="159129"/>
                  <a:pt x="179712" y="163423"/>
                </a:cubicBezTo>
                <a:cubicBezTo>
                  <a:pt x="177156" y="167717"/>
                  <a:pt x="172508" y="170343"/>
                  <a:pt x="167504" y="170343"/>
                </a:cubicBezTo>
                <a:lnTo>
                  <a:pt x="14195" y="170343"/>
                </a:lnTo>
                <a:cubicBezTo>
                  <a:pt x="9191" y="170343"/>
                  <a:pt x="4578" y="167717"/>
                  <a:pt x="1987" y="163423"/>
                </a:cubicBezTo>
                <a:cubicBezTo>
                  <a:pt x="-603" y="159129"/>
                  <a:pt x="-674" y="153805"/>
                  <a:pt x="1703" y="149405"/>
                </a:cubicBezTo>
                <a:lnTo>
                  <a:pt x="78358" y="7452"/>
                </a:lnTo>
                <a:cubicBezTo>
                  <a:pt x="80842" y="2875"/>
                  <a:pt x="85633" y="0"/>
                  <a:pt x="90849" y="0"/>
                </a:cubicBezTo>
                <a:close/>
                <a:moveTo>
                  <a:pt x="90849" y="59620"/>
                </a:moveTo>
                <a:cubicBezTo>
                  <a:pt x="86130" y="59620"/>
                  <a:pt x="82332" y="63417"/>
                  <a:pt x="82332" y="68137"/>
                </a:cubicBezTo>
                <a:lnTo>
                  <a:pt x="82332" y="107884"/>
                </a:lnTo>
                <a:cubicBezTo>
                  <a:pt x="82332" y="112604"/>
                  <a:pt x="86130" y="116401"/>
                  <a:pt x="90849" y="116401"/>
                </a:cubicBezTo>
                <a:cubicBezTo>
                  <a:pt x="95569" y="116401"/>
                  <a:pt x="99367" y="112604"/>
                  <a:pt x="99367" y="107884"/>
                </a:cubicBezTo>
                <a:lnTo>
                  <a:pt x="99367" y="68137"/>
                </a:lnTo>
                <a:cubicBezTo>
                  <a:pt x="99367" y="63417"/>
                  <a:pt x="95569" y="59620"/>
                  <a:pt x="90849" y="59620"/>
                </a:cubicBezTo>
                <a:close/>
                <a:moveTo>
                  <a:pt x="100325" y="136274"/>
                </a:moveTo>
                <a:cubicBezTo>
                  <a:pt x="100540" y="132757"/>
                  <a:pt x="98786" y="129411"/>
                  <a:pt x="95771" y="127587"/>
                </a:cubicBezTo>
                <a:cubicBezTo>
                  <a:pt x="92756" y="125763"/>
                  <a:pt x="88978" y="125763"/>
                  <a:pt x="85963" y="127587"/>
                </a:cubicBezTo>
                <a:cubicBezTo>
                  <a:pt x="82948" y="129411"/>
                  <a:pt x="81194" y="132757"/>
                  <a:pt x="81410" y="136274"/>
                </a:cubicBezTo>
                <a:cubicBezTo>
                  <a:pt x="81194" y="139791"/>
                  <a:pt x="82948" y="143138"/>
                  <a:pt x="85963" y="144961"/>
                </a:cubicBezTo>
                <a:cubicBezTo>
                  <a:pt x="88978" y="146785"/>
                  <a:pt x="92756" y="146785"/>
                  <a:pt x="95771" y="144961"/>
                </a:cubicBezTo>
                <a:cubicBezTo>
                  <a:pt x="98786" y="143138"/>
                  <a:pt x="100540" y="139791"/>
                  <a:pt x="100325" y="136274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30" name="Text 27"/>
          <p:cNvSpPr/>
          <p:nvPr/>
        </p:nvSpPr>
        <p:spPr>
          <a:xfrm>
            <a:off x="1141069" y="5679796"/>
            <a:ext cx="4760513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Strategy: Universal Discounting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141069" y="6006854"/>
            <a:ext cx="4742343" cy="654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100% discount application rate indicates a </a:t>
            </a:r>
            <a:pPr>
              <a:lnSpc>
                <a:spcPct val="130000"/>
              </a:lnSpc>
            </a:pPr>
            <a:r>
              <a:rPr lang="en-US" sz="1145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blanket discount approach</a:t>
            </a:r>
            <a:pPr>
              <a:lnSpc>
                <a:spcPct val="130000"/>
              </a:lnSpc>
            </a:pPr>
            <a:r>
              <a:rPr lang="en-US" sz="1145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While this drives volume, it may be eroding margins on products that would sell without discounts.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195026" y="5490828"/>
            <a:ext cx="5629034" cy="1359108"/>
          </a:xfrm>
          <a:custGeom>
            <a:avLst/>
            <a:gdLst/>
            <a:ahLst/>
            <a:cxnLst/>
            <a:rect l="l" t="t" r="r" b="b"/>
            <a:pathLst>
              <a:path w="5629034" h="1359108">
                <a:moveTo>
                  <a:pt x="109014" y="0"/>
                </a:moveTo>
                <a:lnTo>
                  <a:pt x="5520020" y="0"/>
                </a:lnTo>
                <a:cubicBezTo>
                  <a:pt x="5580226" y="0"/>
                  <a:pt x="5629034" y="48807"/>
                  <a:pt x="5629034" y="109014"/>
                </a:cubicBezTo>
                <a:lnTo>
                  <a:pt x="5629034" y="1250094"/>
                </a:lnTo>
                <a:cubicBezTo>
                  <a:pt x="5629034" y="1310301"/>
                  <a:pt x="5580226" y="1359108"/>
                  <a:pt x="5520020" y="1359108"/>
                </a:cubicBezTo>
                <a:lnTo>
                  <a:pt x="109014" y="1359108"/>
                </a:lnTo>
                <a:cubicBezTo>
                  <a:pt x="48807" y="1359108"/>
                  <a:pt x="0" y="1310301"/>
                  <a:pt x="0" y="1250094"/>
                </a:cubicBezTo>
                <a:lnTo>
                  <a:pt x="0" y="109014"/>
                </a:lnTo>
                <a:cubicBezTo>
                  <a:pt x="0" y="48848"/>
                  <a:pt x="48848" y="0"/>
                  <a:pt x="109014" y="0"/>
                </a:cubicBezTo>
                <a:close/>
              </a:path>
            </a:pathLst>
          </a:custGeom>
          <a:gradFill rotWithShape="1" flip="none">
            <a:gsLst>
              <a:gs pos="0">
                <a:srgbClr val="6B4C9A">
                  <a:alpha val="30000"/>
                </a:srgbClr>
              </a:gs>
              <a:gs pos="100000">
                <a:srgbClr val="F4E285">
                  <a:alpha val="20000"/>
                </a:srgbClr>
              </a:gs>
            </a:gsLst>
            <a:lin ang="0" scaled="1"/>
          </a:gradFill>
          <a:ln w="20320">
            <a:solidFill>
              <a:srgbClr val="6B4C9A">
                <a:alpha val="50196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383993" y="5679796"/>
            <a:ext cx="436077" cy="436077"/>
          </a:xfrm>
          <a:custGeom>
            <a:avLst/>
            <a:gdLst/>
            <a:ahLst/>
            <a:cxnLst/>
            <a:rect l="l" t="t" r="r" b="b"/>
            <a:pathLst>
              <a:path w="436077" h="436077">
                <a:moveTo>
                  <a:pt x="218039" y="0"/>
                </a:moveTo>
                <a:lnTo>
                  <a:pt x="218039" y="0"/>
                </a:lnTo>
                <a:cubicBezTo>
                  <a:pt x="338458" y="0"/>
                  <a:pt x="436077" y="97619"/>
                  <a:pt x="436077" y="218039"/>
                </a:cubicBezTo>
                <a:lnTo>
                  <a:pt x="436077" y="218039"/>
                </a:lnTo>
                <a:cubicBezTo>
                  <a:pt x="436077" y="338458"/>
                  <a:pt x="338458" y="436077"/>
                  <a:pt x="218039" y="436077"/>
                </a:cubicBezTo>
                <a:lnTo>
                  <a:pt x="218039" y="436077"/>
                </a:lnTo>
                <a:cubicBezTo>
                  <a:pt x="97619" y="436077"/>
                  <a:pt x="0" y="338458"/>
                  <a:pt x="0" y="218039"/>
                </a:cubicBezTo>
                <a:lnTo>
                  <a:pt x="0" y="218039"/>
                </a:lnTo>
                <a:cubicBezTo>
                  <a:pt x="0" y="97619"/>
                  <a:pt x="97619" y="0"/>
                  <a:pt x="218039" y="0"/>
                </a:cubicBezTo>
                <a:close/>
              </a:path>
            </a:pathLst>
          </a:custGeom>
          <a:solidFill>
            <a:srgbClr val="6B4C9A"/>
          </a:solidFill>
          <a:ln/>
        </p:spPr>
      </p:sp>
      <p:sp>
        <p:nvSpPr>
          <p:cNvPr id="34" name="Shape 31"/>
          <p:cNvSpPr/>
          <p:nvPr/>
        </p:nvSpPr>
        <p:spPr>
          <a:xfrm>
            <a:off x="6533895" y="5806985"/>
            <a:ext cx="136274" cy="181699"/>
          </a:xfrm>
          <a:custGeom>
            <a:avLst/>
            <a:gdLst/>
            <a:ahLst/>
            <a:cxnLst/>
            <a:rect l="l" t="t" r="r" b="b"/>
            <a:pathLst>
              <a:path w="136274" h="181699">
                <a:moveTo>
                  <a:pt x="103945" y="136274"/>
                </a:moveTo>
                <a:cubicBezTo>
                  <a:pt x="106535" y="128360"/>
                  <a:pt x="111716" y="121192"/>
                  <a:pt x="117572" y="115017"/>
                </a:cubicBezTo>
                <a:cubicBezTo>
                  <a:pt x="129177" y="102809"/>
                  <a:pt x="136274" y="86307"/>
                  <a:pt x="136274" y="68137"/>
                </a:cubicBezTo>
                <a:cubicBezTo>
                  <a:pt x="136274" y="30520"/>
                  <a:pt x="105754" y="0"/>
                  <a:pt x="68137" y="0"/>
                </a:cubicBezTo>
                <a:cubicBezTo>
                  <a:pt x="30520" y="0"/>
                  <a:pt x="0" y="30520"/>
                  <a:pt x="0" y="68137"/>
                </a:cubicBezTo>
                <a:cubicBezTo>
                  <a:pt x="0" y="86307"/>
                  <a:pt x="7098" y="102809"/>
                  <a:pt x="18702" y="115017"/>
                </a:cubicBezTo>
                <a:cubicBezTo>
                  <a:pt x="24558" y="121192"/>
                  <a:pt x="29774" y="128360"/>
                  <a:pt x="32330" y="136274"/>
                </a:cubicBezTo>
                <a:lnTo>
                  <a:pt x="103909" y="136274"/>
                </a:lnTo>
                <a:close/>
                <a:moveTo>
                  <a:pt x="102206" y="153308"/>
                </a:moveTo>
                <a:lnTo>
                  <a:pt x="34069" y="153308"/>
                </a:lnTo>
                <a:lnTo>
                  <a:pt x="34069" y="158987"/>
                </a:lnTo>
                <a:cubicBezTo>
                  <a:pt x="34069" y="174672"/>
                  <a:pt x="46773" y="187377"/>
                  <a:pt x="62459" y="187377"/>
                </a:cubicBezTo>
                <a:lnTo>
                  <a:pt x="73815" y="187377"/>
                </a:lnTo>
                <a:cubicBezTo>
                  <a:pt x="89501" y="187377"/>
                  <a:pt x="102206" y="174672"/>
                  <a:pt x="102206" y="158987"/>
                </a:cubicBezTo>
                <a:lnTo>
                  <a:pt x="102206" y="153308"/>
                </a:lnTo>
                <a:close/>
                <a:moveTo>
                  <a:pt x="65298" y="39747"/>
                </a:moveTo>
                <a:cubicBezTo>
                  <a:pt x="51174" y="39747"/>
                  <a:pt x="39747" y="51174"/>
                  <a:pt x="39747" y="65298"/>
                </a:cubicBezTo>
                <a:cubicBezTo>
                  <a:pt x="39747" y="70018"/>
                  <a:pt x="35949" y="73815"/>
                  <a:pt x="31230" y="73815"/>
                </a:cubicBezTo>
                <a:cubicBezTo>
                  <a:pt x="26510" y="73815"/>
                  <a:pt x="22712" y="70018"/>
                  <a:pt x="22712" y="65298"/>
                </a:cubicBezTo>
                <a:cubicBezTo>
                  <a:pt x="22712" y="41769"/>
                  <a:pt x="41769" y="22712"/>
                  <a:pt x="65298" y="22712"/>
                </a:cubicBezTo>
                <a:cubicBezTo>
                  <a:pt x="70018" y="22712"/>
                  <a:pt x="73815" y="26510"/>
                  <a:pt x="73815" y="31230"/>
                </a:cubicBezTo>
                <a:cubicBezTo>
                  <a:pt x="73815" y="35949"/>
                  <a:pt x="70018" y="39747"/>
                  <a:pt x="65298" y="39747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35" name="Text 32"/>
          <p:cNvSpPr/>
          <p:nvPr/>
        </p:nvSpPr>
        <p:spPr>
          <a:xfrm>
            <a:off x="6965430" y="5679796"/>
            <a:ext cx="4760513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Recommendation: Targeted Discounting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965430" y="6006854"/>
            <a:ext cx="4742343" cy="654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Shift from universal to </a:t>
            </a:r>
            <a:pPr>
              <a:lnSpc>
                <a:spcPct val="130000"/>
              </a:lnSpc>
            </a:pPr>
            <a:r>
              <a:rPr lang="en-US" sz="1145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segment-based discounting</a:t>
            </a:r>
            <a:pPr>
              <a:lnSpc>
                <a:spcPct val="130000"/>
              </a:lnSpc>
            </a:pPr>
            <a:r>
              <a:rPr lang="en-US" sz="1145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Offer higher discounts to new customers and non-subscribers, while reducing discounts for loyal, high-AOV customers.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4925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285750"/>
                </a:lnTo>
                <a:cubicBezTo>
                  <a:pt x="63500" y="303273"/>
                  <a:pt x="49273" y="317500"/>
                  <a:pt x="31750" y="317500"/>
                </a:cubicBezTo>
                <a:lnTo>
                  <a:pt x="31750" y="317500"/>
                </a:lnTo>
                <a:cubicBezTo>
                  <a:pt x="14227" y="317500"/>
                  <a:pt x="0" y="303273"/>
                  <a:pt x="0" y="28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3" name="Text 1"/>
          <p:cNvSpPr/>
          <p:nvPr/>
        </p:nvSpPr>
        <p:spPr>
          <a:xfrm>
            <a:off x="476250" y="31750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Recommendations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6250" y="762000"/>
            <a:ext cx="11477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Priority actions to drive 20%+ revenue growth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3850" y="1149350"/>
            <a:ext cx="5688013" cy="2679700"/>
          </a:xfrm>
          <a:custGeom>
            <a:avLst/>
            <a:gdLst/>
            <a:ahLst/>
            <a:cxnLst/>
            <a:rect l="l" t="t" r="r" b="b"/>
            <a:pathLst>
              <a:path w="5688013" h="2679700">
                <a:moveTo>
                  <a:pt x="95263" y="0"/>
                </a:moveTo>
                <a:lnTo>
                  <a:pt x="5592749" y="0"/>
                </a:lnTo>
                <a:cubicBezTo>
                  <a:pt x="5645362" y="0"/>
                  <a:pt x="5688013" y="42651"/>
                  <a:pt x="5688013" y="95263"/>
                </a:cubicBezTo>
                <a:lnTo>
                  <a:pt x="5688013" y="2584437"/>
                </a:lnTo>
                <a:cubicBezTo>
                  <a:pt x="5688012" y="2637049"/>
                  <a:pt x="5645362" y="2679700"/>
                  <a:pt x="5592749" y="2679700"/>
                </a:cubicBezTo>
                <a:lnTo>
                  <a:pt x="95263" y="2679700"/>
                </a:lnTo>
                <a:cubicBezTo>
                  <a:pt x="42651" y="2679700"/>
                  <a:pt x="0" y="2637049"/>
                  <a:pt x="0" y="2584437"/>
                </a:cubicBezTo>
                <a:lnTo>
                  <a:pt x="0" y="95263"/>
                </a:lnTo>
                <a:cubicBezTo>
                  <a:pt x="0" y="42686"/>
                  <a:pt x="42686" y="0"/>
                  <a:pt x="95263" y="0"/>
                </a:cubicBezTo>
                <a:close/>
              </a:path>
            </a:pathLst>
          </a:custGeom>
          <a:gradFill rotWithShape="1" flip="none">
            <a:gsLst>
              <a:gs pos="0">
                <a:srgbClr val="F4E285">
                  <a:alpha val="30000"/>
                </a:srgbClr>
              </a:gs>
              <a:gs pos="100000">
                <a:srgbClr val="F4E285">
                  <a:alpha val="10000"/>
                </a:srgbClr>
              </a:gs>
            </a:gsLst>
            <a:lin ang="2700000" scaled="1"/>
          </a:gradFill>
          <a:ln w="20320">
            <a:solidFill>
              <a:srgbClr val="F4E28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8950" y="1314451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7" name="Text 5"/>
          <p:cNvSpPr/>
          <p:nvPr/>
        </p:nvSpPr>
        <p:spPr>
          <a:xfrm>
            <a:off x="705148" y="1425576"/>
            <a:ext cx="198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3950" y="1362076"/>
            <a:ext cx="2936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IMMEDIATE PRIORITY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23950" y="1552576"/>
            <a:ext cx="2960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Launch Subscriber Conversion Campaign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8950" y="1949451"/>
            <a:ext cx="54213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the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73% non-subscribers (2,847 customers)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personalized subscription offers at checkout, email campaigns, and exclusive benefits.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8950" y="2425701"/>
            <a:ext cx="5357813" cy="952500"/>
          </a:xfrm>
          <a:custGeom>
            <a:avLst/>
            <a:gdLst/>
            <a:ahLst/>
            <a:cxnLst/>
            <a:rect l="l" t="t" r="r" b="b"/>
            <a:pathLst>
              <a:path w="5357813" h="952500">
                <a:moveTo>
                  <a:pt x="63503" y="0"/>
                </a:moveTo>
                <a:lnTo>
                  <a:pt x="5294309" y="0"/>
                </a:lnTo>
                <a:cubicBezTo>
                  <a:pt x="5329381" y="0"/>
                  <a:pt x="5357812" y="28431"/>
                  <a:pt x="5357812" y="63503"/>
                </a:cubicBezTo>
                <a:lnTo>
                  <a:pt x="5357813" y="888997"/>
                </a:lnTo>
                <a:cubicBezTo>
                  <a:pt x="5357812" y="924069"/>
                  <a:pt x="5329381" y="952500"/>
                  <a:pt x="5294309" y="952500"/>
                </a:cubicBezTo>
                <a:lnTo>
                  <a:pt x="63503" y="952500"/>
                </a:lnTo>
                <a:cubicBezTo>
                  <a:pt x="28431" y="952500"/>
                  <a:pt x="0" y="924069"/>
                  <a:pt x="0" y="88899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1A1A2E">
              <a:alpha val="5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15950" y="2552701"/>
            <a:ext cx="515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Impact: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5950" y="2774951"/>
            <a:ext cx="5222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+20-30%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5950" y="3092451"/>
            <a:ext cx="515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Recurring Revenue Increase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8950" y="3473451"/>
            <a:ext cx="1047750" cy="190500"/>
          </a:xfrm>
          <a:custGeom>
            <a:avLst/>
            <a:gdLst/>
            <a:ahLst/>
            <a:cxnLst/>
            <a:rect l="l" t="t" r="r" b="b"/>
            <a:pathLst>
              <a:path w="1047750" h="190500">
                <a:moveTo>
                  <a:pt x="95250" y="0"/>
                </a:moveTo>
                <a:lnTo>
                  <a:pt x="952500" y="0"/>
                </a:lnTo>
                <a:cubicBezTo>
                  <a:pt x="1005070" y="0"/>
                  <a:pt x="1047750" y="42680"/>
                  <a:pt x="1047750" y="95250"/>
                </a:cubicBezTo>
                <a:lnTo>
                  <a:pt x="1047750" y="95250"/>
                </a:lnTo>
                <a:cubicBezTo>
                  <a:pt x="1047750" y="147820"/>
                  <a:pt x="1005070" y="190500"/>
                  <a:pt x="95250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4E285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88950" y="3473451"/>
            <a:ext cx="1095375" cy="19050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Checkout Integration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600002" y="3473451"/>
            <a:ext cx="896938" cy="190500"/>
          </a:xfrm>
          <a:custGeom>
            <a:avLst/>
            <a:gdLst/>
            <a:ahLst/>
            <a:cxnLst/>
            <a:rect l="l" t="t" r="r" b="b"/>
            <a:pathLst>
              <a:path w="896938" h="190500">
                <a:moveTo>
                  <a:pt x="95250" y="0"/>
                </a:moveTo>
                <a:lnTo>
                  <a:pt x="801688" y="0"/>
                </a:lnTo>
                <a:cubicBezTo>
                  <a:pt x="854257" y="0"/>
                  <a:pt x="896938" y="42680"/>
                  <a:pt x="896938" y="95250"/>
                </a:cubicBezTo>
                <a:lnTo>
                  <a:pt x="896938" y="95250"/>
                </a:lnTo>
                <a:cubicBezTo>
                  <a:pt x="896938" y="147820"/>
                  <a:pt x="854257" y="190500"/>
                  <a:pt x="801688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4E285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600002" y="3473451"/>
            <a:ext cx="944563" cy="19050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Email Campaigns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556967" y="3473451"/>
            <a:ext cx="920750" cy="190500"/>
          </a:xfrm>
          <a:custGeom>
            <a:avLst/>
            <a:gdLst/>
            <a:ahLst/>
            <a:cxnLst/>
            <a:rect l="l" t="t" r="r" b="b"/>
            <a:pathLst>
              <a:path w="920750" h="190500">
                <a:moveTo>
                  <a:pt x="95250" y="0"/>
                </a:moveTo>
                <a:lnTo>
                  <a:pt x="825500" y="0"/>
                </a:lnTo>
                <a:cubicBezTo>
                  <a:pt x="878070" y="0"/>
                  <a:pt x="920750" y="42680"/>
                  <a:pt x="920750" y="95250"/>
                </a:cubicBezTo>
                <a:lnTo>
                  <a:pt x="920750" y="95250"/>
                </a:lnTo>
                <a:cubicBezTo>
                  <a:pt x="920750" y="147820"/>
                  <a:pt x="878070" y="190500"/>
                  <a:pt x="82550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4E285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556967" y="3473451"/>
            <a:ext cx="968375" cy="19050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Exclusive Benefits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81725" y="1149350"/>
            <a:ext cx="5688013" cy="2679700"/>
          </a:xfrm>
          <a:custGeom>
            <a:avLst/>
            <a:gdLst/>
            <a:ahLst/>
            <a:cxnLst/>
            <a:rect l="l" t="t" r="r" b="b"/>
            <a:pathLst>
              <a:path w="5688013" h="2679700">
                <a:moveTo>
                  <a:pt x="95263" y="0"/>
                </a:moveTo>
                <a:lnTo>
                  <a:pt x="5592749" y="0"/>
                </a:lnTo>
                <a:cubicBezTo>
                  <a:pt x="5645362" y="0"/>
                  <a:pt x="5688013" y="42651"/>
                  <a:pt x="5688013" y="95263"/>
                </a:cubicBezTo>
                <a:lnTo>
                  <a:pt x="5688013" y="2584437"/>
                </a:lnTo>
                <a:cubicBezTo>
                  <a:pt x="5688012" y="2637049"/>
                  <a:pt x="5645362" y="2679700"/>
                  <a:pt x="5592749" y="2679700"/>
                </a:cubicBezTo>
                <a:lnTo>
                  <a:pt x="95263" y="2679700"/>
                </a:lnTo>
                <a:cubicBezTo>
                  <a:pt x="42651" y="2679700"/>
                  <a:pt x="0" y="2637049"/>
                  <a:pt x="0" y="2584437"/>
                </a:cubicBezTo>
                <a:lnTo>
                  <a:pt x="0" y="95263"/>
                </a:lnTo>
                <a:cubicBezTo>
                  <a:pt x="0" y="42686"/>
                  <a:pt x="42686" y="0"/>
                  <a:pt x="95263" y="0"/>
                </a:cubicBezTo>
                <a:close/>
              </a:path>
            </a:pathLst>
          </a:custGeom>
          <a:gradFill rotWithShape="1" flip="none">
            <a:gsLst>
              <a:gs pos="0">
                <a:srgbClr val="6B4C9A">
                  <a:alpha val="40000"/>
                </a:srgbClr>
              </a:gs>
              <a:gs pos="100000">
                <a:srgbClr val="4A3B69">
                  <a:alpha val="40000"/>
                </a:srgbClr>
              </a:gs>
            </a:gsLst>
            <a:lin ang="2700000" scaled="1"/>
          </a:gradFill>
          <a:ln w="20320">
            <a:solidFill>
              <a:srgbClr val="6B4C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3175" y="1320801"/>
            <a:ext cx="496887" cy="496887"/>
          </a:xfrm>
          <a:custGeom>
            <a:avLst/>
            <a:gdLst/>
            <a:ahLst/>
            <a:cxnLst/>
            <a:rect l="l" t="t" r="r" b="b"/>
            <a:pathLst>
              <a:path w="496887" h="496887">
                <a:moveTo>
                  <a:pt x="248444" y="0"/>
                </a:moveTo>
                <a:lnTo>
                  <a:pt x="248444" y="0"/>
                </a:lnTo>
                <a:cubicBezTo>
                  <a:pt x="385564" y="0"/>
                  <a:pt x="496887" y="111324"/>
                  <a:pt x="496887" y="248444"/>
                </a:cubicBezTo>
                <a:lnTo>
                  <a:pt x="496887" y="248444"/>
                </a:lnTo>
                <a:cubicBezTo>
                  <a:pt x="496887" y="385564"/>
                  <a:pt x="385564" y="496887"/>
                  <a:pt x="248444" y="496887"/>
                </a:cubicBezTo>
                <a:lnTo>
                  <a:pt x="248444" y="496887"/>
                </a:lnTo>
                <a:cubicBezTo>
                  <a:pt x="111324" y="496887"/>
                  <a:pt x="0" y="385564"/>
                  <a:pt x="0" y="248444"/>
                </a:cubicBezTo>
                <a:lnTo>
                  <a:pt x="0" y="248444"/>
                </a:lnTo>
                <a:cubicBezTo>
                  <a:pt x="0" y="111324"/>
                  <a:pt x="111324" y="0"/>
                  <a:pt x="248444" y="0"/>
                </a:cubicBezTo>
                <a:close/>
              </a:path>
            </a:pathLst>
          </a:custGeom>
          <a:solidFill>
            <a:srgbClr val="6B4C9A"/>
          </a:solidFill>
          <a:ln w="20320">
            <a:solidFill>
              <a:srgbClr val="F4E2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40203" y="1425576"/>
            <a:ext cx="238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81825" y="1362076"/>
            <a:ext cx="2166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SHORT-TERM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81825" y="1552576"/>
            <a:ext cx="2190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Increase Outerwear Marketing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46825" y="1949451"/>
            <a:ext cx="54213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Outerwear has the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 AOV ($67)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but lowest volume (~300 orders). Increase visibility through targeted ads, seasonal campaigns, and bundling.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46825" y="2425701"/>
            <a:ext cx="5357813" cy="952500"/>
          </a:xfrm>
          <a:custGeom>
            <a:avLst/>
            <a:gdLst/>
            <a:ahLst/>
            <a:cxnLst/>
            <a:rect l="l" t="t" r="r" b="b"/>
            <a:pathLst>
              <a:path w="5357813" h="952500">
                <a:moveTo>
                  <a:pt x="63503" y="0"/>
                </a:moveTo>
                <a:lnTo>
                  <a:pt x="5294309" y="0"/>
                </a:lnTo>
                <a:cubicBezTo>
                  <a:pt x="5329381" y="0"/>
                  <a:pt x="5357812" y="28431"/>
                  <a:pt x="5357812" y="63503"/>
                </a:cubicBezTo>
                <a:lnTo>
                  <a:pt x="5357813" y="888997"/>
                </a:lnTo>
                <a:cubicBezTo>
                  <a:pt x="5357812" y="924069"/>
                  <a:pt x="5329381" y="952500"/>
                  <a:pt x="5294309" y="952500"/>
                </a:cubicBezTo>
                <a:lnTo>
                  <a:pt x="63503" y="952500"/>
                </a:lnTo>
                <a:cubicBezTo>
                  <a:pt x="28431" y="952500"/>
                  <a:pt x="0" y="924069"/>
                  <a:pt x="0" y="88899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1A1A2E">
              <a:alpha val="5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473825" y="2552701"/>
            <a:ext cx="515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Impact: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73825" y="2774951"/>
            <a:ext cx="5222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+15%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73825" y="3092451"/>
            <a:ext cx="515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Category Revenue Growth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46825" y="3473451"/>
            <a:ext cx="738188" cy="190500"/>
          </a:xfrm>
          <a:custGeom>
            <a:avLst/>
            <a:gdLst/>
            <a:ahLst/>
            <a:cxnLst/>
            <a:rect l="l" t="t" r="r" b="b"/>
            <a:pathLst>
              <a:path w="738188" h="190500">
                <a:moveTo>
                  <a:pt x="95250" y="0"/>
                </a:moveTo>
                <a:lnTo>
                  <a:pt x="642938" y="0"/>
                </a:lnTo>
                <a:cubicBezTo>
                  <a:pt x="695507" y="0"/>
                  <a:pt x="738188" y="42680"/>
                  <a:pt x="738188" y="95250"/>
                </a:cubicBezTo>
                <a:lnTo>
                  <a:pt x="738188" y="95250"/>
                </a:lnTo>
                <a:cubicBezTo>
                  <a:pt x="738188" y="147820"/>
                  <a:pt x="695507" y="190500"/>
                  <a:pt x="642938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6B4C9A">
              <a:alpha val="3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346825" y="3473451"/>
            <a:ext cx="785813" cy="19050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Targeted Ads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145834" y="3473451"/>
            <a:ext cx="1039812" cy="190500"/>
          </a:xfrm>
          <a:custGeom>
            <a:avLst/>
            <a:gdLst/>
            <a:ahLst/>
            <a:cxnLst/>
            <a:rect l="l" t="t" r="r" b="b"/>
            <a:pathLst>
              <a:path w="1039812" h="190500">
                <a:moveTo>
                  <a:pt x="95250" y="0"/>
                </a:moveTo>
                <a:lnTo>
                  <a:pt x="944563" y="0"/>
                </a:lnTo>
                <a:cubicBezTo>
                  <a:pt x="997132" y="0"/>
                  <a:pt x="1039812" y="42680"/>
                  <a:pt x="1039812" y="95250"/>
                </a:cubicBezTo>
                <a:lnTo>
                  <a:pt x="1039812" y="95250"/>
                </a:lnTo>
                <a:cubicBezTo>
                  <a:pt x="1039812" y="147820"/>
                  <a:pt x="997132" y="190500"/>
                  <a:pt x="944563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6B4C9A">
              <a:alpha val="3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145834" y="3473451"/>
            <a:ext cx="1087438" cy="19050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Seasonal Campaigns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246269" y="3473451"/>
            <a:ext cx="889000" cy="190500"/>
          </a:xfrm>
          <a:custGeom>
            <a:avLst/>
            <a:gdLst/>
            <a:ahLst/>
            <a:cxnLst/>
            <a:rect l="l" t="t" r="r" b="b"/>
            <a:pathLst>
              <a:path w="889000" h="190500">
                <a:moveTo>
                  <a:pt x="95250" y="0"/>
                </a:moveTo>
                <a:lnTo>
                  <a:pt x="793750" y="0"/>
                </a:lnTo>
                <a:cubicBezTo>
                  <a:pt x="846320" y="0"/>
                  <a:pt x="889000" y="42680"/>
                  <a:pt x="889000" y="95250"/>
                </a:cubicBezTo>
                <a:lnTo>
                  <a:pt x="889000" y="95250"/>
                </a:lnTo>
                <a:cubicBezTo>
                  <a:pt x="889000" y="147820"/>
                  <a:pt x="846320" y="190500"/>
                  <a:pt x="7937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6B4C9A">
              <a:alpha val="3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246269" y="3473451"/>
            <a:ext cx="936625" cy="19050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Bundling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23850" y="4000401"/>
            <a:ext cx="5688013" cy="2679700"/>
          </a:xfrm>
          <a:custGeom>
            <a:avLst/>
            <a:gdLst/>
            <a:ahLst/>
            <a:cxnLst/>
            <a:rect l="l" t="t" r="r" b="b"/>
            <a:pathLst>
              <a:path w="5688013" h="2679700">
                <a:moveTo>
                  <a:pt x="95263" y="0"/>
                </a:moveTo>
                <a:lnTo>
                  <a:pt x="5592749" y="0"/>
                </a:lnTo>
                <a:cubicBezTo>
                  <a:pt x="5645362" y="0"/>
                  <a:pt x="5688013" y="42651"/>
                  <a:pt x="5688013" y="95263"/>
                </a:cubicBezTo>
                <a:lnTo>
                  <a:pt x="5688013" y="2584437"/>
                </a:lnTo>
                <a:cubicBezTo>
                  <a:pt x="5688012" y="2637049"/>
                  <a:pt x="5645362" y="2679700"/>
                  <a:pt x="5592749" y="2679700"/>
                </a:cubicBezTo>
                <a:lnTo>
                  <a:pt x="95263" y="2679700"/>
                </a:lnTo>
                <a:cubicBezTo>
                  <a:pt x="42651" y="2679700"/>
                  <a:pt x="0" y="2637049"/>
                  <a:pt x="0" y="2584437"/>
                </a:cubicBezTo>
                <a:lnTo>
                  <a:pt x="0" y="95263"/>
                </a:lnTo>
                <a:cubicBezTo>
                  <a:pt x="0" y="42686"/>
                  <a:pt x="42686" y="0"/>
                  <a:pt x="95263" y="0"/>
                </a:cubicBezTo>
                <a:close/>
              </a:path>
            </a:pathLst>
          </a:custGeom>
          <a:gradFill rotWithShape="1" flip="none">
            <a:gsLst>
              <a:gs pos="0">
                <a:srgbClr val="6B4C9A">
                  <a:alpha val="40000"/>
                </a:srgbClr>
              </a:gs>
              <a:gs pos="100000">
                <a:srgbClr val="4A3B69">
                  <a:alpha val="40000"/>
                </a:srgbClr>
              </a:gs>
            </a:gsLst>
            <a:lin ang="2700000" scaled="1"/>
          </a:gradFill>
          <a:ln w="20320">
            <a:solidFill>
              <a:srgbClr val="6B4C9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5300" y="4171852"/>
            <a:ext cx="496887" cy="496887"/>
          </a:xfrm>
          <a:custGeom>
            <a:avLst/>
            <a:gdLst/>
            <a:ahLst/>
            <a:cxnLst/>
            <a:rect l="l" t="t" r="r" b="b"/>
            <a:pathLst>
              <a:path w="496887" h="496887">
                <a:moveTo>
                  <a:pt x="248444" y="0"/>
                </a:moveTo>
                <a:lnTo>
                  <a:pt x="248444" y="0"/>
                </a:lnTo>
                <a:cubicBezTo>
                  <a:pt x="385564" y="0"/>
                  <a:pt x="496887" y="111324"/>
                  <a:pt x="496887" y="248444"/>
                </a:cubicBezTo>
                <a:lnTo>
                  <a:pt x="496887" y="248444"/>
                </a:lnTo>
                <a:cubicBezTo>
                  <a:pt x="496887" y="385564"/>
                  <a:pt x="385564" y="496887"/>
                  <a:pt x="248444" y="496887"/>
                </a:cubicBezTo>
                <a:lnTo>
                  <a:pt x="248444" y="496887"/>
                </a:lnTo>
                <a:cubicBezTo>
                  <a:pt x="111324" y="496887"/>
                  <a:pt x="0" y="385564"/>
                  <a:pt x="0" y="248444"/>
                </a:cubicBezTo>
                <a:lnTo>
                  <a:pt x="0" y="248444"/>
                </a:lnTo>
                <a:cubicBezTo>
                  <a:pt x="0" y="111324"/>
                  <a:pt x="111324" y="0"/>
                  <a:pt x="248444" y="0"/>
                </a:cubicBezTo>
                <a:close/>
              </a:path>
            </a:pathLst>
          </a:custGeom>
          <a:solidFill>
            <a:srgbClr val="6B4C9A"/>
          </a:solidFill>
          <a:ln w="20320">
            <a:solidFill>
              <a:srgbClr val="F4E28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9252" y="4276627"/>
            <a:ext cx="2460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23950" y="4213127"/>
            <a:ext cx="2468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MEDIUM-TERM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23950" y="4403627"/>
            <a:ext cx="2492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 Tiered Loyalty Program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88950" y="4800502"/>
            <a:ext cx="54213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structured program for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New, Returning, and Loyal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customers with escalating benefits to drive retention and increase lifetime value.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88950" y="5276752"/>
            <a:ext cx="5357813" cy="952500"/>
          </a:xfrm>
          <a:custGeom>
            <a:avLst/>
            <a:gdLst/>
            <a:ahLst/>
            <a:cxnLst/>
            <a:rect l="l" t="t" r="r" b="b"/>
            <a:pathLst>
              <a:path w="5357813" h="952500">
                <a:moveTo>
                  <a:pt x="63503" y="0"/>
                </a:moveTo>
                <a:lnTo>
                  <a:pt x="5294309" y="0"/>
                </a:lnTo>
                <a:cubicBezTo>
                  <a:pt x="5329381" y="0"/>
                  <a:pt x="5357812" y="28431"/>
                  <a:pt x="5357812" y="63503"/>
                </a:cubicBezTo>
                <a:lnTo>
                  <a:pt x="5357813" y="888997"/>
                </a:lnTo>
                <a:cubicBezTo>
                  <a:pt x="5357812" y="924069"/>
                  <a:pt x="5329381" y="952500"/>
                  <a:pt x="5294309" y="952500"/>
                </a:cubicBezTo>
                <a:lnTo>
                  <a:pt x="63503" y="952500"/>
                </a:lnTo>
                <a:cubicBezTo>
                  <a:pt x="28431" y="952500"/>
                  <a:pt x="0" y="924069"/>
                  <a:pt x="0" y="88899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1A1A2E">
              <a:alpha val="5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15950" y="5403752"/>
            <a:ext cx="515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Impact: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15950" y="5626002"/>
            <a:ext cx="5222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Improved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15950" y="5943502"/>
            <a:ext cx="515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Retention Rate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88950" y="6324502"/>
            <a:ext cx="769938" cy="190500"/>
          </a:xfrm>
          <a:custGeom>
            <a:avLst/>
            <a:gdLst/>
            <a:ahLst/>
            <a:cxnLst/>
            <a:rect l="l" t="t" r="r" b="b"/>
            <a:pathLst>
              <a:path w="769938" h="190500">
                <a:moveTo>
                  <a:pt x="95250" y="0"/>
                </a:moveTo>
                <a:lnTo>
                  <a:pt x="674688" y="0"/>
                </a:lnTo>
                <a:cubicBezTo>
                  <a:pt x="727257" y="0"/>
                  <a:pt x="769938" y="42680"/>
                  <a:pt x="769938" y="95250"/>
                </a:cubicBezTo>
                <a:lnTo>
                  <a:pt x="769938" y="95250"/>
                </a:lnTo>
                <a:cubicBezTo>
                  <a:pt x="769938" y="147820"/>
                  <a:pt x="727257" y="190500"/>
                  <a:pt x="674688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6B4C9A">
              <a:alpha val="3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488950" y="6324502"/>
            <a:ext cx="817563" cy="19050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Points System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320205" y="6324502"/>
            <a:ext cx="801688" cy="190500"/>
          </a:xfrm>
          <a:custGeom>
            <a:avLst/>
            <a:gdLst/>
            <a:ahLst/>
            <a:cxnLst/>
            <a:rect l="l" t="t" r="r" b="b"/>
            <a:pathLst>
              <a:path w="801688" h="190500">
                <a:moveTo>
                  <a:pt x="95250" y="0"/>
                </a:moveTo>
                <a:lnTo>
                  <a:pt x="706438" y="0"/>
                </a:lnTo>
                <a:cubicBezTo>
                  <a:pt x="759007" y="0"/>
                  <a:pt x="801688" y="42680"/>
                  <a:pt x="801688" y="95250"/>
                </a:cubicBezTo>
                <a:lnTo>
                  <a:pt x="801688" y="95250"/>
                </a:lnTo>
                <a:cubicBezTo>
                  <a:pt x="801688" y="147820"/>
                  <a:pt x="759007" y="190500"/>
                  <a:pt x="706438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6B4C9A">
              <a:alpha val="3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1320205" y="6324502"/>
            <a:ext cx="849313" cy="19050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Tiered Benefits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2182416" y="6324502"/>
            <a:ext cx="642938" cy="190500"/>
          </a:xfrm>
          <a:custGeom>
            <a:avLst/>
            <a:gdLst/>
            <a:ahLst/>
            <a:cxnLst/>
            <a:rect l="l" t="t" r="r" b="b"/>
            <a:pathLst>
              <a:path w="642938" h="190500">
                <a:moveTo>
                  <a:pt x="95250" y="0"/>
                </a:moveTo>
                <a:lnTo>
                  <a:pt x="547688" y="0"/>
                </a:lnTo>
                <a:cubicBezTo>
                  <a:pt x="600257" y="0"/>
                  <a:pt x="642938" y="42680"/>
                  <a:pt x="642938" y="95250"/>
                </a:cubicBezTo>
                <a:lnTo>
                  <a:pt x="642938" y="95250"/>
                </a:lnTo>
                <a:cubicBezTo>
                  <a:pt x="642938" y="147820"/>
                  <a:pt x="600257" y="190500"/>
                  <a:pt x="547688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6B4C9A">
              <a:alpha val="30196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2182416" y="6324502"/>
            <a:ext cx="690563" cy="19050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VIP Access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81725" y="4000401"/>
            <a:ext cx="5688013" cy="2679700"/>
          </a:xfrm>
          <a:custGeom>
            <a:avLst/>
            <a:gdLst/>
            <a:ahLst/>
            <a:cxnLst/>
            <a:rect l="l" t="t" r="r" b="b"/>
            <a:pathLst>
              <a:path w="5688013" h="2679700">
                <a:moveTo>
                  <a:pt x="95263" y="0"/>
                </a:moveTo>
                <a:lnTo>
                  <a:pt x="5592749" y="0"/>
                </a:lnTo>
                <a:cubicBezTo>
                  <a:pt x="5645362" y="0"/>
                  <a:pt x="5688013" y="42651"/>
                  <a:pt x="5688013" y="95263"/>
                </a:cubicBezTo>
                <a:lnTo>
                  <a:pt x="5688013" y="2584437"/>
                </a:lnTo>
                <a:cubicBezTo>
                  <a:pt x="5688012" y="2637049"/>
                  <a:pt x="5645362" y="2679700"/>
                  <a:pt x="5592749" y="2679700"/>
                </a:cubicBezTo>
                <a:lnTo>
                  <a:pt x="95263" y="2679700"/>
                </a:lnTo>
                <a:cubicBezTo>
                  <a:pt x="42651" y="2679700"/>
                  <a:pt x="0" y="2637049"/>
                  <a:pt x="0" y="2584437"/>
                </a:cubicBezTo>
                <a:lnTo>
                  <a:pt x="0" y="95263"/>
                </a:lnTo>
                <a:cubicBezTo>
                  <a:pt x="0" y="42686"/>
                  <a:pt x="42686" y="0"/>
                  <a:pt x="95263" y="0"/>
                </a:cubicBezTo>
                <a:close/>
              </a:path>
            </a:pathLst>
          </a:custGeom>
          <a:gradFill rotWithShape="1" flip="none">
            <a:gsLst>
              <a:gs pos="0">
                <a:srgbClr val="6B4C9A">
                  <a:alpha val="40000"/>
                </a:srgbClr>
              </a:gs>
              <a:gs pos="100000">
                <a:srgbClr val="4A3B69">
                  <a:alpha val="40000"/>
                </a:srgbClr>
              </a:gs>
            </a:gsLst>
            <a:lin ang="2700000" scaled="1"/>
          </a:gradFill>
          <a:ln w="20320">
            <a:solidFill>
              <a:srgbClr val="6B4C9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53175" y="4171852"/>
            <a:ext cx="496887" cy="496887"/>
          </a:xfrm>
          <a:custGeom>
            <a:avLst/>
            <a:gdLst/>
            <a:ahLst/>
            <a:cxnLst/>
            <a:rect l="l" t="t" r="r" b="b"/>
            <a:pathLst>
              <a:path w="496887" h="496887">
                <a:moveTo>
                  <a:pt x="248444" y="0"/>
                </a:moveTo>
                <a:lnTo>
                  <a:pt x="248444" y="0"/>
                </a:lnTo>
                <a:cubicBezTo>
                  <a:pt x="385564" y="0"/>
                  <a:pt x="496887" y="111324"/>
                  <a:pt x="496887" y="248444"/>
                </a:cubicBezTo>
                <a:lnTo>
                  <a:pt x="496887" y="248444"/>
                </a:lnTo>
                <a:cubicBezTo>
                  <a:pt x="496887" y="385564"/>
                  <a:pt x="385564" y="496887"/>
                  <a:pt x="248444" y="496887"/>
                </a:cubicBezTo>
                <a:lnTo>
                  <a:pt x="248444" y="496887"/>
                </a:lnTo>
                <a:cubicBezTo>
                  <a:pt x="111324" y="496887"/>
                  <a:pt x="0" y="385564"/>
                  <a:pt x="0" y="248444"/>
                </a:cubicBezTo>
                <a:lnTo>
                  <a:pt x="0" y="248444"/>
                </a:lnTo>
                <a:cubicBezTo>
                  <a:pt x="0" y="111324"/>
                  <a:pt x="111324" y="0"/>
                  <a:pt x="248444" y="0"/>
                </a:cubicBezTo>
                <a:close/>
              </a:path>
            </a:pathLst>
          </a:custGeom>
          <a:solidFill>
            <a:srgbClr val="6B4C9A"/>
          </a:solidFill>
          <a:ln w="20320">
            <a:solidFill>
              <a:srgbClr val="F4E28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40302" y="4276627"/>
            <a:ext cx="238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981825" y="4213127"/>
            <a:ext cx="1920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ONGOING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981825" y="4403627"/>
            <a:ext cx="1944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Optimize Shipping Options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346825" y="4800502"/>
            <a:ext cx="54213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Align shipping options with customer preferences. Promote Express and 2-Day shipping while improving Standard shipping value proposition.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46825" y="5276752"/>
            <a:ext cx="5357813" cy="952500"/>
          </a:xfrm>
          <a:custGeom>
            <a:avLst/>
            <a:gdLst/>
            <a:ahLst/>
            <a:cxnLst/>
            <a:rect l="l" t="t" r="r" b="b"/>
            <a:pathLst>
              <a:path w="5357813" h="952500">
                <a:moveTo>
                  <a:pt x="63503" y="0"/>
                </a:moveTo>
                <a:lnTo>
                  <a:pt x="5294309" y="0"/>
                </a:lnTo>
                <a:cubicBezTo>
                  <a:pt x="5329381" y="0"/>
                  <a:pt x="5357812" y="28431"/>
                  <a:pt x="5357812" y="63503"/>
                </a:cubicBezTo>
                <a:lnTo>
                  <a:pt x="5357813" y="888997"/>
                </a:lnTo>
                <a:cubicBezTo>
                  <a:pt x="5357812" y="924069"/>
                  <a:pt x="5329381" y="952500"/>
                  <a:pt x="5294309" y="952500"/>
                </a:cubicBezTo>
                <a:lnTo>
                  <a:pt x="63503" y="952500"/>
                </a:lnTo>
                <a:cubicBezTo>
                  <a:pt x="28431" y="952500"/>
                  <a:pt x="0" y="924069"/>
                  <a:pt x="0" y="88899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1A1A2E">
              <a:alpha val="50196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6473825" y="5403752"/>
            <a:ext cx="515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Impact: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473825" y="5626002"/>
            <a:ext cx="5222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473825" y="5943502"/>
            <a:ext cx="515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Satisfaction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46825" y="6324502"/>
            <a:ext cx="1222375" cy="190500"/>
          </a:xfrm>
          <a:custGeom>
            <a:avLst/>
            <a:gdLst/>
            <a:ahLst/>
            <a:cxnLst/>
            <a:rect l="l" t="t" r="r" b="b"/>
            <a:pathLst>
              <a:path w="1222375" h="190500">
                <a:moveTo>
                  <a:pt x="95250" y="0"/>
                </a:moveTo>
                <a:lnTo>
                  <a:pt x="1127125" y="0"/>
                </a:lnTo>
                <a:cubicBezTo>
                  <a:pt x="1179695" y="0"/>
                  <a:pt x="1222375" y="42680"/>
                  <a:pt x="1222375" y="95250"/>
                </a:cubicBezTo>
                <a:lnTo>
                  <a:pt x="1222375" y="95250"/>
                </a:lnTo>
                <a:cubicBezTo>
                  <a:pt x="1222375" y="147820"/>
                  <a:pt x="1179695" y="190500"/>
                  <a:pt x="1127125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6B4C9A">
              <a:alpha val="30196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6346825" y="6324502"/>
            <a:ext cx="1270000" cy="19050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Free Shipping Thresholds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7635776" y="6324502"/>
            <a:ext cx="952500" cy="190500"/>
          </a:xfrm>
          <a:custGeom>
            <a:avLst/>
            <a:gdLst/>
            <a:ahLst/>
            <a:cxnLst/>
            <a:rect l="l" t="t" r="r" b="b"/>
            <a:pathLst>
              <a:path w="952500" h="190500">
                <a:moveTo>
                  <a:pt x="95250" y="0"/>
                </a:moveTo>
                <a:lnTo>
                  <a:pt x="857250" y="0"/>
                </a:lnTo>
                <a:cubicBezTo>
                  <a:pt x="909820" y="0"/>
                  <a:pt x="952500" y="42680"/>
                  <a:pt x="952500" y="95250"/>
                </a:cubicBezTo>
                <a:lnTo>
                  <a:pt x="952500" y="95250"/>
                </a:lnTo>
                <a:cubicBezTo>
                  <a:pt x="952500" y="147820"/>
                  <a:pt x="909820" y="190500"/>
                  <a:pt x="857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6B4C9A">
              <a:alpha val="30196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7635776" y="6324502"/>
            <a:ext cx="1000125" cy="19050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Express Incentives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320675" y="6816527"/>
            <a:ext cx="11547475" cy="482600"/>
          </a:xfrm>
          <a:custGeom>
            <a:avLst/>
            <a:gdLst/>
            <a:ahLst/>
            <a:cxnLst/>
            <a:rect l="l" t="t" r="r" b="b"/>
            <a:pathLst>
              <a:path w="11547475" h="482600">
                <a:moveTo>
                  <a:pt x="95251" y="0"/>
                </a:moveTo>
                <a:lnTo>
                  <a:pt x="11452224" y="0"/>
                </a:lnTo>
                <a:cubicBezTo>
                  <a:pt x="11504830" y="0"/>
                  <a:pt x="11547475" y="42645"/>
                  <a:pt x="11547475" y="95251"/>
                </a:cubicBezTo>
                <a:lnTo>
                  <a:pt x="11547475" y="387349"/>
                </a:lnTo>
                <a:cubicBezTo>
                  <a:pt x="11547475" y="439955"/>
                  <a:pt x="11504830" y="482600"/>
                  <a:pt x="11452224" y="482600"/>
                </a:cubicBezTo>
                <a:lnTo>
                  <a:pt x="95251" y="482600"/>
                </a:lnTo>
                <a:cubicBezTo>
                  <a:pt x="42645" y="482600"/>
                  <a:pt x="0" y="439955"/>
                  <a:pt x="0" y="387349"/>
                </a:cubicBezTo>
                <a:lnTo>
                  <a:pt x="0" y="95251"/>
                </a:lnTo>
                <a:cubicBezTo>
                  <a:pt x="0" y="42645"/>
                  <a:pt x="42645" y="0"/>
                  <a:pt x="95251" y="0"/>
                </a:cubicBezTo>
                <a:close/>
              </a:path>
            </a:pathLst>
          </a:custGeom>
          <a:gradFill rotWithShape="1" flip="none">
            <a:gsLst>
              <a:gs pos="0">
                <a:srgbClr val="F4E285">
                  <a:alpha val="20000"/>
                </a:srgbClr>
              </a:gs>
              <a:gs pos="100000">
                <a:srgbClr val="6B4C9A">
                  <a:alpha val="30000"/>
                </a:srgbClr>
              </a:gs>
            </a:gsLst>
            <a:lin ang="0" scaled="1"/>
          </a:gradFill>
          <a:ln w="10160">
            <a:solidFill>
              <a:srgbClr val="F4E285">
                <a:alpha val="50196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4662" y="696257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69" name="Text 67"/>
          <p:cNvSpPr/>
          <p:nvPr/>
        </p:nvSpPr>
        <p:spPr>
          <a:xfrm>
            <a:off x="815975" y="6978454"/>
            <a:ext cx="1373386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Tactics: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2117924" y="6991151"/>
            <a:ext cx="9632057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Young Adults with personalized Clothing campaigns • Promote subscription benefits at checkout for non-subscribers • A/B test shipping incentives vs. product discounts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1f4070665e8fa7b22d09461509677b8723c74d82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139" r="139" t="0" b="0"/>
          <a:stretch/>
        </p:blipFill>
        <p:spPr>
          <a:xfrm>
            <a:off x="0" y="0"/>
            <a:ext cx="12192000" cy="6856507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6507"/>
          </a:xfrm>
          <a:custGeom>
            <a:avLst/>
            <a:gdLst/>
            <a:ahLst/>
            <a:cxnLst/>
            <a:rect l="l" t="t" r="r" b="b"/>
            <a:pathLst>
              <a:path w="12192000" h="6856507">
                <a:moveTo>
                  <a:pt x="0" y="0"/>
                </a:moveTo>
                <a:lnTo>
                  <a:pt x="12192000" y="0"/>
                </a:lnTo>
                <a:lnTo>
                  <a:pt x="12192000" y="6856507"/>
                </a:lnTo>
                <a:lnTo>
                  <a:pt x="0" y="6856507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A2E">
                  <a:alpha val="95000"/>
                </a:srgbClr>
              </a:gs>
              <a:gs pos="50000">
                <a:srgbClr val="6B4C9A">
                  <a:alpha val="85000"/>
                </a:srgbClr>
              </a:gs>
              <a:gs pos="100000">
                <a:srgbClr val="4A3B69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18537" y="350391"/>
            <a:ext cx="63707" cy="318537"/>
          </a:xfrm>
          <a:custGeom>
            <a:avLst/>
            <a:gdLst/>
            <a:ahLst/>
            <a:cxnLst/>
            <a:rect l="l" t="t" r="r" b="b"/>
            <a:pathLst>
              <a:path w="63707" h="318537">
                <a:moveTo>
                  <a:pt x="31854" y="0"/>
                </a:moveTo>
                <a:lnTo>
                  <a:pt x="31854" y="0"/>
                </a:lnTo>
                <a:cubicBezTo>
                  <a:pt x="49434" y="0"/>
                  <a:pt x="63707" y="14273"/>
                  <a:pt x="63707" y="31854"/>
                </a:cubicBezTo>
                <a:lnTo>
                  <a:pt x="63707" y="286683"/>
                </a:lnTo>
                <a:cubicBezTo>
                  <a:pt x="63707" y="304276"/>
                  <a:pt x="49446" y="318537"/>
                  <a:pt x="31854" y="318537"/>
                </a:cubicBezTo>
                <a:lnTo>
                  <a:pt x="31854" y="318537"/>
                </a:lnTo>
                <a:cubicBezTo>
                  <a:pt x="14261" y="318537"/>
                  <a:pt x="0" y="304276"/>
                  <a:pt x="0" y="286683"/>
                </a:cubicBezTo>
                <a:lnTo>
                  <a:pt x="0" y="31854"/>
                </a:lnTo>
                <a:cubicBezTo>
                  <a:pt x="0" y="14273"/>
                  <a:pt x="14273" y="0"/>
                  <a:pt x="31854" y="0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5" name="Text 2"/>
          <p:cNvSpPr/>
          <p:nvPr/>
        </p:nvSpPr>
        <p:spPr>
          <a:xfrm>
            <a:off x="477805" y="318537"/>
            <a:ext cx="4371919" cy="382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10" b="1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&amp; Next Steps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77805" y="764489"/>
            <a:ext cx="11475292" cy="222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4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Transforming insights into action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24908" y="1153104"/>
            <a:ext cx="11535814" cy="1262999"/>
          </a:xfrm>
          <a:custGeom>
            <a:avLst/>
            <a:gdLst/>
            <a:ahLst/>
            <a:cxnLst/>
            <a:rect l="l" t="t" r="r" b="b"/>
            <a:pathLst>
              <a:path w="11535814" h="1262999">
                <a:moveTo>
                  <a:pt x="95558" y="0"/>
                </a:moveTo>
                <a:lnTo>
                  <a:pt x="11440255" y="0"/>
                </a:lnTo>
                <a:cubicBezTo>
                  <a:pt x="11493031" y="0"/>
                  <a:pt x="11535814" y="42783"/>
                  <a:pt x="11535814" y="95558"/>
                </a:cubicBezTo>
                <a:lnTo>
                  <a:pt x="11535814" y="1167440"/>
                </a:lnTo>
                <a:cubicBezTo>
                  <a:pt x="11535814" y="1220216"/>
                  <a:pt x="11493031" y="1262999"/>
                  <a:pt x="11440255" y="1262999"/>
                </a:cubicBezTo>
                <a:lnTo>
                  <a:pt x="95558" y="1262999"/>
                </a:lnTo>
                <a:cubicBezTo>
                  <a:pt x="42783" y="1262999"/>
                  <a:pt x="0" y="1220216"/>
                  <a:pt x="0" y="1167440"/>
                </a:cubicBezTo>
                <a:lnTo>
                  <a:pt x="0" y="95558"/>
                </a:lnTo>
                <a:cubicBezTo>
                  <a:pt x="0" y="42818"/>
                  <a:pt x="42818" y="0"/>
                  <a:pt x="95558" y="0"/>
                </a:cubicBezTo>
                <a:close/>
              </a:path>
            </a:pathLst>
          </a:custGeom>
          <a:gradFill rotWithShape="1" flip="none">
            <a:gsLst>
              <a:gs pos="0">
                <a:srgbClr val="F4E285">
                  <a:alpha val="30000"/>
                </a:srgbClr>
              </a:gs>
              <a:gs pos="100000">
                <a:srgbClr val="6B4C9A">
                  <a:alpha val="30000"/>
                </a:srgbClr>
              </a:gs>
            </a:gsLst>
            <a:lin ang="0" scaled="1"/>
          </a:gradFill>
          <a:ln w="20320">
            <a:solidFill>
              <a:srgbClr val="F4E28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22401" y="1350597"/>
            <a:ext cx="509659" cy="509659"/>
          </a:xfrm>
          <a:custGeom>
            <a:avLst/>
            <a:gdLst/>
            <a:ahLst/>
            <a:cxnLst/>
            <a:rect l="l" t="t" r="r" b="b"/>
            <a:pathLst>
              <a:path w="509659" h="509659">
                <a:moveTo>
                  <a:pt x="254830" y="0"/>
                </a:moveTo>
                <a:lnTo>
                  <a:pt x="254830" y="0"/>
                </a:lnTo>
                <a:cubicBezTo>
                  <a:pt x="395474" y="0"/>
                  <a:pt x="509659" y="114185"/>
                  <a:pt x="509659" y="254830"/>
                </a:cubicBezTo>
                <a:lnTo>
                  <a:pt x="509659" y="254830"/>
                </a:lnTo>
                <a:cubicBezTo>
                  <a:pt x="509659" y="395474"/>
                  <a:pt x="395474" y="509659"/>
                  <a:pt x="254830" y="509659"/>
                </a:cubicBezTo>
                <a:lnTo>
                  <a:pt x="254830" y="509659"/>
                </a:lnTo>
                <a:cubicBezTo>
                  <a:pt x="114185" y="509659"/>
                  <a:pt x="0" y="395474"/>
                  <a:pt x="0" y="254830"/>
                </a:cubicBezTo>
                <a:lnTo>
                  <a:pt x="0" y="254830"/>
                </a:lnTo>
                <a:cubicBezTo>
                  <a:pt x="0" y="114185"/>
                  <a:pt x="114185" y="0"/>
                  <a:pt x="254830" y="0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9" name="Shape 6"/>
          <p:cNvSpPr/>
          <p:nvPr/>
        </p:nvSpPr>
        <p:spPr>
          <a:xfrm>
            <a:off x="693614" y="1509866"/>
            <a:ext cx="167232" cy="191122"/>
          </a:xfrm>
          <a:custGeom>
            <a:avLst/>
            <a:gdLst/>
            <a:ahLst/>
            <a:cxnLst/>
            <a:rect l="l" t="t" r="r" b="b"/>
            <a:pathLst>
              <a:path w="167232" h="191122">
                <a:moveTo>
                  <a:pt x="0" y="80630"/>
                </a:moveTo>
                <a:cubicBezTo>
                  <a:pt x="0" y="55881"/>
                  <a:pt x="20045" y="35835"/>
                  <a:pt x="44794" y="35835"/>
                </a:cubicBezTo>
                <a:lnTo>
                  <a:pt x="47781" y="35835"/>
                </a:lnTo>
                <a:cubicBezTo>
                  <a:pt x="54388" y="35835"/>
                  <a:pt x="59726" y="41173"/>
                  <a:pt x="59726" y="47781"/>
                </a:cubicBezTo>
                <a:cubicBezTo>
                  <a:pt x="59726" y="54388"/>
                  <a:pt x="54388" y="59726"/>
                  <a:pt x="47781" y="59726"/>
                </a:cubicBezTo>
                <a:lnTo>
                  <a:pt x="44794" y="59726"/>
                </a:lnTo>
                <a:cubicBezTo>
                  <a:pt x="33260" y="59726"/>
                  <a:pt x="23890" y="69095"/>
                  <a:pt x="23890" y="80630"/>
                </a:cubicBezTo>
                <a:lnTo>
                  <a:pt x="23890" y="83616"/>
                </a:lnTo>
                <a:lnTo>
                  <a:pt x="47781" y="83616"/>
                </a:lnTo>
                <a:cubicBezTo>
                  <a:pt x="60958" y="83616"/>
                  <a:pt x="71671" y="94329"/>
                  <a:pt x="71671" y="107506"/>
                </a:cubicBezTo>
                <a:lnTo>
                  <a:pt x="71671" y="131396"/>
                </a:lnTo>
                <a:cubicBezTo>
                  <a:pt x="71671" y="144573"/>
                  <a:pt x="60958" y="155287"/>
                  <a:pt x="47781" y="155287"/>
                </a:cubicBezTo>
                <a:lnTo>
                  <a:pt x="23890" y="155287"/>
                </a:lnTo>
                <a:cubicBezTo>
                  <a:pt x="10713" y="155287"/>
                  <a:pt x="0" y="144573"/>
                  <a:pt x="0" y="131396"/>
                </a:cubicBezTo>
                <a:lnTo>
                  <a:pt x="0" y="80630"/>
                </a:lnTo>
                <a:close/>
                <a:moveTo>
                  <a:pt x="95561" y="80630"/>
                </a:moveTo>
                <a:cubicBezTo>
                  <a:pt x="95561" y="55881"/>
                  <a:pt x="115606" y="35835"/>
                  <a:pt x="140355" y="35835"/>
                </a:cubicBezTo>
                <a:lnTo>
                  <a:pt x="143342" y="35835"/>
                </a:lnTo>
                <a:cubicBezTo>
                  <a:pt x="149949" y="35835"/>
                  <a:pt x="155287" y="41173"/>
                  <a:pt x="155287" y="47781"/>
                </a:cubicBezTo>
                <a:cubicBezTo>
                  <a:pt x="155287" y="54388"/>
                  <a:pt x="149949" y="59726"/>
                  <a:pt x="143342" y="59726"/>
                </a:cubicBezTo>
                <a:lnTo>
                  <a:pt x="140355" y="59726"/>
                </a:lnTo>
                <a:cubicBezTo>
                  <a:pt x="128821" y="59726"/>
                  <a:pt x="119451" y="69095"/>
                  <a:pt x="119451" y="80630"/>
                </a:cubicBezTo>
                <a:lnTo>
                  <a:pt x="119451" y="83616"/>
                </a:lnTo>
                <a:lnTo>
                  <a:pt x="143342" y="83616"/>
                </a:lnTo>
                <a:cubicBezTo>
                  <a:pt x="156519" y="83616"/>
                  <a:pt x="167232" y="94329"/>
                  <a:pt x="167232" y="107506"/>
                </a:cubicBezTo>
                <a:lnTo>
                  <a:pt x="167232" y="131396"/>
                </a:lnTo>
                <a:cubicBezTo>
                  <a:pt x="167232" y="144573"/>
                  <a:pt x="156519" y="155287"/>
                  <a:pt x="143342" y="155287"/>
                </a:cubicBezTo>
                <a:lnTo>
                  <a:pt x="119451" y="155287"/>
                </a:lnTo>
                <a:cubicBezTo>
                  <a:pt x="106274" y="155287"/>
                  <a:pt x="95561" y="144573"/>
                  <a:pt x="95561" y="131396"/>
                </a:cubicBezTo>
                <a:lnTo>
                  <a:pt x="95561" y="80630"/>
                </a:ln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10" name="Text 7"/>
          <p:cNvSpPr/>
          <p:nvPr/>
        </p:nvSpPr>
        <p:spPr>
          <a:xfrm>
            <a:off x="1191328" y="1350597"/>
            <a:ext cx="10567462" cy="254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5" b="1" dirty="0">
                <a:solidFill>
                  <a:srgbClr val="F4E2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91328" y="1700887"/>
            <a:ext cx="10551535" cy="517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4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"Data reveals clear opportunities: </a:t>
            </a:r>
            <a:pPr>
              <a:lnSpc>
                <a:spcPct val="140000"/>
              </a:lnSpc>
            </a:pPr>
            <a:r>
              <a:rPr lang="en-US" sz="1254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 non-subscribers</a:t>
            </a:r>
            <a:pPr>
              <a:lnSpc>
                <a:spcPct val="140000"/>
              </a:lnSpc>
            </a:pPr>
            <a:r>
              <a:rPr lang="en-US" sz="1254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254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 high-AOV categories</a:t>
            </a:r>
            <a:pPr>
              <a:lnSpc>
                <a:spcPct val="140000"/>
              </a:lnSpc>
            </a:pPr>
            <a:r>
              <a:rPr lang="en-US" sz="1254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pPr>
              <a:lnSpc>
                <a:spcPct val="140000"/>
              </a:lnSpc>
            </a:pPr>
            <a:r>
              <a:rPr lang="en-US" sz="1254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personalize by demographic segments</a:t>
            </a:r>
            <a:pPr>
              <a:lnSpc>
                <a:spcPct val="140000"/>
              </a:lnSpc>
            </a:pPr>
            <a:r>
              <a:rPr lang="en-US" sz="1254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 foundation for </a:t>
            </a:r>
            <a:pPr>
              <a:lnSpc>
                <a:spcPct val="140000"/>
              </a:lnSpc>
            </a:pPr>
            <a:r>
              <a:rPr lang="en-US" sz="1254" dirty="0">
                <a:solidFill>
                  <a:srgbClr val="F4E285"/>
                </a:solidFill>
                <a:highlight>
                  <a:srgbClr val="F4E285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20%+ revenue growth </a:t>
            </a:r>
            <a:pPr>
              <a:lnSpc>
                <a:spcPct val="140000"/>
              </a:lnSpc>
            </a:pPr>
            <a:r>
              <a:rPr lang="en-US" sz="1254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exists in current customer behavior patterns."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21722" y="2584827"/>
            <a:ext cx="11545370" cy="2045007"/>
          </a:xfrm>
          <a:custGeom>
            <a:avLst/>
            <a:gdLst/>
            <a:ahLst/>
            <a:cxnLst/>
            <a:rect l="l" t="t" r="r" b="b"/>
            <a:pathLst>
              <a:path w="11545370" h="2045007">
                <a:moveTo>
                  <a:pt x="95563" y="0"/>
                </a:moveTo>
                <a:lnTo>
                  <a:pt x="11449807" y="0"/>
                </a:lnTo>
                <a:cubicBezTo>
                  <a:pt x="11502585" y="0"/>
                  <a:pt x="11545370" y="42785"/>
                  <a:pt x="11545370" y="95563"/>
                </a:cubicBezTo>
                <a:lnTo>
                  <a:pt x="11545370" y="1949444"/>
                </a:lnTo>
                <a:cubicBezTo>
                  <a:pt x="11545370" y="2002222"/>
                  <a:pt x="11502585" y="2045007"/>
                  <a:pt x="11449807" y="2045007"/>
                </a:cubicBezTo>
                <a:lnTo>
                  <a:pt x="95563" y="2045007"/>
                </a:lnTo>
                <a:cubicBezTo>
                  <a:pt x="42785" y="2045007"/>
                  <a:pt x="0" y="2002222"/>
                  <a:pt x="0" y="1949444"/>
                </a:cubicBezTo>
                <a:lnTo>
                  <a:pt x="0" y="95563"/>
                </a:lnTo>
                <a:cubicBezTo>
                  <a:pt x="0" y="42785"/>
                  <a:pt x="42785" y="0"/>
                  <a:pt x="95563" y="0"/>
                </a:cubicBezTo>
                <a:close/>
              </a:path>
            </a:pathLst>
          </a:custGeom>
          <a:solidFill>
            <a:srgbClr val="4A3B69">
              <a:alpha val="40000"/>
            </a:srgbClr>
          </a:solidFill>
          <a:ln w="10160">
            <a:solidFill>
              <a:srgbClr val="6B4C9A">
                <a:alpha val="5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39920" y="2810890"/>
            <a:ext cx="191122" cy="191122"/>
          </a:xfrm>
          <a:custGeom>
            <a:avLst/>
            <a:gdLst/>
            <a:ahLst/>
            <a:cxnLst/>
            <a:rect l="l" t="t" r="r" b="b"/>
            <a:pathLst>
              <a:path w="191122" h="191122">
                <a:moveTo>
                  <a:pt x="83579" y="11945"/>
                </a:moveTo>
                <a:lnTo>
                  <a:pt x="55134" y="11945"/>
                </a:lnTo>
                <a:cubicBezTo>
                  <a:pt x="44160" y="11945"/>
                  <a:pt x="34566" y="19448"/>
                  <a:pt x="31953" y="30087"/>
                </a:cubicBezTo>
                <a:lnTo>
                  <a:pt x="523" y="156967"/>
                </a:lnTo>
                <a:cubicBezTo>
                  <a:pt x="-2277" y="168240"/>
                  <a:pt x="6271" y="179177"/>
                  <a:pt x="17918" y="179177"/>
                </a:cubicBezTo>
                <a:lnTo>
                  <a:pt x="83579" y="179177"/>
                </a:lnTo>
                <a:lnTo>
                  <a:pt x="83579" y="155287"/>
                </a:lnTo>
                <a:cubicBezTo>
                  <a:pt x="83579" y="148680"/>
                  <a:pt x="88917" y="143342"/>
                  <a:pt x="95524" y="143342"/>
                </a:cubicBezTo>
                <a:cubicBezTo>
                  <a:pt x="102131" y="143342"/>
                  <a:pt x="107469" y="148680"/>
                  <a:pt x="107469" y="155287"/>
                </a:cubicBezTo>
                <a:lnTo>
                  <a:pt x="107469" y="179177"/>
                </a:lnTo>
                <a:lnTo>
                  <a:pt x="173204" y="179177"/>
                </a:lnTo>
                <a:cubicBezTo>
                  <a:pt x="184851" y="179177"/>
                  <a:pt x="193399" y="168240"/>
                  <a:pt x="190600" y="156967"/>
                </a:cubicBezTo>
                <a:lnTo>
                  <a:pt x="159206" y="30087"/>
                </a:lnTo>
                <a:cubicBezTo>
                  <a:pt x="156556" y="19448"/>
                  <a:pt x="147000" y="11945"/>
                  <a:pt x="135988" y="11945"/>
                </a:cubicBezTo>
                <a:lnTo>
                  <a:pt x="107469" y="11945"/>
                </a:lnTo>
                <a:lnTo>
                  <a:pt x="107469" y="35835"/>
                </a:lnTo>
                <a:cubicBezTo>
                  <a:pt x="107469" y="42443"/>
                  <a:pt x="102131" y="47781"/>
                  <a:pt x="95524" y="47781"/>
                </a:cubicBezTo>
                <a:cubicBezTo>
                  <a:pt x="88917" y="47781"/>
                  <a:pt x="83579" y="42443"/>
                  <a:pt x="83579" y="35835"/>
                </a:cubicBezTo>
                <a:lnTo>
                  <a:pt x="83579" y="11945"/>
                </a:lnTo>
                <a:close/>
                <a:moveTo>
                  <a:pt x="107469" y="83616"/>
                </a:moveTo>
                <a:lnTo>
                  <a:pt x="107469" y="107506"/>
                </a:lnTo>
                <a:cubicBezTo>
                  <a:pt x="107469" y="114113"/>
                  <a:pt x="102131" y="119451"/>
                  <a:pt x="95524" y="119451"/>
                </a:cubicBezTo>
                <a:cubicBezTo>
                  <a:pt x="88917" y="119451"/>
                  <a:pt x="83579" y="114113"/>
                  <a:pt x="83579" y="107506"/>
                </a:cubicBezTo>
                <a:lnTo>
                  <a:pt x="83579" y="83616"/>
                </a:lnTo>
                <a:cubicBezTo>
                  <a:pt x="83579" y="77009"/>
                  <a:pt x="88917" y="71671"/>
                  <a:pt x="95524" y="71671"/>
                </a:cubicBezTo>
                <a:cubicBezTo>
                  <a:pt x="102131" y="71671"/>
                  <a:pt x="107469" y="77009"/>
                  <a:pt x="107469" y="83616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14" name="Text 11"/>
          <p:cNvSpPr/>
          <p:nvPr/>
        </p:nvSpPr>
        <p:spPr>
          <a:xfrm>
            <a:off x="754932" y="2779137"/>
            <a:ext cx="11013413" cy="254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5" b="1" dirty="0">
                <a:solidFill>
                  <a:srgbClr val="F4E2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Immediate Next Steps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16030" y="3209061"/>
            <a:ext cx="2691637" cy="1226367"/>
          </a:xfrm>
          <a:custGeom>
            <a:avLst/>
            <a:gdLst/>
            <a:ahLst/>
            <a:cxnLst/>
            <a:rect l="l" t="t" r="r" b="b"/>
            <a:pathLst>
              <a:path w="2691637" h="1226367">
                <a:moveTo>
                  <a:pt x="31854" y="0"/>
                </a:moveTo>
                <a:lnTo>
                  <a:pt x="2659783" y="0"/>
                </a:lnTo>
                <a:cubicBezTo>
                  <a:pt x="2677375" y="0"/>
                  <a:pt x="2691637" y="14261"/>
                  <a:pt x="2691637" y="31854"/>
                </a:cubicBezTo>
                <a:lnTo>
                  <a:pt x="2691637" y="1130809"/>
                </a:lnTo>
                <a:cubicBezTo>
                  <a:pt x="2691637" y="1183584"/>
                  <a:pt x="2648854" y="1226367"/>
                  <a:pt x="2596078" y="1226367"/>
                </a:cubicBezTo>
                <a:lnTo>
                  <a:pt x="95559" y="1226367"/>
                </a:lnTo>
                <a:cubicBezTo>
                  <a:pt x="42783" y="1226367"/>
                  <a:pt x="0" y="1183584"/>
                  <a:pt x="0" y="1130809"/>
                </a:cubicBezTo>
                <a:lnTo>
                  <a:pt x="0" y="31854"/>
                </a:lnTo>
                <a:cubicBezTo>
                  <a:pt x="0" y="14273"/>
                  <a:pt x="14273" y="0"/>
                  <a:pt x="31854" y="0"/>
                </a:cubicBezTo>
                <a:close/>
              </a:path>
            </a:pathLst>
          </a:custGeom>
          <a:solidFill>
            <a:srgbClr val="1A1A2E">
              <a:alpha val="70196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516030" y="3209061"/>
            <a:ext cx="2691637" cy="31854"/>
          </a:xfrm>
          <a:custGeom>
            <a:avLst/>
            <a:gdLst/>
            <a:ahLst/>
            <a:cxnLst/>
            <a:rect l="l" t="t" r="r" b="b"/>
            <a:pathLst>
              <a:path w="2691637" h="31854">
                <a:moveTo>
                  <a:pt x="31854" y="0"/>
                </a:moveTo>
                <a:lnTo>
                  <a:pt x="2659783" y="0"/>
                </a:lnTo>
                <a:cubicBezTo>
                  <a:pt x="2677375" y="0"/>
                  <a:pt x="2691637" y="14261"/>
                  <a:pt x="2691637" y="31854"/>
                </a:cubicBezTo>
                <a:lnTo>
                  <a:pt x="2691637" y="31854"/>
                </a:lnTo>
                <a:lnTo>
                  <a:pt x="0" y="31854"/>
                </a:lnTo>
                <a:lnTo>
                  <a:pt x="0" y="31854"/>
                </a:lnTo>
                <a:cubicBezTo>
                  <a:pt x="0" y="14273"/>
                  <a:pt x="14273" y="0"/>
                  <a:pt x="31854" y="0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17" name="Shape 14"/>
          <p:cNvSpPr/>
          <p:nvPr/>
        </p:nvSpPr>
        <p:spPr>
          <a:xfrm>
            <a:off x="675298" y="3384256"/>
            <a:ext cx="382244" cy="382244"/>
          </a:xfrm>
          <a:custGeom>
            <a:avLst/>
            <a:gdLst/>
            <a:ahLst/>
            <a:cxnLst/>
            <a:rect l="l" t="t" r="r" b="b"/>
            <a:pathLst>
              <a:path w="382244" h="382244">
                <a:moveTo>
                  <a:pt x="191122" y="0"/>
                </a:moveTo>
                <a:lnTo>
                  <a:pt x="191122" y="0"/>
                </a:lnTo>
                <a:cubicBezTo>
                  <a:pt x="296676" y="0"/>
                  <a:pt x="382244" y="85568"/>
                  <a:pt x="382244" y="191122"/>
                </a:cubicBezTo>
                <a:lnTo>
                  <a:pt x="382244" y="191122"/>
                </a:lnTo>
                <a:cubicBezTo>
                  <a:pt x="382244" y="296676"/>
                  <a:pt x="296676" y="382244"/>
                  <a:pt x="191122" y="382244"/>
                </a:cubicBezTo>
                <a:lnTo>
                  <a:pt x="191122" y="382244"/>
                </a:lnTo>
                <a:cubicBezTo>
                  <a:pt x="85568" y="382244"/>
                  <a:pt x="0" y="296676"/>
                  <a:pt x="0" y="191122"/>
                </a:cubicBezTo>
                <a:lnTo>
                  <a:pt x="0" y="191122"/>
                </a:lnTo>
                <a:cubicBezTo>
                  <a:pt x="0" y="85568"/>
                  <a:pt x="85568" y="0"/>
                  <a:pt x="191122" y="0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18" name="Text 15"/>
          <p:cNvSpPr/>
          <p:nvPr/>
        </p:nvSpPr>
        <p:spPr>
          <a:xfrm>
            <a:off x="841137" y="3463891"/>
            <a:ext cx="127415" cy="222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4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53104" y="3463891"/>
            <a:ext cx="525586" cy="222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9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75298" y="3862062"/>
            <a:ext cx="2436807" cy="191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 Findings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75298" y="4116891"/>
            <a:ext cx="2428844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 analysis with marketing &amp; product teams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337172" y="3209061"/>
            <a:ext cx="2691637" cy="1226367"/>
          </a:xfrm>
          <a:custGeom>
            <a:avLst/>
            <a:gdLst/>
            <a:ahLst/>
            <a:cxnLst/>
            <a:rect l="l" t="t" r="r" b="b"/>
            <a:pathLst>
              <a:path w="2691637" h="1226367">
                <a:moveTo>
                  <a:pt x="31854" y="0"/>
                </a:moveTo>
                <a:lnTo>
                  <a:pt x="2659783" y="0"/>
                </a:lnTo>
                <a:cubicBezTo>
                  <a:pt x="2677375" y="0"/>
                  <a:pt x="2691637" y="14261"/>
                  <a:pt x="2691637" y="31854"/>
                </a:cubicBezTo>
                <a:lnTo>
                  <a:pt x="2691637" y="1130809"/>
                </a:lnTo>
                <a:cubicBezTo>
                  <a:pt x="2691637" y="1183584"/>
                  <a:pt x="2648854" y="1226367"/>
                  <a:pt x="2596078" y="1226367"/>
                </a:cubicBezTo>
                <a:lnTo>
                  <a:pt x="95559" y="1226367"/>
                </a:lnTo>
                <a:cubicBezTo>
                  <a:pt x="42783" y="1226367"/>
                  <a:pt x="0" y="1183584"/>
                  <a:pt x="0" y="1130809"/>
                </a:cubicBezTo>
                <a:lnTo>
                  <a:pt x="0" y="31854"/>
                </a:lnTo>
                <a:cubicBezTo>
                  <a:pt x="0" y="14273"/>
                  <a:pt x="14273" y="0"/>
                  <a:pt x="31854" y="0"/>
                </a:cubicBezTo>
                <a:close/>
              </a:path>
            </a:pathLst>
          </a:custGeom>
          <a:solidFill>
            <a:srgbClr val="1A1A2E">
              <a:alpha val="70196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3337172" y="3209061"/>
            <a:ext cx="2691637" cy="31854"/>
          </a:xfrm>
          <a:custGeom>
            <a:avLst/>
            <a:gdLst/>
            <a:ahLst/>
            <a:cxnLst/>
            <a:rect l="l" t="t" r="r" b="b"/>
            <a:pathLst>
              <a:path w="2691637" h="31854">
                <a:moveTo>
                  <a:pt x="31854" y="0"/>
                </a:moveTo>
                <a:lnTo>
                  <a:pt x="2659783" y="0"/>
                </a:lnTo>
                <a:cubicBezTo>
                  <a:pt x="2677375" y="0"/>
                  <a:pt x="2691637" y="14261"/>
                  <a:pt x="2691637" y="31854"/>
                </a:cubicBezTo>
                <a:lnTo>
                  <a:pt x="2691637" y="31854"/>
                </a:lnTo>
                <a:lnTo>
                  <a:pt x="0" y="31854"/>
                </a:lnTo>
                <a:lnTo>
                  <a:pt x="0" y="31854"/>
                </a:lnTo>
                <a:cubicBezTo>
                  <a:pt x="0" y="14273"/>
                  <a:pt x="14273" y="0"/>
                  <a:pt x="31854" y="0"/>
                </a:cubicBezTo>
                <a:close/>
              </a:path>
            </a:pathLst>
          </a:custGeom>
          <a:solidFill>
            <a:srgbClr val="6B4C9A"/>
          </a:solidFill>
          <a:ln/>
        </p:spPr>
      </p:sp>
      <p:sp>
        <p:nvSpPr>
          <p:cNvPr id="24" name="Shape 21"/>
          <p:cNvSpPr/>
          <p:nvPr/>
        </p:nvSpPr>
        <p:spPr>
          <a:xfrm>
            <a:off x="3502811" y="3390627"/>
            <a:ext cx="371095" cy="371095"/>
          </a:xfrm>
          <a:custGeom>
            <a:avLst/>
            <a:gdLst/>
            <a:ahLst/>
            <a:cxnLst/>
            <a:rect l="l" t="t" r="r" b="b"/>
            <a:pathLst>
              <a:path w="371095" h="371095">
                <a:moveTo>
                  <a:pt x="185548" y="0"/>
                </a:moveTo>
                <a:lnTo>
                  <a:pt x="185548" y="0"/>
                </a:lnTo>
                <a:cubicBezTo>
                  <a:pt x="288023" y="0"/>
                  <a:pt x="371095" y="83073"/>
                  <a:pt x="371095" y="185548"/>
                </a:cubicBezTo>
                <a:lnTo>
                  <a:pt x="371095" y="185548"/>
                </a:lnTo>
                <a:cubicBezTo>
                  <a:pt x="371095" y="288023"/>
                  <a:pt x="288023" y="371095"/>
                  <a:pt x="185548" y="371095"/>
                </a:cubicBezTo>
                <a:lnTo>
                  <a:pt x="185548" y="371095"/>
                </a:lnTo>
                <a:cubicBezTo>
                  <a:pt x="83073" y="371095"/>
                  <a:pt x="0" y="288023"/>
                  <a:pt x="0" y="185548"/>
                </a:cubicBezTo>
                <a:lnTo>
                  <a:pt x="0" y="185548"/>
                </a:lnTo>
                <a:cubicBezTo>
                  <a:pt x="0" y="83073"/>
                  <a:pt x="83073" y="0"/>
                  <a:pt x="185548" y="0"/>
                </a:cubicBezTo>
                <a:close/>
              </a:path>
            </a:pathLst>
          </a:custGeom>
          <a:solidFill>
            <a:srgbClr val="6B4C9A"/>
          </a:solidFill>
          <a:ln w="20320">
            <a:solidFill>
              <a:srgbClr val="F4E28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46949" y="3463891"/>
            <a:ext cx="159268" cy="222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4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974246" y="3463891"/>
            <a:ext cx="549476" cy="222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9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2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3496440" y="3862062"/>
            <a:ext cx="2436807" cy="191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Campaign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96440" y="4116891"/>
            <a:ext cx="2428844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subscriber conversion campaign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158314" y="3209061"/>
            <a:ext cx="2691637" cy="1226367"/>
          </a:xfrm>
          <a:custGeom>
            <a:avLst/>
            <a:gdLst/>
            <a:ahLst/>
            <a:cxnLst/>
            <a:rect l="l" t="t" r="r" b="b"/>
            <a:pathLst>
              <a:path w="2691637" h="1226367">
                <a:moveTo>
                  <a:pt x="31854" y="0"/>
                </a:moveTo>
                <a:lnTo>
                  <a:pt x="2659783" y="0"/>
                </a:lnTo>
                <a:cubicBezTo>
                  <a:pt x="2677375" y="0"/>
                  <a:pt x="2691637" y="14261"/>
                  <a:pt x="2691637" y="31854"/>
                </a:cubicBezTo>
                <a:lnTo>
                  <a:pt x="2691637" y="1130809"/>
                </a:lnTo>
                <a:cubicBezTo>
                  <a:pt x="2691637" y="1183584"/>
                  <a:pt x="2648854" y="1226367"/>
                  <a:pt x="2596078" y="1226367"/>
                </a:cubicBezTo>
                <a:lnTo>
                  <a:pt x="95559" y="1226367"/>
                </a:lnTo>
                <a:cubicBezTo>
                  <a:pt x="42783" y="1226367"/>
                  <a:pt x="0" y="1183584"/>
                  <a:pt x="0" y="1130809"/>
                </a:cubicBezTo>
                <a:lnTo>
                  <a:pt x="0" y="31854"/>
                </a:lnTo>
                <a:cubicBezTo>
                  <a:pt x="0" y="14273"/>
                  <a:pt x="14273" y="0"/>
                  <a:pt x="31854" y="0"/>
                </a:cubicBezTo>
                <a:close/>
              </a:path>
            </a:pathLst>
          </a:custGeom>
          <a:solidFill>
            <a:srgbClr val="1A1A2E">
              <a:alpha val="70196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6158314" y="3209061"/>
            <a:ext cx="2691637" cy="31854"/>
          </a:xfrm>
          <a:custGeom>
            <a:avLst/>
            <a:gdLst/>
            <a:ahLst/>
            <a:cxnLst/>
            <a:rect l="l" t="t" r="r" b="b"/>
            <a:pathLst>
              <a:path w="2691637" h="31854">
                <a:moveTo>
                  <a:pt x="31854" y="0"/>
                </a:moveTo>
                <a:lnTo>
                  <a:pt x="2659783" y="0"/>
                </a:lnTo>
                <a:cubicBezTo>
                  <a:pt x="2677375" y="0"/>
                  <a:pt x="2691637" y="14261"/>
                  <a:pt x="2691637" y="31854"/>
                </a:cubicBezTo>
                <a:lnTo>
                  <a:pt x="2691637" y="31854"/>
                </a:lnTo>
                <a:lnTo>
                  <a:pt x="0" y="31854"/>
                </a:lnTo>
                <a:lnTo>
                  <a:pt x="0" y="31854"/>
                </a:lnTo>
                <a:cubicBezTo>
                  <a:pt x="0" y="14273"/>
                  <a:pt x="14273" y="0"/>
                  <a:pt x="31854" y="0"/>
                </a:cubicBezTo>
                <a:close/>
              </a:path>
            </a:pathLst>
          </a:custGeom>
          <a:solidFill>
            <a:srgbClr val="6B4C9A"/>
          </a:solidFill>
          <a:ln/>
        </p:spPr>
      </p:sp>
      <p:sp>
        <p:nvSpPr>
          <p:cNvPr id="31" name="Shape 28"/>
          <p:cNvSpPr/>
          <p:nvPr/>
        </p:nvSpPr>
        <p:spPr>
          <a:xfrm>
            <a:off x="6323953" y="3390627"/>
            <a:ext cx="371095" cy="371095"/>
          </a:xfrm>
          <a:custGeom>
            <a:avLst/>
            <a:gdLst/>
            <a:ahLst/>
            <a:cxnLst/>
            <a:rect l="l" t="t" r="r" b="b"/>
            <a:pathLst>
              <a:path w="371095" h="371095">
                <a:moveTo>
                  <a:pt x="185548" y="0"/>
                </a:moveTo>
                <a:lnTo>
                  <a:pt x="185548" y="0"/>
                </a:lnTo>
                <a:cubicBezTo>
                  <a:pt x="288023" y="0"/>
                  <a:pt x="371095" y="83073"/>
                  <a:pt x="371095" y="185548"/>
                </a:cubicBezTo>
                <a:lnTo>
                  <a:pt x="371095" y="185548"/>
                </a:lnTo>
                <a:cubicBezTo>
                  <a:pt x="371095" y="288023"/>
                  <a:pt x="288023" y="371095"/>
                  <a:pt x="185548" y="371095"/>
                </a:cubicBezTo>
                <a:lnTo>
                  <a:pt x="185548" y="371095"/>
                </a:lnTo>
                <a:cubicBezTo>
                  <a:pt x="83073" y="371095"/>
                  <a:pt x="0" y="288023"/>
                  <a:pt x="0" y="185548"/>
                </a:cubicBezTo>
                <a:lnTo>
                  <a:pt x="0" y="185548"/>
                </a:lnTo>
                <a:cubicBezTo>
                  <a:pt x="0" y="83073"/>
                  <a:pt x="83073" y="0"/>
                  <a:pt x="185548" y="0"/>
                </a:cubicBezTo>
                <a:close/>
              </a:path>
            </a:pathLst>
          </a:custGeom>
          <a:solidFill>
            <a:srgbClr val="6B4C9A"/>
          </a:solidFill>
          <a:ln w="20320">
            <a:solidFill>
              <a:srgbClr val="F4E28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66100" y="3463891"/>
            <a:ext cx="167232" cy="222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4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795388" y="3463891"/>
            <a:ext cx="557440" cy="222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9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3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317582" y="3862062"/>
            <a:ext cx="2436807" cy="191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Dashboard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317582" y="4116891"/>
            <a:ext cx="2428844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up KPI monitoring system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8979456" y="3209061"/>
            <a:ext cx="2691637" cy="1226367"/>
          </a:xfrm>
          <a:custGeom>
            <a:avLst/>
            <a:gdLst/>
            <a:ahLst/>
            <a:cxnLst/>
            <a:rect l="l" t="t" r="r" b="b"/>
            <a:pathLst>
              <a:path w="2691637" h="1226367">
                <a:moveTo>
                  <a:pt x="31854" y="0"/>
                </a:moveTo>
                <a:lnTo>
                  <a:pt x="2659783" y="0"/>
                </a:lnTo>
                <a:cubicBezTo>
                  <a:pt x="2677375" y="0"/>
                  <a:pt x="2691637" y="14261"/>
                  <a:pt x="2691637" y="31854"/>
                </a:cubicBezTo>
                <a:lnTo>
                  <a:pt x="2691637" y="1130809"/>
                </a:lnTo>
                <a:cubicBezTo>
                  <a:pt x="2691637" y="1183584"/>
                  <a:pt x="2648854" y="1226367"/>
                  <a:pt x="2596078" y="1226367"/>
                </a:cubicBezTo>
                <a:lnTo>
                  <a:pt x="95559" y="1226367"/>
                </a:lnTo>
                <a:cubicBezTo>
                  <a:pt x="42783" y="1226367"/>
                  <a:pt x="0" y="1183584"/>
                  <a:pt x="0" y="1130809"/>
                </a:cubicBezTo>
                <a:lnTo>
                  <a:pt x="0" y="31854"/>
                </a:lnTo>
                <a:cubicBezTo>
                  <a:pt x="0" y="14273"/>
                  <a:pt x="14273" y="0"/>
                  <a:pt x="31854" y="0"/>
                </a:cubicBezTo>
                <a:close/>
              </a:path>
            </a:pathLst>
          </a:custGeom>
          <a:solidFill>
            <a:srgbClr val="1A1A2E">
              <a:alpha val="70196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8979456" y="3209061"/>
            <a:ext cx="2691637" cy="31854"/>
          </a:xfrm>
          <a:custGeom>
            <a:avLst/>
            <a:gdLst/>
            <a:ahLst/>
            <a:cxnLst/>
            <a:rect l="l" t="t" r="r" b="b"/>
            <a:pathLst>
              <a:path w="2691637" h="31854">
                <a:moveTo>
                  <a:pt x="31854" y="0"/>
                </a:moveTo>
                <a:lnTo>
                  <a:pt x="2659783" y="0"/>
                </a:lnTo>
                <a:cubicBezTo>
                  <a:pt x="2677375" y="0"/>
                  <a:pt x="2691637" y="14261"/>
                  <a:pt x="2691637" y="31854"/>
                </a:cubicBezTo>
                <a:lnTo>
                  <a:pt x="2691637" y="31854"/>
                </a:lnTo>
                <a:lnTo>
                  <a:pt x="0" y="31854"/>
                </a:lnTo>
                <a:lnTo>
                  <a:pt x="0" y="31854"/>
                </a:lnTo>
                <a:cubicBezTo>
                  <a:pt x="0" y="14273"/>
                  <a:pt x="14273" y="0"/>
                  <a:pt x="31854" y="0"/>
                </a:cubicBezTo>
                <a:close/>
              </a:path>
            </a:pathLst>
          </a:custGeom>
          <a:solidFill>
            <a:srgbClr val="6B4C9A"/>
          </a:solidFill>
          <a:ln/>
        </p:spPr>
      </p:sp>
      <p:sp>
        <p:nvSpPr>
          <p:cNvPr id="38" name="Shape 35"/>
          <p:cNvSpPr/>
          <p:nvPr/>
        </p:nvSpPr>
        <p:spPr>
          <a:xfrm>
            <a:off x="9145095" y="3390627"/>
            <a:ext cx="371095" cy="371095"/>
          </a:xfrm>
          <a:custGeom>
            <a:avLst/>
            <a:gdLst/>
            <a:ahLst/>
            <a:cxnLst/>
            <a:rect l="l" t="t" r="r" b="b"/>
            <a:pathLst>
              <a:path w="371095" h="371095">
                <a:moveTo>
                  <a:pt x="185548" y="0"/>
                </a:moveTo>
                <a:lnTo>
                  <a:pt x="185548" y="0"/>
                </a:lnTo>
                <a:cubicBezTo>
                  <a:pt x="288023" y="0"/>
                  <a:pt x="371095" y="83073"/>
                  <a:pt x="371095" y="185548"/>
                </a:cubicBezTo>
                <a:lnTo>
                  <a:pt x="371095" y="185548"/>
                </a:lnTo>
                <a:cubicBezTo>
                  <a:pt x="371095" y="288023"/>
                  <a:pt x="288023" y="371095"/>
                  <a:pt x="185548" y="371095"/>
                </a:cubicBezTo>
                <a:lnTo>
                  <a:pt x="185548" y="371095"/>
                </a:lnTo>
                <a:cubicBezTo>
                  <a:pt x="83073" y="371095"/>
                  <a:pt x="0" y="288023"/>
                  <a:pt x="0" y="185548"/>
                </a:cubicBezTo>
                <a:lnTo>
                  <a:pt x="0" y="185548"/>
                </a:lnTo>
                <a:cubicBezTo>
                  <a:pt x="0" y="83073"/>
                  <a:pt x="83073" y="0"/>
                  <a:pt x="185548" y="0"/>
                </a:cubicBezTo>
                <a:close/>
              </a:path>
            </a:pathLst>
          </a:custGeom>
          <a:solidFill>
            <a:srgbClr val="6B4C9A"/>
          </a:solidFill>
          <a:ln w="20320">
            <a:solidFill>
              <a:srgbClr val="F4E28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289332" y="3463891"/>
            <a:ext cx="159268" cy="222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4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9616530" y="3463891"/>
            <a:ext cx="581330" cy="222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9" b="1" dirty="0">
                <a:solidFill>
                  <a:srgbClr val="F4E2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 2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9138724" y="3862062"/>
            <a:ext cx="2436807" cy="191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Launch Pilots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9138724" y="4116891"/>
            <a:ext cx="2428844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 top 2 recommendations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321722" y="4795373"/>
            <a:ext cx="3741216" cy="1232738"/>
          </a:xfrm>
          <a:custGeom>
            <a:avLst/>
            <a:gdLst/>
            <a:ahLst/>
            <a:cxnLst/>
            <a:rect l="l" t="t" r="r" b="b"/>
            <a:pathLst>
              <a:path w="3741216" h="1232738">
                <a:moveTo>
                  <a:pt x="95562" y="0"/>
                </a:moveTo>
                <a:lnTo>
                  <a:pt x="3645654" y="0"/>
                </a:lnTo>
                <a:cubicBezTo>
                  <a:pt x="3698431" y="0"/>
                  <a:pt x="3741216" y="42784"/>
                  <a:pt x="3741216" y="95562"/>
                </a:cubicBezTo>
                <a:lnTo>
                  <a:pt x="3741216" y="1137176"/>
                </a:lnTo>
                <a:cubicBezTo>
                  <a:pt x="3741216" y="1189953"/>
                  <a:pt x="3698431" y="1232738"/>
                  <a:pt x="3645654" y="1232738"/>
                </a:cubicBezTo>
                <a:lnTo>
                  <a:pt x="95562" y="1232738"/>
                </a:lnTo>
                <a:cubicBezTo>
                  <a:pt x="42784" y="1232738"/>
                  <a:pt x="0" y="1189953"/>
                  <a:pt x="0" y="1137176"/>
                </a:cubicBezTo>
                <a:lnTo>
                  <a:pt x="0" y="95562"/>
                </a:lnTo>
                <a:cubicBezTo>
                  <a:pt x="0" y="42784"/>
                  <a:pt x="42784" y="0"/>
                  <a:pt x="95562" y="0"/>
                </a:cubicBezTo>
                <a:close/>
              </a:path>
            </a:pathLst>
          </a:custGeom>
          <a:solidFill>
            <a:srgbClr val="6B4C9A">
              <a:alpha val="30196"/>
            </a:srgbClr>
          </a:solidFill>
          <a:ln w="10160">
            <a:solidFill>
              <a:srgbClr val="6B4C9A">
                <a:alpha val="50196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043414" y="4957829"/>
            <a:ext cx="298628" cy="238903"/>
          </a:xfrm>
          <a:custGeom>
            <a:avLst/>
            <a:gdLst/>
            <a:ahLst/>
            <a:cxnLst/>
            <a:rect l="l" t="t" r="r" b="b"/>
            <a:pathLst>
              <a:path w="298628" h="238903">
                <a:moveTo>
                  <a:pt x="149314" y="7466"/>
                </a:moveTo>
                <a:cubicBezTo>
                  <a:pt x="176097" y="7466"/>
                  <a:pt x="197841" y="29210"/>
                  <a:pt x="197841" y="55993"/>
                </a:cubicBezTo>
                <a:cubicBezTo>
                  <a:pt x="197841" y="82776"/>
                  <a:pt x="176097" y="104520"/>
                  <a:pt x="149314" y="104520"/>
                </a:cubicBezTo>
                <a:cubicBezTo>
                  <a:pt x="122531" y="104520"/>
                  <a:pt x="100787" y="82776"/>
                  <a:pt x="100787" y="55993"/>
                </a:cubicBezTo>
                <a:cubicBezTo>
                  <a:pt x="100787" y="29210"/>
                  <a:pt x="122531" y="7466"/>
                  <a:pt x="149314" y="7466"/>
                </a:cubicBezTo>
                <a:close/>
                <a:moveTo>
                  <a:pt x="44794" y="41061"/>
                </a:moveTo>
                <a:cubicBezTo>
                  <a:pt x="63336" y="41061"/>
                  <a:pt x="78390" y="56115"/>
                  <a:pt x="78390" y="74657"/>
                </a:cubicBezTo>
                <a:cubicBezTo>
                  <a:pt x="78390" y="93199"/>
                  <a:pt x="63336" y="108253"/>
                  <a:pt x="44794" y="108253"/>
                </a:cubicBezTo>
                <a:cubicBezTo>
                  <a:pt x="26252" y="108253"/>
                  <a:pt x="11199" y="93199"/>
                  <a:pt x="11199" y="74657"/>
                </a:cubicBezTo>
                <a:cubicBezTo>
                  <a:pt x="11199" y="56115"/>
                  <a:pt x="26252" y="41061"/>
                  <a:pt x="44794" y="41061"/>
                </a:cubicBezTo>
                <a:close/>
                <a:moveTo>
                  <a:pt x="0" y="194108"/>
                </a:moveTo>
                <a:cubicBezTo>
                  <a:pt x="0" y="161119"/>
                  <a:pt x="26737" y="134383"/>
                  <a:pt x="59726" y="134383"/>
                </a:cubicBezTo>
                <a:cubicBezTo>
                  <a:pt x="65698" y="134383"/>
                  <a:pt x="71484" y="135269"/>
                  <a:pt x="76943" y="136902"/>
                </a:cubicBezTo>
                <a:cubicBezTo>
                  <a:pt x="61592" y="154074"/>
                  <a:pt x="52260" y="176751"/>
                  <a:pt x="52260" y="201574"/>
                </a:cubicBezTo>
                <a:lnTo>
                  <a:pt x="52260" y="209040"/>
                </a:lnTo>
                <a:cubicBezTo>
                  <a:pt x="52260" y="214359"/>
                  <a:pt x="53380" y="219399"/>
                  <a:pt x="55386" y="223971"/>
                </a:cubicBezTo>
                <a:lnTo>
                  <a:pt x="14931" y="223971"/>
                </a:lnTo>
                <a:cubicBezTo>
                  <a:pt x="6672" y="223971"/>
                  <a:pt x="0" y="217299"/>
                  <a:pt x="0" y="209040"/>
                </a:cubicBezTo>
                <a:lnTo>
                  <a:pt x="0" y="194108"/>
                </a:lnTo>
                <a:close/>
                <a:moveTo>
                  <a:pt x="243242" y="223971"/>
                </a:moveTo>
                <a:cubicBezTo>
                  <a:pt x="245249" y="219399"/>
                  <a:pt x="246368" y="214359"/>
                  <a:pt x="246368" y="209040"/>
                </a:cubicBezTo>
                <a:lnTo>
                  <a:pt x="246368" y="201574"/>
                </a:lnTo>
                <a:cubicBezTo>
                  <a:pt x="246368" y="176751"/>
                  <a:pt x="237036" y="154074"/>
                  <a:pt x="221685" y="136902"/>
                </a:cubicBezTo>
                <a:cubicBezTo>
                  <a:pt x="227144" y="135269"/>
                  <a:pt x="232930" y="134383"/>
                  <a:pt x="238903" y="134383"/>
                </a:cubicBezTo>
                <a:cubicBezTo>
                  <a:pt x="271892" y="134383"/>
                  <a:pt x="298628" y="161119"/>
                  <a:pt x="298628" y="194108"/>
                </a:cubicBezTo>
                <a:lnTo>
                  <a:pt x="298628" y="209040"/>
                </a:lnTo>
                <a:cubicBezTo>
                  <a:pt x="298628" y="217299"/>
                  <a:pt x="291956" y="223971"/>
                  <a:pt x="283697" y="223971"/>
                </a:cubicBezTo>
                <a:lnTo>
                  <a:pt x="243242" y="223971"/>
                </a:lnTo>
                <a:close/>
                <a:moveTo>
                  <a:pt x="220238" y="74657"/>
                </a:moveTo>
                <a:cubicBezTo>
                  <a:pt x="220238" y="56115"/>
                  <a:pt x="235292" y="41061"/>
                  <a:pt x="253834" y="41061"/>
                </a:cubicBezTo>
                <a:cubicBezTo>
                  <a:pt x="272376" y="41061"/>
                  <a:pt x="287430" y="56115"/>
                  <a:pt x="287430" y="74657"/>
                </a:cubicBezTo>
                <a:cubicBezTo>
                  <a:pt x="287430" y="93199"/>
                  <a:pt x="272376" y="108253"/>
                  <a:pt x="253834" y="108253"/>
                </a:cubicBezTo>
                <a:cubicBezTo>
                  <a:pt x="235292" y="108253"/>
                  <a:pt x="220238" y="93199"/>
                  <a:pt x="220238" y="74657"/>
                </a:cubicBezTo>
                <a:close/>
                <a:moveTo>
                  <a:pt x="74657" y="201574"/>
                </a:moveTo>
                <a:cubicBezTo>
                  <a:pt x="74657" y="160326"/>
                  <a:pt x="108066" y="126917"/>
                  <a:pt x="149314" y="126917"/>
                </a:cubicBezTo>
                <a:cubicBezTo>
                  <a:pt x="190562" y="126917"/>
                  <a:pt x="223971" y="160326"/>
                  <a:pt x="223971" y="201574"/>
                </a:cubicBezTo>
                <a:lnTo>
                  <a:pt x="223971" y="209040"/>
                </a:lnTo>
                <a:cubicBezTo>
                  <a:pt x="223971" y="217299"/>
                  <a:pt x="217299" y="223971"/>
                  <a:pt x="209040" y="223971"/>
                </a:cubicBezTo>
                <a:lnTo>
                  <a:pt x="89589" y="223971"/>
                </a:lnTo>
                <a:cubicBezTo>
                  <a:pt x="81330" y="223971"/>
                  <a:pt x="74657" y="217299"/>
                  <a:pt x="74657" y="209040"/>
                </a:cubicBezTo>
                <a:lnTo>
                  <a:pt x="74657" y="201574"/>
                </a:ln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45" name="Text 42"/>
          <p:cNvSpPr/>
          <p:nvPr/>
        </p:nvSpPr>
        <p:spPr>
          <a:xfrm>
            <a:off x="412505" y="5292293"/>
            <a:ext cx="3559650" cy="318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57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3,900+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452322" y="5674537"/>
            <a:ext cx="3480016" cy="191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3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Customers Analyzed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4225492" y="4795373"/>
            <a:ext cx="3741216" cy="1232738"/>
          </a:xfrm>
          <a:custGeom>
            <a:avLst/>
            <a:gdLst/>
            <a:ahLst/>
            <a:cxnLst/>
            <a:rect l="l" t="t" r="r" b="b"/>
            <a:pathLst>
              <a:path w="3741216" h="1232738">
                <a:moveTo>
                  <a:pt x="95562" y="0"/>
                </a:moveTo>
                <a:lnTo>
                  <a:pt x="3645654" y="0"/>
                </a:lnTo>
                <a:cubicBezTo>
                  <a:pt x="3698431" y="0"/>
                  <a:pt x="3741216" y="42784"/>
                  <a:pt x="3741216" y="95562"/>
                </a:cubicBezTo>
                <a:lnTo>
                  <a:pt x="3741216" y="1137176"/>
                </a:lnTo>
                <a:cubicBezTo>
                  <a:pt x="3741216" y="1189953"/>
                  <a:pt x="3698431" y="1232738"/>
                  <a:pt x="3645654" y="1232738"/>
                </a:cubicBezTo>
                <a:lnTo>
                  <a:pt x="95562" y="1232738"/>
                </a:lnTo>
                <a:cubicBezTo>
                  <a:pt x="42784" y="1232738"/>
                  <a:pt x="0" y="1189953"/>
                  <a:pt x="0" y="1137176"/>
                </a:cubicBezTo>
                <a:lnTo>
                  <a:pt x="0" y="95562"/>
                </a:lnTo>
                <a:cubicBezTo>
                  <a:pt x="0" y="42784"/>
                  <a:pt x="42784" y="0"/>
                  <a:pt x="95562" y="0"/>
                </a:cubicBezTo>
                <a:close/>
              </a:path>
            </a:pathLst>
          </a:custGeom>
          <a:solidFill>
            <a:srgbClr val="6B4C9A">
              <a:alpha val="30196"/>
            </a:srgbClr>
          </a:solidFill>
          <a:ln w="10160">
            <a:solidFill>
              <a:srgbClr val="6B4C9A">
                <a:alpha val="50196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977146" y="4957829"/>
            <a:ext cx="238903" cy="238903"/>
          </a:xfrm>
          <a:custGeom>
            <a:avLst/>
            <a:gdLst/>
            <a:ahLst/>
            <a:cxnLst/>
            <a:rect l="l" t="t" r="r" b="b"/>
            <a:pathLst>
              <a:path w="238903" h="238903">
                <a:moveTo>
                  <a:pt x="29863" y="29863"/>
                </a:moveTo>
                <a:cubicBezTo>
                  <a:pt x="29863" y="21604"/>
                  <a:pt x="23190" y="14931"/>
                  <a:pt x="14931" y="14931"/>
                </a:cubicBezTo>
                <a:cubicBezTo>
                  <a:pt x="6672" y="14931"/>
                  <a:pt x="0" y="21604"/>
                  <a:pt x="0" y="29863"/>
                </a:cubicBezTo>
                <a:lnTo>
                  <a:pt x="0" y="186643"/>
                </a:lnTo>
                <a:cubicBezTo>
                  <a:pt x="0" y="207267"/>
                  <a:pt x="16705" y="223971"/>
                  <a:pt x="37329" y="223971"/>
                </a:cubicBezTo>
                <a:lnTo>
                  <a:pt x="223971" y="223971"/>
                </a:lnTo>
                <a:cubicBezTo>
                  <a:pt x="232230" y="223971"/>
                  <a:pt x="238903" y="217299"/>
                  <a:pt x="238903" y="209040"/>
                </a:cubicBezTo>
                <a:cubicBezTo>
                  <a:pt x="238903" y="200781"/>
                  <a:pt x="232230" y="194108"/>
                  <a:pt x="223971" y="194108"/>
                </a:cubicBezTo>
                <a:lnTo>
                  <a:pt x="37329" y="194108"/>
                </a:lnTo>
                <a:cubicBezTo>
                  <a:pt x="33222" y="194108"/>
                  <a:pt x="29863" y="190749"/>
                  <a:pt x="29863" y="186643"/>
                </a:cubicBezTo>
                <a:lnTo>
                  <a:pt x="29863" y="29863"/>
                </a:lnTo>
                <a:close/>
                <a:moveTo>
                  <a:pt x="219585" y="70271"/>
                </a:moveTo>
                <a:cubicBezTo>
                  <a:pt x="225418" y="64438"/>
                  <a:pt x="225418" y="54966"/>
                  <a:pt x="219585" y="49134"/>
                </a:cubicBezTo>
                <a:cubicBezTo>
                  <a:pt x="213753" y="43301"/>
                  <a:pt x="204280" y="43301"/>
                  <a:pt x="198448" y="49134"/>
                </a:cubicBezTo>
                <a:lnTo>
                  <a:pt x="149314" y="98314"/>
                </a:lnTo>
                <a:lnTo>
                  <a:pt x="122531" y="71577"/>
                </a:lnTo>
                <a:cubicBezTo>
                  <a:pt x="116698" y="65745"/>
                  <a:pt x="107226" y="65745"/>
                  <a:pt x="101394" y="71577"/>
                </a:cubicBezTo>
                <a:lnTo>
                  <a:pt x="56599" y="116372"/>
                </a:lnTo>
                <a:cubicBezTo>
                  <a:pt x="50767" y="122204"/>
                  <a:pt x="50767" y="131676"/>
                  <a:pt x="56599" y="137509"/>
                </a:cubicBezTo>
                <a:cubicBezTo>
                  <a:pt x="62432" y="143342"/>
                  <a:pt x="71904" y="143342"/>
                  <a:pt x="77737" y="137509"/>
                </a:cubicBezTo>
                <a:lnTo>
                  <a:pt x="111986" y="103260"/>
                </a:lnTo>
                <a:lnTo>
                  <a:pt x="138769" y="130043"/>
                </a:lnTo>
                <a:cubicBezTo>
                  <a:pt x="144601" y="135876"/>
                  <a:pt x="154074" y="135876"/>
                  <a:pt x="159906" y="130043"/>
                </a:cubicBezTo>
                <a:lnTo>
                  <a:pt x="219632" y="70318"/>
                </a:ln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49" name="Text 46"/>
          <p:cNvSpPr/>
          <p:nvPr/>
        </p:nvSpPr>
        <p:spPr>
          <a:xfrm>
            <a:off x="4316275" y="5292293"/>
            <a:ext cx="3559650" cy="318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57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20%+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4356092" y="5674537"/>
            <a:ext cx="3480016" cy="191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3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Growth Potential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8129360" y="4795373"/>
            <a:ext cx="3741216" cy="1232738"/>
          </a:xfrm>
          <a:custGeom>
            <a:avLst/>
            <a:gdLst/>
            <a:ahLst/>
            <a:cxnLst/>
            <a:rect l="l" t="t" r="r" b="b"/>
            <a:pathLst>
              <a:path w="3741216" h="1232738">
                <a:moveTo>
                  <a:pt x="95562" y="0"/>
                </a:moveTo>
                <a:lnTo>
                  <a:pt x="3645654" y="0"/>
                </a:lnTo>
                <a:cubicBezTo>
                  <a:pt x="3698431" y="0"/>
                  <a:pt x="3741216" y="42784"/>
                  <a:pt x="3741216" y="95562"/>
                </a:cubicBezTo>
                <a:lnTo>
                  <a:pt x="3741216" y="1137176"/>
                </a:lnTo>
                <a:cubicBezTo>
                  <a:pt x="3741216" y="1189953"/>
                  <a:pt x="3698431" y="1232738"/>
                  <a:pt x="3645654" y="1232738"/>
                </a:cubicBezTo>
                <a:lnTo>
                  <a:pt x="95562" y="1232738"/>
                </a:lnTo>
                <a:cubicBezTo>
                  <a:pt x="42784" y="1232738"/>
                  <a:pt x="0" y="1189953"/>
                  <a:pt x="0" y="1137176"/>
                </a:cubicBezTo>
                <a:lnTo>
                  <a:pt x="0" y="95562"/>
                </a:lnTo>
                <a:cubicBezTo>
                  <a:pt x="0" y="42784"/>
                  <a:pt x="42784" y="0"/>
                  <a:pt x="95562" y="0"/>
                </a:cubicBezTo>
                <a:close/>
              </a:path>
            </a:pathLst>
          </a:custGeom>
          <a:solidFill>
            <a:srgbClr val="6B4C9A">
              <a:alpha val="30196"/>
            </a:srgbClr>
          </a:solidFill>
          <a:ln w="10160">
            <a:solidFill>
              <a:srgbClr val="6B4C9A">
                <a:alpha val="50196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9881015" y="4957829"/>
            <a:ext cx="238903" cy="238903"/>
          </a:xfrm>
          <a:custGeom>
            <a:avLst/>
            <a:gdLst/>
            <a:ahLst/>
            <a:cxnLst/>
            <a:rect l="l" t="t" r="r" b="b"/>
            <a:pathLst>
              <a:path w="238903" h="238903">
                <a:moveTo>
                  <a:pt x="209040" y="119451"/>
                </a:moveTo>
                <a:cubicBezTo>
                  <a:pt x="209040" y="70006"/>
                  <a:pt x="168897" y="29863"/>
                  <a:pt x="119451" y="29863"/>
                </a:cubicBezTo>
                <a:cubicBezTo>
                  <a:pt x="70006" y="29863"/>
                  <a:pt x="29863" y="70006"/>
                  <a:pt x="29863" y="119451"/>
                </a:cubicBezTo>
                <a:cubicBezTo>
                  <a:pt x="29863" y="168897"/>
                  <a:pt x="70006" y="209040"/>
                  <a:pt x="119451" y="209040"/>
                </a:cubicBezTo>
                <a:cubicBezTo>
                  <a:pt x="168897" y="209040"/>
                  <a:pt x="209040" y="168897"/>
                  <a:pt x="209040" y="119451"/>
                </a:cubicBezTo>
                <a:close/>
                <a:moveTo>
                  <a:pt x="0" y="119451"/>
                </a:moveTo>
                <a:cubicBezTo>
                  <a:pt x="0" y="53524"/>
                  <a:pt x="53524" y="0"/>
                  <a:pt x="119451" y="0"/>
                </a:cubicBezTo>
                <a:cubicBezTo>
                  <a:pt x="185378" y="0"/>
                  <a:pt x="238903" y="53524"/>
                  <a:pt x="238903" y="119451"/>
                </a:cubicBezTo>
                <a:cubicBezTo>
                  <a:pt x="238903" y="185378"/>
                  <a:pt x="185378" y="238903"/>
                  <a:pt x="119451" y="238903"/>
                </a:cubicBezTo>
                <a:cubicBezTo>
                  <a:pt x="53524" y="238903"/>
                  <a:pt x="0" y="185378"/>
                  <a:pt x="0" y="119451"/>
                </a:cubicBezTo>
                <a:close/>
                <a:moveTo>
                  <a:pt x="119451" y="156780"/>
                </a:moveTo>
                <a:cubicBezTo>
                  <a:pt x="140054" y="156780"/>
                  <a:pt x="156780" y="140054"/>
                  <a:pt x="156780" y="119451"/>
                </a:cubicBezTo>
                <a:cubicBezTo>
                  <a:pt x="156780" y="98849"/>
                  <a:pt x="140054" y="82123"/>
                  <a:pt x="119451" y="82123"/>
                </a:cubicBezTo>
                <a:cubicBezTo>
                  <a:pt x="98849" y="82123"/>
                  <a:pt x="82123" y="98849"/>
                  <a:pt x="82123" y="119451"/>
                </a:cubicBezTo>
                <a:cubicBezTo>
                  <a:pt x="82123" y="140054"/>
                  <a:pt x="98849" y="156780"/>
                  <a:pt x="119451" y="156780"/>
                </a:cubicBezTo>
                <a:close/>
                <a:moveTo>
                  <a:pt x="119451" y="52260"/>
                </a:moveTo>
                <a:cubicBezTo>
                  <a:pt x="156535" y="52260"/>
                  <a:pt x="186643" y="82367"/>
                  <a:pt x="186643" y="119451"/>
                </a:cubicBezTo>
                <a:cubicBezTo>
                  <a:pt x="186643" y="156535"/>
                  <a:pt x="156535" y="186643"/>
                  <a:pt x="119451" y="186643"/>
                </a:cubicBezTo>
                <a:cubicBezTo>
                  <a:pt x="82367" y="186643"/>
                  <a:pt x="52260" y="156535"/>
                  <a:pt x="52260" y="119451"/>
                </a:cubicBezTo>
                <a:cubicBezTo>
                  <a:pt x="52260" y="82367"/>
                  <a:pt x="82367" y="52260"/>
                  <a:pt x="119451" y="52260"/>
                </a:cubicBezTo>
                <a:close/>
                <a:moveTo>
                  <a:pt x="104520" y="119451"/>
                </a:moveTo>
                <a:cubicBezTo>
                  <a:pt x="104520" y="111210"/>
                  <a:pt x="111210" y="104520"/>
                  <a:pt x="119451" y="104520"/>
                </a:cubicBezTo>
                <a:cubicBezTo>
                  <a:pt x="127692" y="104520"/>
                  <a:pt x="134383" y="111210"/>
                  <a:pt x="134383" y="119451"/>
                </a:cubicBezTo>
                <a:cubicBezTo>
                  <a:pt x="134383" y="127692"/>
                  <a:pt x="127692" y="134383"/>
                  <a:pt x="119451" y="134383"/>
                </a:cubicBezTo>
                <a:cubicBezTo>
                  <a:pt x="111210" y="134383"/>
                  <a:pt x="104520" y="127692"/>
                  <a:pt x="104520" y="119451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53" name="Text 50"/>
          <p:cNvSpPr/>
          <p:nvPr/>
        </p:nvSpPr>
        <p:spPr>
          <a:xfrm>
            <a:off x="8220144" y="5292293"/>
            <a:ext cx="3559650" cy="318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57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73%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8259961" y="5674537"/>
            <a:ext cx="3480016" cy="191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3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Conversion Opportunity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4615003" y="6165083"/>
            <a:ext cx="2959208" cy="522401"/>
          </a:xfrm>
          <a:custGeom>
            <a:avLst/>
            <a:gdLst/>
            <a:ahLst/>
            <a:cxnLst/>
            <a:rect l="l" t="t" r="r" b="b"/>
            <a:pathLst>
              <a:path w="2959208" h="522401">
                <a:moveTo>
                  <a:pt x="261200" y="0"/>
                </a:moveTo>
                <a:lnTo>
                  <a:pt x="2698008" y="0"/>
                </a:lnTo>
                <a:cubicBezTo>
                  <a:pt x="2842264" y="0"/>
                  <a:pt x="2959208" y="116943"/>
                  <a:pt x="2959208" y="261200"/>
                </a:cubicBezTo>
                <a:lnTo>
                  <a:pt x="2959208" y="261200"/>
                </a:lnTo>
                <a:cubicBezTo>
                  <a:pt x="2959208" y="405457"/>
                  <a:pt x="2842264" y="522401"/>
                  <a:pt x="2698008" y="522401"/>
                </a:cubicBezTo>
                <a:lnTo>
                  <a:pt x="261200" y="522401"/>
                </a:lnTo>
                <a:cubicBezTo>
                  <a:pt x="116943" y="522401"/>
                  <a:pt x="0" y="405457"/>
                  <a:pt x="0" y="261200"/>
                </a:cubicBezTo>
                <a:lnTo>
                  <a:pt x="0" y="261200"/>
                </a:lnTo>
                <a:cubicBezTo>
                  <a:pt x="0" y="116943"/>
                  <a:pt x="116943" y="0"/>
                  <a:pt x="261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4E285">
                  <a:alpha val="30000"/>
                </a:srgbClr>
              </a:gs>
              <a:gs pos="100000">
                <a:srgbClr val="6B4C9A">
                  <a:alpha val="30000"/>
                </a:srgbClr>
              </a:gs>
            </a:gsLst>
            <a:lin ang="0" scaled="1"/>
          </a:gradFill>
          <a:ln w="20320">
            <a:solidFill>
              <a:srgbClr val="F4E285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951855" y="6330625"/>
            <a:ext cx="215012" cy="191122"/>
          </a:xfrm>
          <a:custGeom>
            <a:avLst/>
            <a:gdLst/>
            <a:ahLst/>
            <a:cxnLst/>
            <a:rect l="l" t="t" r="r" b="b"/>
            <a:pathLst>
              <a:path w="215012" h="191122">
                <a:moveTo>
                  <a:pt x="143342" y="53753"/>
                </a:moveTo>
                <a:cubicBezTo>
                  <a:pt x="143342" y="90036"/>
                  <a:pt x="111239" y="119451"/>
                  <a:pt x="71671" y="119451"/>
                </a:cubicBezTo>
                <a:cubicBezTo>
                  <a:pt x="61704" y="119451"/>
                  <a:pt x="52223" y="117585"/>
                  <a:pt x="43600" y="114225"/>
                </a:cubicBezTo>
                <a:lnTo>
                  <a:pt x="13140" y="130351"/>
                </a:lnTo>
                <a:cubicBezTo>
                  <a:pt x="9668" y="132180"/>
                  <a:pt x="5413" y="131546"/>
                  <a:pt x="2613" y="128783"/>
                </a:cubicBezTo>
                <a:cubicBezTo>
                  <a:pt x="-187" y="126021"/>
                  <a:pt x="-821" y="121728"/>
                  <a:pt x="1045" y="118257"/>
                </a:cubicBezTo>
                <a:lnTo>
                  <a:pt x="14334" y="93172"/>
                </a:lnTo>
                <a:cubicBezTo>
                  <a:pt x="5338" y="82197"/>
                  <a:pt x="0" y="68535"/>
                  <a:pt x="0" y="53753"/>
                </a:cubicBezTo>
                <a:cubicBezTo>
                  <a:pt x="0" y="17470"/>
                  <a:pt x="32103" y="-11945"/>
                  <a:pt x="71671" y="-11945"/>
                </a:cubicBezTo>
                <a:cubicBezTo>
                  <a:pt x="111239" y="-11945"/>
                  <a:pt x="143342" y="17470"/>
                  <a:pt x="143342" y="53753"/>
                </a:cubicBezTo>
                <a:close/>
                <a:moveTo>
                  <a:pt x="143342" y="191122"/>
                </a:moveTo>
                <a:cubicBezTo>
                  <a:pt x="108215" y="191122"/>
                  <a:pt x="78987" y="167941"/>
                  <a:pt x="72865" y="137369"/>
                </a:cubicBezTo>
                <a:cubicBezTo>
                  <a:pt x="117660" y="136809"/>
                  <a:pt x="156593" y="104931"/>
                  <a:pt x="160886" y="61704"/>
                </a:cubicBezTo>
                <a:cubicBezTo>
                  <a:pt x="191981" y="68871"/>
                  <a:pt x="215012" y="94665"/>
                  <a:pt x="215012" y="125424"/>
                </a:cubicBezTo>
                <a:cubicBezTo>
                  <a:pt x="215012" y="140206"/>
                  <a:pt x="209674" y="153868"/>
                  <a:pt x="200678" y="164843"/>
                </a:cubicBezTo>
                <a:lnTo>
                  <a:pt x="213967" y="189928"/>
                </a:lnTo>
                <a:cubicBezTo>
                  <a:pt x="215796" y="193399"/>
                  <a:pt x="215162" y="197655"/>
                  <a:pt x="212399" y="200454"/>
                </a:cubicBezTo>
                <a:cubicBezTo>
                  <a:pt x="209637" y="203254"/>
                  <a:pt x="205344" y="203889"/>
                  <a:pt x="201873" y="202022"/>
                </a:cubicBezTo>
                <a:lnTo>
                  <a:pt x="171413" y="185896"/>
                </a:lnTo>
                <a:cubicBezTo>
                  <a:pt x="162790" y="189256"/>
                  <a:pt x="153308" y="191122"/>
                  <a:pt x="143342" y="191122"/>
                </a:cubicBezTo>
                <a:close/>
              </a:path>
            </a:pathLst>
          </a:custGeom>
          <a:solidFill>
            <a:srgbClr val="F4E285"/>
          </a:solidFill>
          <a:ln/>
        </p:spPr>
      </p:sp>
      <p:sp>
        <p:nvSpPr>
          <p:cNvPr id="57" name="Text 54"/>
          <p:cNvSpPr/>
          <p:nvPr/>
        </p:nvSpPr>
        <p:spPr>
          <a:xfrm>
            <a:off x="5258447" y="6298873"/>
            <a:ext cx="2038636" cy="254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5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Behavior Analysis: Driving Growth Through Data-Driven Insights</dc:title>
  <dc:subject>Customer Behavior Analysis: Driving Growth Through Data-Driven Insights</dc:subject>
  <dc:creator>Kimi</dc:creator>
  <cp:lastModifiedBy>Kimi</cp:lastModifiedBy>
  <cp:revision>1</cp:revision>
  <dcterms:created xsi:type="dcterms:W3CDTF">2026-04-02T19:22:27Z</dcterms:created>
  <dcterms:modified xsi:type="dcterms:W3CDTF">2026-04-02T19:22:27Z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{"Label":"Customer Behavior Analysis: Driving Growth Through Data-Driven Insights","ContentProducer":"001191110108MACG2KBH8F10000","ProduceID":"19d4fa1f-96e2-8628-8000-00008c42f2fc","ReservedCode1":"","ContentPropagator":"001191110108MACG2KBH8F20000","PropagateID":"19d4fa1f-96e2-8628-8000-00008c42f2fc","ReservedCode2":""}</vt:lpwstr>
  </property>
</Properties>
</file>